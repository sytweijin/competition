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  <Relationship Id="rId3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这是「协作分工智能体 · 昇腾全模态版」的参赛封面，面向华为昇腾创新应用赛道。本作品基于 MiniCPM-o 4.5 全模态模型，把多模态大模型变成真实协作流程的入口：别人给你一张静态分工表，我们给你一张可编辑的活协作图。拍照立项、说话排期、确认分工、语音与照片汇报、群通知，全链路由 MiniCPM-o 4.5 驱动；版本为 v7.1，提交于 2026 年 8 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本文档共 29 页，按六个部分组织。第一部分是项目概览，包括定位、背景与痛点、解决思路；第二部分介绍系统架构与核心机制，包括总体架构、计划引擎、全模态链路与协作闭环；第三部分详解核心功能，覆盖功能总览、计划引擎、CPM 排期、动态协作与汇报触达；第四部分是四个创新点；第五部分是应用落地与工程验证，包括应用场景、运行效果、工程验证、昇腾复现与合规边界；第六部分为总结与展望。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一览页把评委最关心的三个要点前置：功能、创新与应用。你只需要给出三样东西——项目要求、团队成员和截止日期，系统就会把它变成一份可编辑的协作计划：任务拆解、关键路径排期、技能匹配分工、报告生成，并且随时可以调整、每次调整都会即时重算。功能上，五种模态都能输入——打字、说话、拍照、上传录像、听播报，系统会听、会看、会读，把它们变成可执行的任务；计划引擎负责拆解、排期、分工与报告，动态协作让你随时改、系统随时重算，汇报与通知把进度自动送到每个人面前。创新上，多模态大模型第一次不再只是聊天框，拍照、录音、会议录像直接进入任务拆解；计划正确性交给确定性算法，任何环节失败都有兜底。应用上，从课堂到企业——课程小组、社团活动、中小型企业项目都适用，通知直接推送到企业微信、飞书、钉钉工作群，昇腾 A3 本地或云端双后端均可复现。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项目要解决的真实问题。组队完成一个项目，几乎每个人都有过这样的经历：分工靠临时商量，任务边界含糊，有人忙有人闲，临近答辩才发现进度对不上。这背后是四个真实存在的痛点。第一，静态计划表：绝大多数规划工具只在项目开始时生成一张分工表，从那以后就再也不更新，项目一旦变化，这张表立刻过时，团队只能回到群里反复对齐。第二，大模型没有进入流程：多模态能力通常只被当作聊天机器人挂在旁边，结果停留在对话框里，从来没有真正改变团队怎么分工、怎么排期。第三，汇报成本高：成员更新任务状态步骤繁琐，于是大家选择不更新，负责人只能挨个追问进度，信息永远滞后。第四，会议内容难沉淀：录音、录像、白板照片散落各处，没有人愿意二次整理，会上讨论清楚的任务会后依然要靠回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解决方案的整体逻辑：我们的答案不是做一个更强的聊天机器人，而是把全模态能力接进一条完整的协作流程，从立项到交付，每一步都有明确的动作和反馈，环环相扣。第一步拍照立项，白板、截图、手绘拍下来就能读懂，直接生成项目需求，不用逐字输入。第二步说话排期，录音直接交给模型，听懂后生成任务草案，不必先转写再粘贴。第三步确认分工，草案可以增删、拖拽、调整，每次改动即时重算排期与负载。第四步成员汇报，免登录点开链接，语音或照片就能交，负责人确认后自动进入计划。第五步群通知触达，状态一变，工作群自动收到通知，每天还有 AI 语音播报今日待办。两条设计原则贯穿始终：LLM 负责创造性拆解，确定性算法负责正确性保证；每个 Agent 失败都有确定性兜底，断网、模型离线时主链路依然可以完整演示。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这是第二章章节页，说明系统如何运转、计划为何可信。本章包含四部分内容：总体架构采用工作台到 FastAPI 后端再到昇腾 A3 与云端双后端的结构；计划引擎采用 LLM 创造与算法正确相结合的确定性机制；全模态接入通过统一适配层打通文本、语音、图片、视频与 TTS；协作闭环覆盖计划、执行、汇报与通知触达四个环节。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本页是系统总体架构图。前端层包括 Web 工作台与成员轻量汇报页，工作台承载文本、语音、拍照、录像、TTS、甘特图、导出与提醒，汇报页通过 token 链接免登录、只看自己的任务。后端层是 FastAPI，按业务域组织为计划引擎、多模态适配 omni_chat、媒体分析与协作闭环四个模块。模型层通过 WebSocket 连接昇腾 A3 本地的 llama.cpp-omni 与 MiniCPM-o-4_5-F16，或 ModelBest 云端的 MiniCPM-o-4.5-Realtime API。双后端可一键切换：配置 ASCEND_OMNI_WS_URL 即走本地，注释掉走云端；/api/realtime/status 返回 local 或 map 直观确认当前链路。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本页介绍计划引擎的确定性正确性保证机制。计划是拿来执行的，不是拿来欣赏的，因此我们把引擎拆成两半：AI 负责想得开，算法负责算得准。主链路分为五步：任务拆解、结构化校验、技能匹配分工、CPM 关键路径排期与报告生成。LLM 负责创造性工作——理解自然语言需求、拆解任务、给出工时建议、组织报告表达、提出批判性审查建议，这些没有唯一正确答案，适合大模型发挥；确定性算法负责正确性工作——关键路径与浮动、技能评分、负载均衡、依赖校验、跳过周末与不可用日的日期约束，这些必须精确、可复现，绝不能依赖模型输出的偶然正确。拆解、分工、排期、审查任一环节的 LLM 失败都会自动切换到确定性规则实现，因此演示不依赖模型持续在线。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本页说明五种模态如何统一接入。文本通过 SSE 流式对话，回复逐字出现，AI 建议抽屉带着当前方案快照；语音是按住麦克风直接说，录音作为音频交给模型，听懂后回答，不是先转写再粘贴的旧体验；图片支持拍照、白板、截图与扫描 PDF，不只提取文字，还能理解图表、流程图和手绘；视频对会议录像边看边听，抽帧看画面、抽音频听内容，合并成要点与任务；TTS 提供可开关、可重听的语音回复，每天早晨还有今日播报把待办念给你听。五种模态汇入 omni_chat 统一适配层，再分发到昇腾 A3 本地与 ModelBest 云端两个后端：本地能直接听，云端先转写再理解，四个语音接口行为一致，长音频自动分片。实测昇腾 A3 语音理解约八秒，云端音频自动先转写再理解，详见第 26 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本页展示协作闭环：计划生成后成员执行，成员通过语音、照片或文本汇报反馈，负责人确认完成，状态变更自动通过 Webhook 推送到企业微信、飞书或钉钉，并提供今日播报；每一次状态变更都回到即时重算，让计划随现实持续运转，而不是一次生成、永久过时。四项关键机制包括：token 免登录，成员只看自己的任务、手机即用；语音与照片汇报，语音上报状态与工时、拍照交付；Webhook 群通知自动推送；今日播报用云端 TTS 朗读今日待办要点。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这是第三章章节页，说明五大能力模块如何围绕计划引擎展开。本章依次介绍功能总览矩阵、计划引擎的拆解与工时与匹配与均衡、CPM 关键路径排期、动态协作与版本管理、成员汇报与群通知，以及全模态交互能力矩阵。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本页给出五大能力模块的全景。计划引擎是核心：它把项目要求拆成有依赖关系的子任务，估算工时，按技能匹配出三层角色，用 CPM 算法排出关键路径并生成风险报告，支持小型与大型两种项目模式。动态协作保证计划实时更新：草案可以增删改、拆分合并，分工可以拖拽，成员变动、状态切换、工时变化都会触发即时重算，每次保存都生成版本快照，可以对比、可以回滚。全模态交互覆盖五种模态，每个输入都能变成计划的一部分。汇报与通知让成员用 token 链接免登录汇报，语音或照片都能交，负责人确认后变更自动推送到工作群。工程能力包括多格式导出、知识库问答、鉴权审计与演示前预检，保障可运行、可复现、可审计。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本页详解计划引擎的四项机制。任务拆解方面，系统先判断项目规模：小型项目直接拆解分工，大型项目先拆大模块、由骨干认领、再逐层拆到子任务，最后开放志愿者招募与认领；拆解由 LLM 结合知识库的工时案例生成一到八项弹性子任务，失败时自动切换到确定性拆解规则。工时估算方面，每一项任务都从结构化工时案例库检索参考工时，再结合成员实际情况校准；任务完成后的实际偏差会反馈回知识库，同类任务下次估算得更准。技能匹配方面，按中文、近义词和中英文三种方式匹配技能，把成员排成负责人、主要协助、辅助协助三层角色，每一项分工都给出匹配度评分，为什么选这个人看得见、说得清。负载均衡方面，按成员可用工时与阶段负载自动均衡，避免有人连轴转、有人闲着，均衡后重算评分并说明调整理由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本页介绍 CPM 关键路径排期。算法首先从截止日倒排各任务起止日期，然后计算关键路径与浮动，识别影响整体进度的任务并输出风险提示；排期尊重资源日历，跳过周末与成员不可用日；同时支持手动固定日期，计划可人工微调。右侧甘特示意展示了任务条、里程碑、依赖连线与以金色高亮的关键路径，图中为示意绘制，真实运行界面见第 25 页截图占位。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动态协作与版本管理能力。计划的价值不在于生成的那一刻，而在于之后每一次变化都能跟得上：人改一步，系统就重算一步，计划永远是现在时。可编辑草案支持增删改、拆分与合并任务；看板支持拖拽分工，改乱了可以一键恢复自动分工；任务状态切换、成员变动、工时调整都会触发排期与分工的自动重算；成员管理可增删成员、调整每日工时、角色与不可用日期，应用后自动重排。版本管理方面，保存即生成版本快照，相似任务形成版本树，支持差异对比与分支回滚，每一次调整都可追溯、可恢复，试错没有代价。大型项目模式按大模块拆解、骨干认领、子任务拆解、志愿者招募与认领多阶段连续推进，骨干认领包含负责人与技能、工时、不可用日期信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本页展示汇报触达的四步流程。进度追踪的成本越低，成员越愿意更新；通知触达越自动，负责人越不需要追问，这条链路把汇报变成一件顺手的事。第一步生成 token 链接，token 绑定方案与成员，免登录，打开只看到自己的任务；第二步语音或照片汇报，语音上报状态、工时与备注，交付物拍照即可上传；第三步负责人确认完成，变更进入计划并自动触发即时重算；第四步群通知与今日播报，状态变更自动推送企业微信、飞书、钉钉 Webhook，并由云端 TTS 播报今日待办。关键机制包括全程免登录、自动触达与今日播报：无需注册，手机即可完成；状态变更自动推送，无需人工转发，消息不遗漏；今日播报让团队节奏一目了然。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本页是五种模态的能力矩阵。文本提供 SSE 流式对话与带方案快照的 AI 建议抽屉，对应接口 /api/realtime/chat；语音提供麦克风对话、需求输入与语音汇报，对应 /api/realtime/voice-chat；图片支持拍照需求、白板、截图与扫描 PDF 理解，对应 /api/analyze-files；视频支持会议录像边看边听与答辩录像表现观察，对应 /api/realtime/meeting；TTS 提供语音回复与今日播报，对应 /api/realtime/tts。每种模态都有对应接口与真实协作动作，全模态能力落进工作流而非停留在演示。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四章章节页，提出四个创新点，分别回答四个关键问题：全模态如何从聊天进入真实协作流程、计划结果如何保证正确、系统如何做到完整闭环并全环节兜底、昇腾本地与云端如何统一适配并满足合规要求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一：把多模态模型变成协作流程的入口。先看一个常见的现状：市面上几乎所有多模态应用都把模型放在聊天框里，你问它问题、它回答你，然后就没有然后了；图片识别、语音转写、视频理解都是一个个孤立的按钮，结果永远不会变成团队下一步要做的事。本项目把五种模态接入真实工作流：拍照立项，白板、截图、手绘直接进入任务拆解，系统理解的不只是文字，还有图表、流程和界面；说话排期，录音直接交给模型，听懂后生成任务草案，不需要先转写、再复制、再粘贴；会议旁听，录像边看边听，画面和声音分别理解后合并，自动整理成要点、任务和风险；答辩直连，评委的语音视频点评直接对话，录像附逐帧表现观察。这些能力的共同点，是模型每一次输出都落到工作流的下一个动作上，多模态能力第一次不是附加功能，而是协作这件事的入口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本页说明创新点二：确定性正确性保证。AI 规划工具最大的问题是输出不稳定：同一个需求，模型这次给三周、下次给五天，今天推荐的负责人和明天不一样；计划是要拿来执行的，不确定性就是成本。所以我们把架构拆成两半——模型负责创造，算法负责正确。LLM 负责理解自然语言需求、拆解任务、给出工时建议、组织报告、提出批判性审查建议，这些没有唯一正确答案，适合大模型发挥；确定性算法负责关键路径与浮动、技能评分、负载均衡、依赖校验、跳过周末与不可用日的日期约束，这些必须精确、可复现，绝不能依赖模型输出的偶然正确。这相当于给 AI 规划加了一条算法安全带：任何 LLM 环节失败都自动切到确定性规则，断网、模型离线时主链路依然完整。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本页说明创新点三：完整协作闭环与全环节兜底。很多作品是一个漂亮的单点 Demo：识别很准、语音很流畅，但离能解决一个问题还差很远；评审时最怕的，是演示到一半模型不可用。所以我们做的不是单点，而是一条闭环——计划生成、成员执行、汇报反馈、通知触达环环相扣——并给每一环都准备了确定性兜底：LLM 拆解失败，用确定性拆解和弹性子任务规则顶上，方案照样生成；分工失败，用规则分工与评分兜底，匹配度依然可解释；排期失败，用算法排期兜底，日期约束依然生效；断网或模型离线，本地保留确定性拆解与导出能力，主链路仍可演示。结果就是：演示不依赖模型持续在线，哪怕模型全挂，核心协作流程照样能走通，这对可运行、可展示的评审要求是实打实的保障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本页说明创新点四：昇腾本地与云端双后端统一适配。昇腾赛要求统一昇腾环境复现，但 910C 算力紧张，开发期不可能一直占着；我们的做法，是让同一套系统同时支持两种后端，一键切换——评审用本地昇腾证明复现，开发用云端保证进度。本地后端使用昇腾 A3 的 Ascend 910C 与 llama.cpp-omni 运行 MiniCPM-o-4_5-F16，约 16G，本地能直接听、实听实答；云端使用 ModelBest 的 MiniCPM-o-4.5-Realtime API，免费，turn-based 音频先转写再理解，行为经适配层与本地统一。两者通过同一套 WebSocket 协议切换，/api/realtime/status 返回 local 或 map 一键确认。合规方面，当 APP_MODEL_MODE 为 minicpm 且 APP_ALLOW_EXTERNAL_MODELS 为 0 时，全链路仅调用 MiniCPM-o 4.5，不创建任何其他模型客户端；API Key 仅存于 .env，不进入版本库。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这是第五章章节页，主题是应用落地与工程验证。本章依次展示应用场景与落地形态、运行效果截图占位、379 项测试通过与昇腾 A3 实测、统一昇腾环境复现，以及合规安全与已知边界。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应用场景。学生团队与课程设计场景使用小型项目模式扁平协作，拍照白板、语音需求直接进拆解，成员免登录汇报；社团与活动组织场景支持成员管理、任务认领与自动群通知；比赛与冲刺团队场景利用快速排期、负载均衡与今日播报控制节奏。面向企业，小型项目模式适合成员已确定、组织关系简单的项目，通知可直接推送到企业微信、钉钉、飞书工作群，融入既有协作工具；大型项目模式适合跨部门、外包协同等成员与分工动态变化的复杂项目，按模块、骨干、子任务、志愿者分层推进。落地形态包括 Web 工作台、免登录汇报页、企业微信与飞书与钉钉群通知、多格式导出与只读分享。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本页是运行效果展示页，预留三个截图占位框：工作台首页、任务草案与甘特图、成员汇报页与群通知。占位框为矢量图形，提交前请在 PowerPoint 中直接以真实运行截图替换或覆盖，建议使用昇腾 A3 环境录屏或本地实测截图。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本页给出工程验证证据。工程完整度不是口头承诺，而是可以复核的证据：自动化测试共 379 项全部通过，使用 pytest 且无需配置密钥；健康检查 /api/health 返回 engine 为 comni、status 为 ok。昇腾 A3 实测指标包括：文本对话约两秒、语音理解约八秒、图片理解约七秒且含无文字流程图、答辩录像四帧表情分析约四秒、会议视频边看边听端到端约十六秒。云端 API 实测语音转写、图片理解与 TTS 朗读均正常，音频理解自动先转写再理解。测试与实测数据来源为项目说明文档第八节与 README，测试数于 2026 年 8 月 27 日复核为 379 项通过，A3 环境为 910C、CANN 9.1.0-beta.1、llama.cpp-omni 与 F16 模型。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本页说明统一昇腾环境复现步骤。应用环境为 Python 3.11 及以上；A3 环境为 Ascend 910C、CANN 9.1.0-beta.1 与 Python 3.12.13；模型为 MiniCPM-o-4_5-F16，约 16G；推理服务为以 GGML_CANN 编译的 llama.cpp-omni。复现分三步：安装依赖、配置后端二选一（云端填 MAP_REALTIME_API_KEY，本地填 ASCEND_OMNI_WS_URL 指向 28099 端口）、启动应用并访问本机 8000 端口。验证入口包括 /api/health 健康检查、/api/realtime/status 返回 local 或 map，以及演示前一键预检脚本，脚本包含暖机步骤。版本固定、链路可验证，评审可对照核验。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本页说明合规安全与已知边界。合规与安全方面：模型合规可控，合规模式下全链路仅调用 MiniCPM-o 4.5，不创建任何其他模型客户端；密钥安全，API Key 仅存 .env 不进入版本库；操作可审计，提供多用户 ACL、会话登录、操作审计与版本回滚。已知边界如实说明：8B 模型推理能力有限，演示主打感知与流程闭环，不做高难度推理；910C 本地 TTS 有已知算子问题，语音播报走云端 API；云端音频表现为转写，已通过适配层统一行为；llama-omni-server 仅支持单活跃会话，演示前需预检暖机。工程态度是能力边界如实标注，不夸大模型能力，确保评审现场演示可预期、可复现。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总结页重申核心价值：把 MiniCPM-o 4.5 从聊天机器人变成真实协作流程的入口，拍照立项、说话排期、确认分工、语音与照片汇报、群通知，全链路由全模态能力驱动。四个关键词各有完整含义：全模态入口——五种模态第一次进入真实协作流程，而不是停在聊天框里；确定性正确——LLM 负责创造、算法负责正确，计划结果可复现、不受模型波动影响；完整闭环——从计划到执行、汇报、触达环环相扣，任何环节失败都有确定性兜底；昇腾可复现——本地与云端双后端统一适配，统一昇腾环境可以复现。展望方向包括：接入云端全双工实时语音与视频对话体验；企业微信应用消息定向推送，通知更个性更及时；课程、赛事、企业项目等场景模板与知识库经验持续沉淀，工时估算与分工建议越用越准。作品版本为 v7.1，提交于 2026 年 8 月，面向华为昇腾创新应用赛道。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scend_collab_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scend_collab_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3314700" cy="6858000"/>
            <a:chOff x="0" y="0"/>
            <a:chExt cx="33147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32385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238500" y="0"/>
              <a:ext cx="762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25780" y="9810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225" dirty="0">
                  <a:solidFill>
                    <a:srgbClr val="E6EDF5"/>
                  </a:solidFill>
                  <a:latin typeface="+mn-lt"/>
                  <a:ea typeface="+mn-ea"/>
                  <a:cs typeface="+mn-cs"/>
                </a:rPr>
                <a:t>华为昇腾创新应用赛道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7304" y="1356360"/>
              <a:ext cx="2438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FC3DA"/>
                  </a:solidFill>
                  <a:latin typeface="+mn-lt"/>
                  <a:ea typeface="+mn-ea"/>
                  <a:cs typeface="+mn-cs"/>
                </a:rPr>
                <a:t>OpenBMB / 面壁智能 × 华为昇腾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6690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6542" y="56073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6EDF5"/>
                  </a:solidFill>
                  <a:latin typeface="+mn-lt"/>
                  <a:ea typeface="+mn-ea"/>
                  <a:cs typeface="+mn-cs"/>
                </a:rPr>
                <a:t>v7.1 · 2026-08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8066" y="59826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FC3DA"/>
                  </a:solidFill>
                  <a:latin typeface="+mn-lt"/>
                  <a:ea typeface="+mn-ea"/>
                  <a:cs typeface="+mn-cs"/>
                </a:rPr>
                <a:t>创新应用赛道 · 参赛作品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67912" y="1859280"/>
            <a:ext cx="3598621" cy="1331595"/>
            <a:chOff x="3867912" y="1859280"/>
            <a:chExt cx="3598621" cy="1331595"/>
          </a:xfrm>
        </p:grpSpPr>
        <p:sp>
          <p:nvSpPr>
            <p:cNvPr id="10" name="TextBox 10"/>
            <p:cNvSpPr txBox="1"/>
            <p:nvPr/>
          </p:nvSpPr>
          <p:spPr>
            <a:xfrm>
              <a:off x="3867912" y="1859280"/>
              <a:ext cx="35986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协作分工智能体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67912" y="2468880"/>
              <a:ext cx="308975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昇腾全模态版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86200" y="31432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78580" y="3571875"/>
            <a:ext cx="5158740" cy="1017270"/>
            <a:chOff x="3878580" y="3571875"/>
            <a:chExt cx="5158740" cy="1017270"/>
          </a:xfrm>
        </p:grpSpPr>
        <p:sp>
          <p:nvSpPr>
            <p:cNvPr id="14" name="TextBox 14"/>
            <p:cNvSpPr txBox="1"/>
            <p:nvPr/>
          </p:nvSpPr>
          <p:spPr>
            <a:xfrm>
              <a:off x="3878580" y="3571875"/>
              <a:ext cx="5158740" cy="1017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别人给你一张静态分工表；我们给你一张可编辑的活协作图。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拍照立项、说话排期、确认分工、语音/照片汇报、群通知，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全链路由 MiniCPM-o 4.5 全模态能力驱动。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86200" y="5143500"/>
            <a:ext cx="6324600" cy="381000"/>
            <a:chOff x="3886200" y="5143500"/>
            <a:chExt cx="6324600" cy="381000"/>
          </a:xfrm>
        </p:grpSpPr>
        <p:sp>
          <p:nvSpPr>
            <p:cNvPr id="16" name="Rectangle 16"/>
            <p:cNvSpPr/>
            <p:nvPr/>
          </p:nvSpPr>
          <p:spPr>
            <a:xfrm>
              <a:off x="3886200" y="5143500"/>
              <a:ext cx="1866900" cy="381000"/>
            </a:xfrm>
            <a:prstGeom prst="roundRect">
              <a:avLst>
                <a:gd name="adj" fmla="val 10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94404" y="5261610"/>
              <a:ext cx="1523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基于 MiniCPM-o 4.5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5143500"/>
              <a:ext cx="1866900" cy="381000"/>
            </a:xfrm>
            <a:prstGeom prst="roundRect">
              <a:avLst>
                <a:gd name="adj" fmla="val 10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3704" y="5261610"/>
              <a:ext cx="124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全模态模型 · 8B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924800" y="5143500"/>
              <a:ext cx="2286000" cy="381000"/>
            </a:xfrm>
            <a:prstGeom prst="roundRect">
              <a:avLst>
                <a:gd name="adj" fmla="val 10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3004" y="5261610"/>
              <a:ext cx="1642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昇腾 A3 · 云端双后端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355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内容结构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70332" y="1863090"/>
            <a:ext cx="5630418" cy="2909316"/>
            <a:chOff x="370332" y="1863090"/>
            <a:chExt cx="5630418" cy="2909316"/>
          </a:xfrm>
        </p:grpSpPr>
        <p:grpSp>
          <p:nvGrpSpPr>
            <p:cNvPr id="11" name="Group 11"/>
            <p:cNvGrpSpPr/>
            <p:nvPr/>
          </p:nvGrpSpPr>
          <p:grpSpPr>
            <a:xfrm>
              <a:off x="370332" y="1863090"/>
              <a:ext cx="5630418" cy="775335"/>
              <a:chOff x="370332" y="1863090"/>
              <a:chExt cx="5630418" cy="77533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370332" y="18878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3856" y="18630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项目概览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6904" y="2194560"/>
                <a:ext cx="32296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定位、背景与痛点、解决思路（P03–P05）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381000" y="262890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70332" y="2910840"/>
              <a:ext cx="5630418" cy="775335"/>
              <a:chOff x="370332" y="2910840"/>
              <a:chExt cx="5630418" cy="77533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70332" y="29356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3856" y="2910840"/>
                <a:ext cx="2308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系统架构与核心机制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904" y="3242310"/>
                <a:ext cx="44244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总体架构、计划引擎、全模态链路、协作闭环（P06–P10）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81000" y="367665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70332" y="3958590"/>
              <a:ext cx="5630418" cy="813816"/>
              <a:chOff x="370332" y="3958590"/>
              <a:chExt cx="5630418" cy="81381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370332" y="39833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3856" y="395859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核心功能详解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6904" y="4290060"/>
                <a:ext cx="30830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功能总览、计划引擎、CPM 排期、动态协作、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汇报触达（P11–P17）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381000" y="472440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6275832" y="1863090"/>
            <a:ext cx="5535168" cy="2870835"/>
            <a:chOff x="6275832" y="1863090"/>
            <a:chExt cx="5535168" cy="2870835"/>
          </a:xfrm>
        </p:grpSpPr>
        <p:grpSp>
          <p:nvGrpSpPr>
            <p:cNvPr id="27" name="Group 27"/>
            <p:cNvGrpSpPr/>
            <p:nvPr/>
          </p:nvGrpSpPr>
          <p:grpSpPr>
            <a:xfrm>
              <a:off x="6275832" y="1863090"/>
              <a:ext cx="5535168" cy="813816"/>
              <a:chOff x="6275832" y="1863090"/>
              <a:chExt cx="5535168" cy="81381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275832" y="18878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39356" y="1863090"/>
                <a:ext cx="781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创新点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42404" y="2194560"/>
                <a:ext cx="26029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全模态进流程、确定性保证、完整闭环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与兜底、昇腾双后端（P18–P22）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286500" y="26289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6275832" y="2910840"/>
              <a:ext cx="5535168" cy="813816"/>
              <a:chOff x="6275832" y="2910840"/>
              <a:chExt cx="5535168" cy="81381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275832" y="29356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039356" y="2910840"/>
                <a:ext cx="2308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应用落地与工程验证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42404" y="3242310"/>
                <a:ext cx="30601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应用场景、运行效果、工程验证、昇腾复现、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合规与边界（P23–P28）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6286500" y="367665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275832" y="3958590"/>
              <a:ext cx="5535168" cy="775335"/>
              <a:chOff x="6275832" y="3958590"/>
              <a:chExt cx="5535168" cy="775335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275832" y="39833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39356" y="395859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总结与展望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42404" y="4290060"/>
                <a:ext cx="25127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核心价值收束与未来方向（P29）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286500" y="47244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1033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项目一览：功能 · 创新 · 应用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81000" y="1524000"/>
            <a:ext cx="11430000" cy="1045845"/>
            <a:chOff x="381000" y="1524000"/>
            <a:chExt cx="11430000" cy="1045845"/>
          </a:xfrm>
        </p:grpSpPr>
        <p:sp>
          <p:nvSpPr>
            <p:cNvPr id="7" name="Rectangle 7"/>
            <p:cNvSpPr/>
            <p:nvPr/>
          </p:nvSpPr>
          <p:spPr>
            <a:xfrm>
              <a:off x="381000" y="1524000"/>
              <a:ext cx="11430000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180" y="1704975"/>
              <a:ext cx="803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你只需要给出三样东西：项目要求、团队成员和截止日期。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系统会把它变成一份可编辑的协作计划——任务拆解、关键路径排期、技能匹配分工、报告生成，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并且随时可以调整、每次调整都会即时重算。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" y="2781300"/>
            <a:ext cx="3676650" cy="3048000"/>
            <a:chOff x="381000" y="2781300"/>
            <a:chExt cx="3676650" cy="3048000"/>
          </a:xfrm>
        </p:grpSpPr>
        <p:sp>
          <p:nvSpPr>
            <p:cNvPr id="10" name="Rectangle 10"/>
            <p:cNvSpPr/>
            <p:nvPr/>
          </p:nvSpPr>
          <p:spPr>
            <a:xfrm>
              <a:off x="381000" y="2781300"/>
              <a:ext cx="3676650" cy="3048000"/>
            </a:xfrm>
            <a:prstGeom prst="roundRect">
              <a:avLst>
                <a:gd name="adj" fmla="val 125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2781300"/>
              <a:ext cx="36766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04056" y="3093244"/>
              <a:ext cx="211137" cy="271461"/>
              <a:chOff x="704056" y="3093244"/>
              <a:chExt cx="211137" cy="27146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04056" y="312340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64381" y="309324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64381" y="3228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4706" y="32289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64381" y="32892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4706" y="3289299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34618" y="31365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935" y="3669506"/>
              <a:ext cx="285623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五种模态都能输入：打字、说话、拍照、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上传录像、听播报，系统会听、会看、会读，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把它们变成可执行的任务。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2935" y="4564856"/>
              <a:ext cx="257175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计划引擎负责拆解、排期、分工与报告；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动态协作让你随时改、系统随时重算；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汇报与通知把进度自动送到每个人面前。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8150" y="2781300"/>
            <a:ext cx="3676650" cy="3048000"/>
            <a:chOff x="4248150" y="2781300"/>
            <a:chExt cx="3676650" cy="3048000"/>
          </a:xfrm>
        </p:grpSpPr>
        <p:sp>
          <p:nvSpPr>
            <p:cNvPr id="23" name="Rectangle 23"/>
            <p:cNvSpPr/>
            <p:nvPr/>
          </p:nvSpPr>
          <p:spPr>
            <a:xfrm>
              <a:off x="4248150" y="2781300"/>
              <a:ext cx="3676650" cy="3048000"/>
            </a:xfrm>
            <a:prstGeom prst="roundRect">
              <a:avLst>
                <a:gd name="adj" fmla="val 125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48150" y="2781300"/>
              <a:ext cx="36766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547106" y="3093244"/>
              <a:ext cx="259307" cy="269803"/>
              <a:chOff x="4547106" y="3093244"/>
              <a:chExt cx="259307" cy="26980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86287" y="3093244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90487"/>
                    </a:moveTo>
                    <a:cubicBezTo>
                      <a:pt x="0" y="140462"/>
                      <a:pt x="40513" y="180975"/>
                      <a:pt x="90487" y="180975"/>
                    </a:cubicBezTo>
                    <a:cubicBezTo>
                      <a:pt x="140462" y="180975"/>
                      <a:pt x="180975" y="140462"/>
                      <a:pt x="180975" y="90487"/>
                    </a:cubicBezTo>
                    <a:cubicBezTo>
                      <a:pt x="180975" y="40513"/>
                      <a:pt x="140462" y="0"/>
                      <a:pt x="90487" y="0"/>
                    </a:cubicBezTo>
                    <a:cubicBezTo>
                      <a:pt x="40513" y="0"/>
                      <a:pt x="0" y="40513"/>
                      <a:pt x="0" y="90487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676775" y="3228975"/>
                <a:ext cx="129638" cy="134072"/>
              </a:xfrm>
              <a:custGeom>
                <a:avLst/>
                <a:gdLst/>
                <a:ahLst/>
                <a:cxnLst/>
                <a:rect l="l" t="t" r="r" b="b"/>
                <a:pathLst>
                  <a:path w="129638" h="134072">
                    <a:moveTo>
                      <a:pt x="0" y="45244"/>
                    </a:moveTo>
                    <a:lnTo>
                      <a:pt x="51276" y="134072"/>
                    </a:lnTo>
                    <a:lnTo>
                      <a:pt x="75376" y="85314"/>
                    </a:lnTo>
                    <a:lnTo>
                      <a:pt x="129638" y="88813"/>
                    </a:lnTo>
                    <a:lnTo>
                      <a:pt x="78362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547106" y="3228975"/>
                <a:ext cx="129638" cy="134057"/>
              </a:xfrm>
              <a:custGeom>
                <a:avLst/>
                <a:gdLst/>
                <a:ahLst/>
                <a:cxnLst/>
                <a:rect l="l" t="t" r="r" b="b"/>
                <a:pathLst>
                  <a:path w="129638" h="134057">
                    <a:moveTo>
                      <a:pt x="51276" y="0"/>
                    </a:moveTo>
                    <a:lnTo>
                      <a:pt x="0" y="88828"/>
                    </a:lnTo>
                    <a:lnTo>
                      <a:pt x="54262" y="85314"/>
                    </a:lnTo>
                    <a:lnTo>
                      <a:pt x="78362" y="134057"/>
                    </a:lnTo>
                    <a:lnTo>
                      <a:pt x="129638" y="45244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001768" y="31365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90085" y="3669506"/>
              <a:ext cx="271399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多模态大模型第一次不再只是聊天框：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拍照、录音、会议录像直接进入任务拆解。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0085" y="4564856"/>
              <a:ext cx="299847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计划正确性交给确定性算法——关键路径、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技能评分、负载均衡、依赖校验全部可复现；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任何环节失败都有兜底，演示不依赖模型在线。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15300" y="2781300"/>
            <a:ext cx="3695700" cy="3048000"/>
            <a:chOff x="8115300" y="2781300"/>
            <a:chExt cx="3695700" cy="3048000"/>
          </a:xfrm>
        </p:grpSpPr>
        <p:sp>
          <p:nvSpPr>
            <p:cNvPr id="33" name="Rectangle 33"/>
            <p:cNvSpPr/>
            <p:nvPr/>
          </p:nvSpPr>
          <p:spPr>
            <a:xfrm>
              <a:off x="8115300" y="2781300"/>
              <a:ext cx="3695700" cy="3048000"/>
            </a:xfrm>
            <a:prstGeom prst="roundRect">
              <a:avLst>
                <a:gd name="adj" fmla="val 125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15300" y="2781300"/>
              <a:ext cx="36957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418511" y="3108325"/>
              <a:ext cx="246063" cy="246063"/>
              <a:chOff x="8418511" y="3108325"/>
              <a:chExt cx="246063" cy="24606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423275" y="3108325"/>
                <a:ext cx="241299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41299">
                    <a:moveTo>
                      <a:pt x="0" y="135731"/>
                    </a:moveTo>
                    <a:cubicBezTo>
                      <a:pt x="55351" y="142309"/>
                      <a:pt x="98990" y="185948"/>
                      <a:pt x="105569" y="241299"/>
                    </a:cubicBezTo>
                    <a:cubicBezTo>
                      <a:pt x="132671" y="225675"/>
                      <a:pt x="149780" y="197160"/>
                      <a:pt x="150812" y="165893"/>
                    </a:cubicBezTo>
                    <a:cubicBezTo>
                      <a:pt x="202598" y="147676"/>
                      <a:pt x="238311" y="100059"/>
                      <a:pt x="241299" y="45244"/>
                    </a:cubicBezTo>
                    <a:cubicBezTo>
                      <a:pt x="241299" y="20256"/>
                      <a:pt x="221043" y="0"/>
                      <a:pt x="196056" y="0"/>
                    </a:cubicBezTo>
                    <a:cubicBezTo>
                      <a:pt x="141241" y="2989"/>
                      <a:pt x="93623" y="38702"/>
                      <a:pt x="75406" y="90487"/>
                    </a:cubicBezTo>
                    <a:cubicBezTo>
                      <a:pt x="44140" y="91520"/>
                      <a:pt x="15625" y="108629"/>
                      <a:pt x="0" y="135731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18511" y="3259137"/>
                <a:ext cx="95251" cy="95251"/>
              </a:xfrm>
              <a:custGeom>
                <a:avLst/>
                <a:gdLst/>
                <a:ahLst/>
                <a:cxnLst/>
                <a:rect l="l" t="t" r="r" b="b"/>
                <a:pathLst>
                  <a:path w="95251" h="95251">
                    <a:moveTo>
                      <a:pt x="50007" y="0"/>
                    </a:moveTo>
                    <a:cubicBezTo>
                      <a:pt x="17898" y="18127"/>
                      <a:pt x="0" y="53924"/>
                      <a:pt x="4764" y="90487"/>
                    </a:cubicBezTo>
                    <a:cubicBezTo>
                      <a:pt x="41327" y="95251"/>
                      <a:pt x="77124" y="77352"/>
                      <a:pt x="95251" y="45244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74087" y="3168650"/>
                <a:ext cx="30162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30162">
                    <a:moveTo>
                      <a:pt x="0" y="15081"/>
                    </a:moveTo>
                    <a:cubicBezTo>
                      <a:pt x="0" y="23410"/>
                      <a:pt x="6752" y="30162"/>
                      <a:pt x="15081" y="30162"/>
                    </a:cubicBezTo>
                    <a:cubicBezTo>
                      <a:pt x="23410" y="30162"/>
                      <a:pt x="30162" y="23410"/>
                      <a:pt x="30162" y="15081"/>
                    </a:cubicBezTo>
                    <a:cubicBezTo>
                      <a:pt x="30162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868918" y="31365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7235" y="3669506"/>
              <a:ext cx="285623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从课堂到企业：几人的课程小组、社团活动、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中小型企业项目都适用；小型项目扁平推进，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大型项目分层认领。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7235" y="4564856"/>
              <a:ext cx="299847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通知直接推送到企业微信、飞书、钉钉工作群，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成员用手机就能汇报；昇腾 A3 本地或云端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双后端均可复现。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6057900"/>
            <a:ext cx="11430000" cy="495300"/>
            <a:chOff x="381000" y="6057900"/>
            <a:chExt cx="11430000" cy="495300"/>
          </a:xfrm>
        </p:grpSpPr>
        <p:sp>
          <p:nvSpPr>
            <p:cNvPr id="43" name="Rectangle 43"/>
            <p:cNvSpPr/>
            <p:nvPr/>
          </p:nvSpPr>
          <p:spPr>
            <a:xfrm>
              <a:off x="381000" y="605790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81038" y="6186488"/>
              <a:ext cx="200026" cy="200026"/>
              <a:chOff x="681038" y="618648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6600" y="624205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81038" y="61864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4388" y="63198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10486" y="63198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10486" y="62159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4388" y="62159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2035" y="6241256"/>
              <a:ext cx="847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两条设计原则贯穿始终：LLM 负责创造性拆解，确定性算法负责正确性保证；每个环节失败都有兜底，主链路永不中断。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3" name="TextBox 5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9352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背景与痛点：为什么需要“活”的协作规划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73380" y="1704975"/>
            <a:ext cx="7254240" cy="914781"/>
            <a:chOff x="373380" y="1704975"/>
            <a:chExt cx="7254240" cy="914781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704975"/>
              <a:ext cx="725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组队完成一个项目，几乎每个人都有过这样的经历：分工靠临时商量，任务边界含糊，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有人忙有人闲，临近答辩才发现进度对不上。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904" y="2385060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这背后是四个真实存在的痛点——它们共同造成了协作中最常见的挫败感。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" y="2743200"/>
            <a:ext cx="5619750" cy="1600200"/>
            <a:chOff x="381000" y="2743200"/>
            <a:chExt cx="5619750" cy="1600200"/>
          </a:xfrm>
        </p:grpSpPr>
        <p:sp>
          <p:nvSpPr>
            <p:cNvPr id="10" name="Rectangle 10"/>
            <p:cNvSpPr/>
            <p:nvPr/>
          </p:nvSpPr>
          <p:spPr>
            <a:xfrm>
              <a:off x="381000" y="2743200"/>
              <a:ext cx="5619750" cy="1600200"/>
            </a:xfrm>
            <a:prstGeom prst="roundRect">
              <a:avLst>
                <a:gd name="adj" fmla="val 238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8744" y="28755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6711" y="29513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静态计划表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2554" y="3375660"/>
              <a:ext cx="429463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绝大多数规划工具只在项目开始时生成一张分工表，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从那以后就再也不更新。项目一旦变化——有人请假、任务调整、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截止日提前——这张表立刻过时，团队只能回到群里反复对齐。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91250" y="2743200"/>
            <a:ext cx="5619750" cy="1600200"/>
            <a:chOff x="6191250" y="2743200"/>
            <a:chExt cx="5619750" cy="1600200"/>
          </a:xfrm>
        </p:grpSpPr>
        <p:sp>
          <p:nvSpPr>
            <p:cNvPr id="15" name="Rectangle 15"/>
            <p:cNvSpPr/>
            <p:nvPr/>
          </p:nvSpPr>
          <p:spPr>
            <a:xfrm>
              <a:off x="6191250" y="2743200"/>
              <a:ext cx="5619750" cy="1600200"/>
            </a:xfrm>
            <a:prstGeom prst="roundRect">
              <a:avLst>
                <a:gd name="adj" fmla="val 238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28994" y="28755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6961" y="2951321"/>
              <a:ext cx="1820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大模型没有进入流程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2804" y="3375660"/>
              <a:ext cx="4736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多模态大模型的能力越来越强，但通常只被当作聊天机器人挂在旁边：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问它问题、让它转写、让它识别图片，结果停留在对话框里，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从来没有真正改变团队怎么分工、怎么排期。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1000" y="4533900"/>
            <a:ext cx="5619750" cy="1600200"/>
            <a:chOff x="381000" y="4533900"/>
            <a:chExt cx="5619750" cy="1600200"/>
          </a:xfrm>
        </p:grpSpPr>
        <p:sp>
          <p:nvSpPr>
            <p:cNvPr id="20" name="Rectangle 20"/>
            <p:cNvSpPr/>
            <p:nvPr/>
          </p:nvSpPr>
          <p:spPr>
            <a:xfrm>
              <a:off x="381000" y="4533900"/>
              <a:ext cx="5619750" cy="1600200"/>
            </a:xfrm>
            <a:prstGeom prst="roundRect">
              <a:avLst>
                <a:gd name="adj" fmla="val 238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8744" y="46662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6711" y="47420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汇报成本高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554" y="5166360"/>
              <a:ext cx="44317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成员更新任务状态要打开表格、找到任务、填写说明，步骤繁琐，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于是大家选择不更新。负责人只能挨个追问进度，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信息永远滞后。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191250" y="4533900"/>
            <a:ext cx="5619750" cy="1600200"/>
            <a:chOff x="6191250" y="4533900"/>
            <a:chExt cx="5619750" cy="1600200"/>
          </a:xfrm>
        </p:grpSpPr>
        <p:sp>
          <p:nvSpPr>
            <p:cNvPr id="25" name="Rectangle 25"/>
            <p:cNvSpPr/>
            <p:nvPr/>
          </p:nvSpPr>
          <p:spPr>
            <a:xfrm>
              <a:off x="6191250" y="4533900"/>
              <a:ext cx="5619750" cy="1600200"/>
            </a:xfrm>
            <a:prstGeom prst="roundRect">
              <a:avLst>
                <a:gd name="adj" fmla="val 238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28994" y="46662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6961" y="4742021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会议内容难沉淀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2804" y="5166360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开一次会，录音、录像、白板照片散落各处，没有人愿意二次整理。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2804" y="54711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会上明明讨论清楚的任务，会后依然要靠回忆。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31" name="TextBox 31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2787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解决思路：以全模态能力驱动完整协作闭环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47825"/>
            <a:ext cx="7444740" cy="560070"/>
            <a:chOff x="373380" y="1647825"/>
            <a:chExt cx="7444740" cy="5600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47825"/>
              <a:ext cx="744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我们的答案不是做一个更强的聊天机器人，而是把全模态能力接进一条完整的协作流程：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从立项到交付，每一步都有明确的动作和反馈，环环相扣。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286000"/>
            <a:ext cx="2367534" cy="1866900"/>
            <a:chOff x="381000" y="2286000"/>
            <a:chExt cx="2367534" cy="1866900"/>
          </a:xfrm>
        </p:grpSpPr>
        <p:sp>
          <p:nvSpPr>
            <p:cNvPr id="9" name="Rectangle 9"/>
            <p:cNvSpPr/>
            <p:nvPr/>
          </p:nvSpPr>
          <p:spPr>
            <a:xfrm>
              <a:off x="381000" y="2286000"/>
              <a:ext cx="2057400" cy="1866900"/>
            </a:xfrm>
            <a:prstGeom prst="roundRect">
              <a:avLst>
                <a:gd name="adj" fmla="val 204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2742" y="24450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650081" y="2797175"/>
              <a:ext cx="242888" cy="215901"/>
              <a:chOff x="650081" y="2797175"/>
              <a:chExt cx="242888" cy="21590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50081" y="2797175"/>
                <a:ext cx="242888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5901">
                    <a:moveTo>
                      <a:pt x="26988" y="40481"/>
                    </a:moveTo>
                    <a:lnTo>
                      <a:pt x="40481" y="40481"/>
                    </a:lnTo>
                    <a:cubicBezTo>
                      <a:pt x="55386" y="40481"/>
                      <a:pt x="67469" y="28399"/>
                      <a:pt x="67469" y="13494"/>
                    </a:cubicBezTo>
                    <a:cubicBezTo>
                      <a:pt x="67469" y="6041"/>
                      <a:pt x="73510" y="0"/>
                      <a:pt x="80963" y="0"/>
                    </a:cubicBezTo>
                    <a:lnTo>
                      <a:pt x="161925" y="0"/>
                    </a:lnTo>
                    <a:cubicBezTo>
                      <a:pt x="169378" y="0"/>
                      <a:pt x="175419" y="6041"/>
                      <a:pt x="175419" y="13494"/>
                    </a:cubicBezTo>
                    <a:cubicBezTo>
                      <a:pt x="175419" y="28399"/>
                      <a:pt x="187502" y="40481"/>
                      <a:pt x="202407" y="40481"/>
                    </a:cubicBezTo>
                    <a:lnTo>
                      <a:pt x="215901" y="40481"/>
                    </a:lnTo>
                    <a:cubicBezTo>
                      <a:pt x="230805" y="40481"/>
                      <a:pt x="242888" y="52564"/>
                      <a:pt x="242888" y="67469"/>
                    </a:cubicBezTo>
                    <a:lnTo>
                      <a:pt x="242888" y="188913"/>
                    </a:lnTo>
                    <a:cubicBezTo>
                      <a:pt x="242888" y="203818"/>
                      <a:pt x="230805" y="215901"/>
                      <a:pt x="215901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67469"/>
                    </a:lnTo>
                    <a:cubicBezTo>
                      <a:pt x="0" y="52564"/>
                      <a:pt x="12083" y="40481"/>
                      <a:pt x="26988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31044" y="2878138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602742" y="3207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3506152"/>
              <a:ext cx="214426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白板、截图、手绘拍下来就能读懂，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直接生成项目需求，不用逐字输入。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38400" y="3143250"/>
            <a:ext cx="266700" cy="1"/>
            <a:chOff x="2438400" y="3143250"/>
            <a:chExt cx="266700" cy="1"/>
          </a:xfrm>
        </p:grpSpPr>
        <p:sp>
          <p:nvSpPr>
            <p:cNvPr id="17" name="Line 17"/>
            <p:cNvSpPr/>
            <p:nvPr/>
          </p:nvSpPr>
          <p:spPr>
            <a:xfrm>
              <a:off x="2438400" y="3143250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724150" y="2286000"/>
            <a:ext cx="2100834" cy="1866900"/>
            <a:chOff x="2724150" y="2286000"/>
            <a:chExt cx="2100834" cy="1866900"/>
          </a:xfrm>
        </p:grpSpPr>
        <p:sp>
          <p:nvSpPr>
            <p:cNvPr id="19" name="Rectangle 19"/>
            <p:cNvSpPr/>
            <p:nvPr/>
          </p:nvSpPr>
          <p:spPr>
            <a:xfrm>
              <a:off x="2724150" y="2286000"/>
              <a:ext cx="2057400" cy="1866900"/>
            </a:xfrm>
            <a:prstGeom prst="roundRect">
              <a:avLst>
                <a:gd name="adj" fmla="val 204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45892" y="24450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020219" y="2770188"/>
              <a:ext cx="188913" cy="265906"/>
              <a:chOff x="3020219" y="2770188"/>
              <a:chExt cx="188913" cy="26590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074194" y="2770188"/>
                <a:ext cx="80963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48432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9" y="0"/>
                      <a:pt x="80963" y="18124"/>
                      <a:pt x="80963" y="40481"/>
                    </a:cubicBezTo>
                    <a:lnTo>
                      <a:pt x="80963" y="107950"/>
                    </a:lnTo>
                    <a:cubicBezTo>
                      <a:pt x="80963" y="130307"/>
                      <a:pt x="62839" y="148432"/>
                      <a:pt x="40481" y="148432"/>
                    </a:cubicBezTo>
                    <a:cubicBezTo>
                      <a:pt x="18124" y="148432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020219" y="2878138"/>
                <a:ext cx="188913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3" y="52167"/>
                      <a:pt x="188913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060700" y="30265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114675" y="29725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945892" y="3207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47416" y="3506152"/>
              <a:ext cx="187756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录音直接交给模型，听懂后生成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任务草案，不必先转写再粘贴。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81550" y="3143250"/>
            <a:ext cx="266700" cy="1"/>
            <a:chOff x="4781550" y="3143250"/>
            <a:chExt cx="266700" cy="1"/>
          </a:xfrm>
        </p:grpSpPr>
        <p:sp>
          <p:nvSpPr>
            <p:cNvPr id="29" name="Line 29"/>
            <p:cNvSpPr/>
            <p:nvPr/>
          </p:nvSpPr>
          <p:spPr>
            <a:xfrm>
              <a:off x="4781550" y="3143250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067300" y="2286000"/>
            <a:ext cx="2100834" cy="1866900"/>
            <a:chOff x="5067300" y="2286000"/>
            <a:chExt cx="2100834" cy="1866900"/>
          </a:xfrm>
        </p:grpSpPr>
        <p:sp>
          <p:nvSpPr>
            <p:cNvPr id="31" name="Rectangle 31"/>
            <p:cNvSpPr/>
            <p:nvPr/>
          </p:nvSpPr>
          <p:spPr>
            <a:xfrm>
              <a:off x="5067300" y="2286000"/>
              <a:ext cx="2057400" cy="1866900"/>
            </a:xfrm>
            <a:prstGeom prst="roundRect">
              <a:avLst>
                <a:gd name="adj" fmla="val 204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9042" y="24450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63369" y="2837656"/>
              <a:ext cx="202407" cy="134938"/>
            </a:xfrm>
            <a:custGeom>
              <a:avLst/>
              <a:gdLst/>
              <a:ahLst/>
              <a:cxnLst/>
              <a:rect l="l" t="t" r="r" b="b"/>
              <a:pathLst>
                <a:path w="202407" h="134938">
                  <a:moveTo>
                    <a:pt x="0" y="67469"/>
                  </a:moveTo>
                  <a:lnTo>
                    <a:pt x="67469" y="134938"/>
                  </a:lnTo>
                  <a:lnTo>
                    <a:pt x="202407" y="0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9042" y="3207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确认分工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90566" y="3506152"/>
              <a:ext cx="187756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草案可以增删、拖拽、调整，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每次改动即时重算排期与负载。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124700" y="3143250"/>
            <a:ext cx="266700" cy="1"/>
            <a:chOff x="7124700" y="3143250"/>
            <a:chExt cx="266700" cy="1"/>
          </a:xfrm>
        </p:grpSpPr>
        <p:sp>
          <p:nvSpPr>
            <p:cNvPr id="37" name="Line 37"/>
            <p:cNvSpPr/>
            <p:nvPr/>
          </p:nvSpPr>
          <p:spPr>
            <a:xfrm>
              <a:off x="7124700" y="3143250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7410450" y="2286000"/>
            <a:ext cx="2500884" cy="1866900"/>
            <a:chOff x="7410450" y="2286000"/>
            <a:chExt cx="2500884" cy="1866900"/>
          </a:xfrm>
        </p:grpSpPr>
        <p:sp>
          <p:nvSpPr>
            <p:cNvPr id="39" name="Rectangle 39"/>
            <p:cNvSpPr/>
            <p:nvPr/>
          </p:nvSpPr>
          <p:spPr>
            <a:xfrm>
              <a:off x="7410450" y="2286000"/>
              <a:ext cx="2057400" cy="1866900"/>
            </a:xfrm>
            <a:prstGeom prst="roundRect">
              <a:avLst>
                <a:gd name="adj" fmla="val 204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32192" y="24450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7686278" y="2803922"/>
              <a:ext cx="222648" cy="195659"/>
              <a:chOff x="7686278" y="2803922"/>
              <a:chExt cx="222648" cy="19565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686278" y="2803922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86278" y="2884885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86278" y="2965847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87482" y="2824163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87482" y="2905125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87482" y="2986088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32192" y="3207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33716" y="3506152"/>
              <a:ext cx="227761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免登录点开链接，语音或照片就能交，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负责人确认后自动进入计划。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467850" y="3143250"/>
            <a:ext cx="266700" cy="1"/>
            <a:chOff x="9467850" y="3143250"/>
            <a:chExt cx="266700" cy="1"/>
          </a:xfrm>
        </p:grpSpPr>
        <p:sp>
          <p:nvSpPr>
            <p:cNvPr id="51" name="Line 51"/>
            <p:cNvSpPr/>
            <p:nvPr/>
          </p:nvSpPr>
          <p:spPr>
            <a:xfrm>
              <a:off x="9467850" y="3143250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753600" y="2286000"/>
            <a:ext cx="2234184" cy="1866900"/>
            <a:chOff x="9753600" y="2286000"/>
            <a:chExt cx="2234184" cy="1866900"/>
          </a:xfrm>
        </p:grpSpPr>
        <p:sp>
          <p:nvSpPr>
            <p:cNvPr id="53" name="Rectangle 53"/>
            <p:cNvSpPr/>
            <p:nvPr/>
          </p:nvSpPr>
          <p:spPr>
            <a:xfrm>
              <a:off x="9753600" y="2286000"/>
              <a:ext cx="2057400" cy="1866900"/>
            </a:xfrm>
            <a:prstGeom prst="roundRect">
              <a:avLst>
                <a:gd name="adj" fmla="val 204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75342" y="24450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0018352" y="2783681"/>
              <a:ext cx="247218" cy="247218"/>
              <a:chOff x="10018352" y="2783681"/>
              <a:chExt cx="247218" cy="24721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0117138" y="2783681"/>
                <a:ext cx="148432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148432">
                    <a:moveTo>
                      <a:pt x="0" y="148432"/>
                    </a:moveTo>
                    <a:lnTo>
                      <a:pt x="148432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018352" y="2783681"/>
                <a:ext cx="247218" cy="247218"/>
              </a:xfrm>
              <a:custGeom>
                <a:avLst/>
                <a:gdLst/>
                <a:ahLst/>
                <a:cxnLst/>
                <a:rect l="l" t="t" r="r" b="b"/>
                <a:pathLst>
                  <a:path w="247218" h="247218">
                    <a:moveTo>
                      <a:pt x="247218" y="0"/>
                    </a:moveTo>
                    <a:lnTo>
                      <a:pt x="159508" y="242888"/>
                    </a:lnTo>
                    <a:cubicBezTo>
                      <a:pt x="158299" y="245526"/>
                      <a:pt x="155663" y="247218"/>
                      <a:pt x="152761" y="247218"/>
                    </a:cubicBezTo>
                    <a:cubicBezTo>
                      <a:pt x="149859" y="247218"/>
                      <a:pt x="147223" y="245526"/>
                      <a:pt x="146014" y="242888"/>
                    </a:cubicBezTo>
                    <a:lnTo>
                      <a:pt x="98786" y="148432"/>
                    </a:lnTo>
                    <a:lnTo>
                      <a:pt x="4330" y="101203"/>
                    </a:lnTo>
                    <a:cubicBezTo>
                      <a:pt x="1692" y="99994"/>
                      <a:pt x="0" y="97359"/>
                      <a:pt x="0" y="94456"/>
                    </a:cubicBezTo>
                    <a:cubicBezTo>
                      <a:pt x="0" y="91554"/>
                      <a:pt x="1692" y="88919"/>
                      <a:pt x="4330" y="87710"/>
                    </a:cubicBezTo>
                    <a:lnTo>
                      <a:pt x="24721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9975342" y="32070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群通知触达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76866" y="3506152"/>
              <a:ext cx="201091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状态一变，工作群自动收到通知，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每天还有 AI 语音播报今日待办。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81000" y="4533900"/>
            <a:ext cx="5619750" cy="1104900"/>
            <a:chOff x="381000" y="4533900"/>
            <a:chExt cx="5619750" cy="1104900"/>
          </a:xfrm>
        </p:grpSpPr>
        <p:sp>
          <p:nvSpPr>
            <p:cNvPr id="61" name="Rectangle 61"/>
            <p:cNvSpPr/>
            <p:nvPr/>
          </p:nvSpPr>
          <p:spPr>
            <a:xfrm>
              <a:off x="381000" y="4533900"/>
              <a:ext cx="5619750" cy="1104900"/>
            </a:xfrm>
            <a:prstGeom prst="roundRect">
              <a:avLst>
                <a:gd name="adj" fmla="val 3448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79450" y="4794250"/>
              <a:ext cx="203199" cy="203200"/>
              <a:chOff x="679450" y="4794250"/>
              <a:chExt cx="203199" cy="2032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79450" y="48450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4850" y="47942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4850" y="489585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55650" y="49212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81050" y="479425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81050" y="49720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1849" y="48069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57249" y="4794250"/>
                <a:ext cx="952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">
                    <a:moveTo>
                      <a:pt x="0" y="0"/>
                    </a:move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49" y="4857750"/>
                <a:ext cx="95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9700">
                    <a:moveTo>
                      <a:pt x="0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78992" y="4788218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设计原则一：创造与正确分离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2935" y="5155406"/>
              <a:ext cx="287756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负责创造性拆解；关键路径、技能评分、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负载均衡、依赖校验全部由确定性算法完成。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191250" y="4533900"/>
            <a:ext cx="5619750" cy="1104900"/>
            <a:chOff x="6191250" y="4533900"/>
            <a:chExt cx="5619750" cy="1104900"/>
          </a:xfrm>
        </p:grpSpPr>
        <p:sp>
          <p:nvSpPr>
            <p:cNvPr id="75" name="Rectangle 75"/>
            <p:cNvSpPr/>
            <p:nvPr/>
          </p:nvSpPr>
          <p:spPr>
            <a:xfrm>
              <a:off x="6191250" y="4533900"/>
              <a:ext cx="5619750" cy="1104900"/>
            </a:xfrm>
            <a:prstGeom prst="roundRect">
              <a:avLst>
                <a:gd name="adj" fmla="val 3448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477000" y="4781550"/>
              <a:ext cx="228599" cy="228599"/>
              <a:chOff x="6477000" y="4781550"/>
              <a:chExt cx="228599" cy="228599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540500" y="48450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477000" y="47815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629400" y="4933950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0" y="0"/>
                    </a:moveTo>
                    <a:lnTo>
                      <a:pt x="42545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510655" y="4933950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42545" y="0"/>
                    </a:moveTo>
                    <a:lnTo>
                      <a:pt x="0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10655" y="4815205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0" y="0"/>
                    </a:moveTo>
                    <a:lnTo>
                      <a:pt x="42545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629400" y="4815205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42545" y="0"/>
                    </a:moveTo>
                    <a:lnTo>
                      <a:pt x="0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889242" y="47882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设计原则二：全环节兜底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33185" y="5155406"/>
              <a:ext cx="28562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 Agent 失败都有确定性兜底；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断网、模型离线时主链路依然可以完整演示。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6" name="TextBox 8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5266011" cy="1015365"/>
            <a:chOff x="747522" y="1851660"/>
            <a:chExt cx="526601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2223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02 / 系统架构与核心机制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52660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系统如何运转，计划为何可信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04862" y="3567112"/>
            <a:ext cx="6350318" cy="2050733"/>
            <a:chOff x="804862" y="3567112"/>
            <a:chExt cx="6350318" cy="2050733"/>
          </a:xfrm>
        </p:grpSpPr>
        <p:grpSp>
          <p:nvGrpSpPr>
            <p:cNvPr id="15" name="Group 15"/>
            <p:cNvGrpSpPr/>
            <p:nvPr/>
          </p:nvGrpSpPr>
          <p:grpSpPr>
            <a:xfrm>
              <a:off x="804862" y="3567112"/>
              <a:ext cx="257175" cy="271463"/>
              <a:chOff x="804862" y="3567112"/>
              <a:chExt cx="257175" cy="27146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47725" y="356711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3450" y="35671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4875" y="35671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7725" y="3652838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4862" y="38100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2025" y="38100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4875" y="3781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33450" y="3738562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25880" y="3609975"/>
              <a:ext cx="5398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总体架构：工作台 → FastAPI 后端 → 昇腾 A3 / 云端双后端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19150" y="4152900"/>
              <a:ext cx="228600" cy="228600"/>
              <a:chOff x="819150" y="4152900"/>
              <a:chExt cx="228600" cy="228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19150" y="42100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7725" y="41529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47725" y="42672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04875" y="42957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33450" y="41529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33450" y="43529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90600" y="41671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19175" y="415290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19175" y="422433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325880" y="4181475"/>
              <a:ext cx="4346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计划引擎：LLM 创造 × 算法正确的确定性机制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04862" y="472440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25880" y="4752975"/>
              <a:ext cx="5829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全模态接入：统一适配层打通文本 / 语音 / 图片 / 视频 / TTS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18606" y="5295341"/>
              <a:ext cx="243432" cy="229718"/>
              <a:chOff x="818606" y="5295341"/>
              <a:chExt cx="243432" cy="22971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18606" y="5295341"/>
                <a:ext cx="243432" cy="229718"/>
              </a:xfrm>
              <a:custGeom>
                <a:avLst/>
                <a:gdLst/>
                <a:ahLst/>
                <a:cxnLst/>
                <a:rect l="l" t="t" r="r" b="b"/>
                <a:pathLst>
                  <a:path w="243432" h="229718">
                    <a:moveTo>
                      <a:pt x="10517" y="1045"/>
                    </a:moveTo>
                    <a:lnTo>
                      <a:pt x="243432" y="114859"/>
                    </a:lnTo>
                    <a:lnTo>
                      <a:pt x="10517" y="228673"/>
                    </a:lnTo>
                    <a:cubicBezTo>
                      <a:pt x="7798" y="229718"/>
                      <a:pt x="4717" y="229019"/>
                      <a:pt x="2716" y="226902"/>
                    </a:cubicBezTo>
                    <a:cubicBezTo>
                      <a:pt x="663" y="224735"/>
                      <a:pt x="0" y="221599"/>
                      <a:pt x="1002" y="218787"/>
                    </a:cubicBezTo>
                    <a:lnTo>
                      <a:pt x="36263" y="114859"/>
                    </a:lnTo>
                    <a:lnTo>
                      <a:pt x="1002" y="10932"/>
                    </a:lnTo>
                    <a:cubicBezTo>
                      <a:pt x="0" y="8120"/>
                      <a:pt x="663" y="4983"/>
                      <a:pt x="2716" y="2817"/>
                    </a:cubicBezTo>
                    <a:cubicBezTo>
                      <a:pt x="4717" y="700"/>
                      <a:pt x="7798" y="0"/>
                      <a:pt x="10517" y="104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54869" y="5410200"/>
                <a:ext cx="2071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7169" h="9525">
                    <a:moveTo>
                      <a:pt x="0" y="0"/>
                    </a:moveTo>
                    <a:lnTo>
                      <a:pt x="207169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25880" y="5324475"/>
              <a:ext cx="3740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协作闭环：计划 → 执行 → 汇报 → 通知触达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P06–P10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06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3932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总体架构：工作台 → 后端服务 → 昇腾双后端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81000" y="1562100"/>
            <a:ext cx="11430000" cy="1123950"/>
            <a:chOff x="381000" y="1562100"/>
            <a:chExt cx="11430000" cy="112395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1430000" cy="1123950"/>
            </a:xfrm>
            <a:prstGeom prst="roundRect">
              <a:avLst>
                <a:gd name="adj" fmla="val 339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0842" y="1721168"/>
              <a:ext cx="3406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前端层 · Web 工作台 + 成员轻量汇报页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" y="205740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4004" y="2204085"/>
              <a:ext cx="5183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工作台：文本 / 语音 / 拍照 / 录像 / TTS / 甘特图 / 导出 / 提醒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34100" y="2057400"/>
              <a:ext cx="5410200" cy="4191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80404" y="2204085"/>
              <a:ext cx="410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成员轻量汇报页：token 链接 · 免登录 · 只看自己的任务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0" y="2686050"/>
            <a:ext cx="1" cy="285750"/>
            <a:chOff x="6096000" y="2686050"/>
            <a:chExt cx="1" cy="285750"/>
          </a:xfrm>
        </p:grpSpPr>
        <p:sp>
          <p:nvSpPr>
            <p:cNvPr id="14" name="Line 14"/>
            <p:cNvSpPr/>
            <p:nvPr/>
          </p:nvSpPr>
          <p:spPr>
            <a:xfrm>
              <a:off x="6096000" y="2686050"/>
              <a:ext cx="1" cy="285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81000" y="2990850"/>
            <a:ext cx="11430000" cy="1600200"/>
            <a:chOff x="381000" y="2990850"/>
            <a:chExt cx="11430000" cy="1600200"/>
          </a:xfrm>
        </p:grpSpPr>
        <p:sp>
          <p:nvSpPr>
            <p:cNvPr id="16" name="Rectangle 16"/>
            <p:cNvSpPr/>
            <p:nvPr/>
          </p:nvSpPr>
          <p:spPr>
            <a:xfrm>
              <a:off x="381000" y="2990850"/>
              <a:ext cx="11430000" cy="1600200"/>
            </a:xfrm>
            <a:prstGeom prst="roundRect">
              <a:avLst>
                <a:gd name="adj" fmla="val 238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3149918"/>
              <a:ext cx="229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后端层 · FastAPI（/api）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770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400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766" y="3887152"/>
              <a:ext cx="21442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从拆解、校验到分工、排期、报告，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把需求变成可执行、可核验的计划。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4805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94354" y="3623310"/>
              <a:ext cx="1742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多模态适配 omni_chat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95116" y="3887152"/>
              <a:ext cx="203092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统一接入 MiniCPM-o：本地直听、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云端先转写再理解，长音频分片。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9470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媒体分析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5466" y="3887152"/>
              <a:ext cx="204425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PyAV 抽帧、抽音频，图片理解、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扫描 PDF 与音频转写都在这一层。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48750" y="3467100"/>
              <a:ext cx="24955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9505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协作闭环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95816" y="3887152"/>
              <a:ext cx="169754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汇报 token、负责人确认、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即时重算与 Webhook 通知。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4591050"/>
            <a:ext cx="1" cy="285750"/>
            <a:chOff x="6096000" y="4591050"/>
            <a:chExt cx="1" cy="285750"/>
          </a:xfrm>
        </p:grpSpPr>
        <p:sp>
          <p:nvSpPr>
            <p:cNvPr id="31" name="Line 31"/>
            <p:cNvSpPr/>
            <p:nvPr/>
          </p:nvSpPr>
          <p:spPr>
            <a:xfrm>
              <a:off x="6096000" y="4591050"/>
              <a:ext cx="1" cy="285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40842" y="4997768"/>
            <a:ext cx="10903458" cy="717232"/>
            <a:chOff x="640842" y="4997768"/>
            <a:chExt cx="10903458" cy="717232"/>
          </a:xfrm>
        </p:grpSpPr>
        <p:sp>
          <p:nvSpPr>
            <p:cNvPr id="33" name="TextBox 33"/>
            <p:cNvSpPr txBox="1"/>
            <p:nvPr/>
          </p:nvSpPr>
          <p:spPr>
            <a:xfrm>
              <a:off x="640842" y="4997768"/>
              <a:ext cx="1810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模型层 · WebSocket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" y="5257800"/>
              <a:ext cx="5334000" cy="457200"/>
            </a:xfrm>
            <a:prstGeom prst="roundRect">
              <a:avLst>
                <a:gd name="adj" fmla="val 62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4004" y="5414010"/>
              <a:ext cx="4317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昇腾 A3（910C）· llama.cpp-omni · MiniCPM-o-4_5-F16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34100" y="5257800"/>
              <a:ext cx="5410200" cy="457200"/>
            </a:xfrm>
            <a:prstGeom prst="roundRect">
              <a:avLst>
                <a:gd name="adj" fmla="val 625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404" y="5414010"/>
              <a:ext cx="4309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ModelBest 云端 Realtime API · MiniCPM-o-4.5-Realtime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92150" y="6080760"/>
            <a:ext cx="10596728" cy="234696"/>
            <a:chOff x="692150" y="6080760"/>
            <a:chExt cx="10596728" cy="234696"/>
          </a:xfrm>
        </p:grpSpPr>
        <p:grpSp>
          <p:nvGrpSpPr>
            <p:cNvPr id="43" name="Group 43"/>
            <p:cNvGrpSpPr/>
            <p:nvPr/>
          </p:nvGrpSpPr>
          <p:grpSpPr>
            <a:xfrm>
              <a:off x="692150" y="6108700"/>
              <a:ext cx="187326" cy="88900"/>
              <a:chOff x="692150" y="6108700"/>
              <a:chExt cx="187326" cy="88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2150" y="616426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1050" y="61087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9951" y="6108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150" y="61087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22604" y="6080760"/>
              <a:ext cx="10266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双后端一键切换：ASCEND_OMNI_WS_URL 指向 A3 即走本地，注释掉走云端；/api/realtime/status 返回 backend: local | map 直观确认。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939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计划引擎：LLM 创造 × 算法正确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47825"/>
            <a:ext cx="5539740" cy="560070"/>
            <a:chOff x="373380" y="1647825"/>
            <a:chExt cx="5539740" cy="5600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47825"/>
              <a:ext cx="553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计划是拿来执行的，不是拿来欣赏的。因此我们把引擎拆成两半：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负责“想得开”，算法负责“算得准”——各干各擅长的事。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2286000"/>
            <a:ext cx="11430000" cy="666750"/>
            <a:chOff x="381000" y="2286000"/>
            <a:chExt cx="11430000" cy="666750"/>
          </a:xfrm>
        </p:grpSpPr>
        <p:sp>
          <p:nvSpPr>
            <p:cNvPr id="9" name="Rectangle 9"/>
            <p:cNvSpPr/>
            <p:nvPr/>
          </p:nvSpPr>
          <p:spPr>
            <a:xfrm>
              <a:off x="381000" y="2286000"/>
              <a:ext cx="2057400" cy="666750"/>
            </a:xfrm>
            <a:prstGeom prst="roundRect">
              <a:avLst>
                <a:gd name="adj" fmla="val 42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83406" y="2441575"/>
              <a:ext cx="175418" cy="165099"/>
            </a:xfrm>
            <a:custGeom>
              <a:avLst/>
              <a:gdLst/>
              <a:ahLst/>
              <a:cxnLst/>
              <a:rect l="l" t="t" r="r" b="b"/>
              <a:pathLst>
                <a:path w="175418" h="165099">
                  <a:moveTo>
                    <a:pt x="134143" y="144462"/>
                  </a:moveTo>
                  <a:cubicBezTo>
                    <a:pt x="145541" y="144462"/>
                    <a:pt x="154781" y="153702"/>
                    <a:pt x="154781" y="165099"/>
                  </a:cubicBezTo>
                  <a:cubicBezTo>
                    <a:pt x="154781" y="153702"/>
                    <a:pt x="164020" y="144462"/>
                    <a:pt x="175418" y="144462"/>
                  </a:cubicBezTo>
                  <a:cubicBezTo>
                    <a:pt x="164020" y="144462"/>
                    <a:pt x="154781" y="135222"/>
                    <a:pt x="154781" y="123825"/>
                  </a:cubicBezTo>
                  <a:cubicBezTo>
                    <a:pt x="154781" y="135222"/>
                    <a:pt x="145541" y="144462"/>
                    <a:pt x="134143" y="144462"/>
                  </a:cubicBezTo>
                  <a:moveTo>
                    <a:pt x="134143" y="20637"/>
                  </a:moveTo>
                  <a:cubicBezTo>
                    <a:pt x="145541" y="20637"/>
                    <a:pt x="154781" y="29877"/>
                    <a:pt x="154781" y="41275"/>
                  </a:cubicBezTo>
                  <a:cubicBezTo>
                    <a:pt x="154781" y="29877"/>
                    <a:pt x="164020" y="20637"/>
                    <a:pt x="175418" y="20637"/>
                  </a:cubicBezTo>
                  <a:cubicBezTo>
                    <a:pt x="164020" y="20637"/>
                    <a:pt x="154781" y="11398"/>
                    <a:pt x="154781" y="0"/>
                  </a:cubicBezTo>
                  <a:cubicBezTo>
                    <a:pt x="154781" y="11398"/>
                    <a:pt x="145541" y="20637"/>
                    <a:pt x="134143" y="20637"/>
                  </a:cubicBezTo>
                  <a:moveTo>
                    <a:pt x="61912" y="144462"/>
                  </a:moveTo>
                  <a:cubicBezTo>
                    <a:pt x="61912" y="110269"/>
                    <a:pt x="89631" y="82550"/>
                    <a:pt x="123825" y="82550"/>
                  </a:cubicBezTo>
                  <a:cubicBezTo>
                    <a:pt x="89631" y="82550"/>
                    <a:pt x="61912" y="54831"/>
                    <a:pt x="61912" y="20637"/>
                  </a:cubicBezTo>
                  <a:cubicBezTo>
                    <a:pt x="61912" y="54831"/>
                    <a:pt x="34193" y="82550"/>
                    <a:pt x="0" y="82550"/>
                  </a:cubicBezTo>
                  <a:cubicBezTo>
                    <a:pt x="34193" y="82550"/>
                    <a:pt x="61912" y="110269"/>
                    <a:pt x="61912" y="144462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8304" y="2518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438400" y="26193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43200" y="2286000"/>
              <a:ext cx="2057400" cy="666750"/>
            </a:xfrm>
            <a:prstGeom prst="roundRect">
              <a:avLst>
                <a:gd name="adj" fmla="val 42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931681" y="2431256"/>
              <a:ext cx="201506" cy="185737"/>
              <a:chOff x="2931681" y="2431256"/>
              <a:chExt cx="201506" cy="18573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931681" y="24312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69431" y="25757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270504" y="2518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结构化校验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800600" y="26193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105400" y="2286000"/>
              <a:ext cx="2057400" cy="666750"/>
            </a:xfrm>
            <a:prstGeom prst="roundRect">
              <a:avLst>
                <a:gd name="adj" fmla="val 42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307806" y="2431256"/>
              <a:ext cx="185737" cy="185737"/>
              <a:chOff x="5307806" y="2431256"/>
              <a:chExt cx="185737" cy="1857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0356" y="2513806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49081" y="247253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07806" y="24312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632704" y="25184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技能匹配分工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162800" y="26193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67600" y="2286000"/>
              <a:ext cx="2057400" cy="666750"/>
            </a:xfrm>
            <a:prstGeom prst="roundRect">
              <a:avLst>
                <a:gd name="adj" fmla="val 42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670006" y="2472531"/>
              <a:ext cx="185737" cy="103187"/>
              <a:chOff x="7670006" y="2472531"/>
              <a:chExt cx="185737" cy="10318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680325" y="2482850"/>
                <a:ext cx="165099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82550">
                    <a:moveTo>
                      <a:pt x="0" y="82550"/>
                    </a:moveTo>
                    <a:lnTo>
                      <a:pt x="61912" y="10319"/>
                    </a:lnTo>
                    <a:lnTo>
                      <a:pt x="113506" y="61912"/>
                    </a:ln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83512" y="2534443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31918" y="2482850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70006" y="2555081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835106" y="2472531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994904" y="25184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关键路径排期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525000" y="26193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829800" y="2286000"/>
              <a:ext cx="1981200" cy="666750"/>
            </a:xfrm>
            <a:prstGeom prst="roundRect">
              <a:avLst>
                <a:gd name="adj" fmla="val 42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10052844" y="2431256"/>
              <a:ext cx="144462" cy="185737"/>
              <a:chOff x="10052844" y="2431256"/>
              <a:chExt cx="144462" cy="18573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0145712" y="243125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052844" y="2431256"/>
                <a:ext cx="144462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7">
                    <a:moveTo>
                      <a:pt x="123825" y="185737"/>
                    </a:move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8" y="0"/>
                    </a:lnTo>
                    <a:lnTo>
                      <a:pt x="144462" y="51594"/>
                    </a:lnTo>
                    <a:lnTo>
                      <a:pt x="144462" y="165099"/>
                    </a:lnTo>
                    <a:cubicBezTo>
                      <a:pt x="144462" y="176497"/>
                      <a:pt x="135222" y="185737"/>
                      <a:pt x="123825" y="185737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094118" y="2493168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094118" y="2534443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094118" y="2575718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357104" y="2518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报告生成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81000" y="3390900"/>
            <a:ext cx="5619750" cy="2381250"/>
            <a:chOff x="381000" y="3390900"/>
            <a:chExt cx="5619750" cy="2381250"/>
          </a:xfrm>
        </p:grpSpPr>
        <p:sp>
          <p:nvSpPr>
            <p:cNvPr id="44" name="Rectangle 44"/>
            <p:cNvSpPr/>
            <p:nvPr/>
          </p:nvSpPr>
          <p:spPr>
            <a:xfrm>
              <a:off x="381000" y="339090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81000" y="3390900"/>
              <a:ext cx="5619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07231" y="3749675"/>
              <a:ext cx="229394" cy="215901"/>
            </a:xfrm>
            <a:custGeom>
              <a:avLst/>
              <a:gdLst/>
              <a:ahLst/>
              <a:cxnLst/>
              <a:rect l="l" t="t" r="r" b="b"/>
              <a:pathLst>
                <a:path w="229394" h="215901">
                  <a:moveTo>
                    <a:pt x="175419" y="188913"/>
                  </a:moveTo>
                  <a:cubicBezTo>
                    <a:pt x="190324" y="188913"/>
                    <a:pt x="202407" y="200996"/>
                    <a:pt x="202407" y="215901"/>
                  </a:cubicBezTo>
                  <a:cubicBezTo>
                    <a:pt x="202407" y="200996"/>
                    <a:pt x="214489" y="188913"/>
                    <a:pt x="229394" y="188913"/>
                  </a:cubicBezTo>
                  <a:cubicBezTo>
                    <a:pt x="214489" y="188913"/>
                    <a:pt x="202407" y="176830"/>
                    <a:pt x="202407" y="161925"/>
                  </a:cubicBezTo>
                  <a:cubicBezTo>
                    <a:pt x="202407" y="176830"/>
                    <a:pt x="190324" y="188913"/>
                    <a:pt x="175419" y="188913"/>
                  </a:cubicBezTo>
                  <a:moveTo>
                    <a:pt x="175419" y="26988"/>
                  </a:moveTo>
                  <a:cubicBezTo>
                    <a:pt x="190324" y="26988"/>
                    <a:pt x="202407" y="39070"/>
                    <a:pt x="202407" y="53975"/>
                  </a:cubicBezTo>
                  <a:cubicBezTo>
                    <a:pt x="202407" y="39070"/>
                    <a:pt x="214489" y="26988"/>
                    <a:pt x="229394" y="26988"/>
                  </a:cubicBezTo>
                  <a:cubicBezTo>
                    <a:pt x="214489" y="26988"/>
                    <a:pt x="202407" y="14905"/>
                    <a:pt x="202407" y="0"/>
                  </a:cubicBezTo>
                  <a:cubicBezTo>
                    <a:pt x="202407" y="14905"/>
                    <a:pt x="190324" y="26988"/>
                    <a:pt x="175419" y="26988"/>
                  </a:cubicBezTo>
                  <a:moveTo>
                    <a:pt x="80963" y="188913"/>
                  </a:moveTo>
                  <a:cubicBezTo>
                    <a:pt x="80963" y="144198"/>
                    <a:pt x="117211" y="107950"/>
                    <a:pt x="161925" y="107950"/>
                  </a:cubicBezTo>
                  <a:cubicBezTo>
                    <a:pt x="117211" y="107950"/>
                    <a:pt x="80963" y="71702"/>
                    <a:pt x="80963" y="26988"/>
                  </a:cubicBezTo>
                  <a:cubicBezTo>
                    <a:pt x="80963" y="71702"/>
                    <a:pt x="44714" y="107950"/>
                    <a:pt x="0" y="107950"/>
                  </a:cubicBezTo>
                  <a:cubicBezTo>
                    <a:pt x="44714" y="107950"/>
                    <a:pt x="80963" y="144198"/>
                    <a:pt x="80963" y="188913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4618" y="3746182"/>
              <a:ext cx="1532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0654" y="4213860"/>
              <a:ext cx="42793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理解自然语言需求、拆解任务、给出工时建议、组织报告表达、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提出批判性审查建议——这些工作没有唯一正确答案，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适合大模型发挥。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191250" y="3390900"/>
            <a:ext cx="5619750" cy="2381250"/>
            <a:chOff x="6191250" y="3390900"/>
            <a:chExt cx="5619750" cy="2381250"/>
          </a:xfrm>
        </p:grpSpPr>
        <p:sp>
          <p:nvSpPr>
            <p:cNvPr id="50" name="Rectangle 50"/>
            <p:cNvSpPr/>
            <p:nvPr/>
          </p:nvSpPr>
          <p:spPr>
            <a:xfrm>
              <a:off x="6191250" y="339090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191250" y="3390900"/>
              <a:ext cx="5619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530975" y="3749675"/>
              <a:ext cx="215901" cy="215901"/>
              <a:chOff x="6530975" y="3749675"/>
              <a:chExt cx="215901" cy="21590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30975" y="38036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7963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7963" y="385762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611938" y="388461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38925" y="374967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638925" y="393858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692901" y="3763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19888" y="374967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19888" y="381714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44868" y="37461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确定性算法负责正确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70904" y="4213860"/>
              <a:ext cx="48889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关键路径与浮动、技能评分、负载均衡、依赖校验、跳过周末与不可用日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的日期约束——这些工作必须精确、可复现，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绝不能依赖模型输出的偶然正确。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81000" y="6000750"/>
            <a:ext cx="11430000" cy="533400"/>
            <a:chOff x="381000" y="6000750"/>
            <a:chExt cx="11430000" cy="533400"/>
          </a:xfrm>
        </p:grpSpPr>
        <p:sp>
          <p:nvSpPr>
            <p:cNvPr id="65" name="Rectangle 65"/>
            <p:cNvSpPr/>
            <p:nvPr/>
          </p:nvSpPr>
          <p:spPr>
            <a:xfrm>
              <a:off x="381000" y="6000750"/>
              <a:ext cx="11430000" cy="533400"/>
            </a:xfrm>
            <a:prstGeom prst="roundRect">
              <a:avLst>
                <a:gd name="adj" fmla="val 7143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81038" y="6148388"/>
              <a:ext cx="200026" cy="200026"/>
              <a:chOff x="681038" y="6148388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6600" y="620395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81038" y="61483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4388" y="62817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10486" y="62817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10486" y="61778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4388" y="61778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2035" y="6203156"/>
              <a:ext cx="7889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兜底：拆解、分工、排期、审查任一环节的 LLM 失败，自动切换到确定性规则实现；演示不依赖模型持续在线。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5" name="TextBox 7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15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全模态接入：统一适配层打通五种交互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81000" y="1562100"/>
            <a:ext cx="4381500" cy="4740211"/>
            <a:chOff x="381000" y="1562100"/>
            <a:chExt cx="4381500" cy="4740211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3810000" cy="876300"/>
            </a:xfrm>
            <a:prstGeom prst="roundRect">
              <a:avLst>
                <a:gd name="adj" fmla="val 3261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28650" y="1765300"/>
              <a:ext cx="228599" cy="215899"/>
              <a:chOff x="628650" y="1765300"/>
              <a:chExt cx="228599" cy="2158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92150" y="18288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92150" y="18796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28650" y="176530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190500" y="0"/>
                    </a:move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39700"/>
                    </a:lnTo>
                    <a:cubicBezTo>
                      <a:pt x="228599" y="160742"/>
                      <a:pt x="211542" y="177800"/>
                      <a:pt x="190500" y="177800"/>
                    </a:cubicBezTo>
                    <a:lnTo>
                      <a:pt x="127000" y="177800"/>
                    </a:lnTo>
                    <a:lnTo>
                      <a:pt x="63500" y="215899"/>
                    </a:lnTo>
                    <a:lnTo>
                      <a:pt x="63500" y="177800"/>
                    </a:ln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02792" y="1778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216" y="2096452"/>
              <a:ext cx="1897570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SSE 流式对话，回复逐字出现；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建议抽屉带着当前方案快照。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191000" y="19621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00" y="2514600"/>
              <a:ext cx="3810000" cy="876300"/>
            </a:xfrm>
            <a:prstGeom prst="roundRect">
              <a:avLst>
                <a:gd name="adj" fmla="val 3261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54050" y="2673350"/>
              <a:ext cx="177800" cy="250824"/>
              <a:chOff x="654050" y="2673350"/>
              <a:chExt cx="177800" cy="2508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04850" y="2673350"/>
                <a:ext cx="762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97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01600"/>
                    </a:lnTo>
                    <a:cubicBezTo>
                      <a:pt x="76200" y="122642"/>
                      <a:pt x="59142" y="139700"/>
                      <a:pt x="38100" y="139700"/>
                    </a:cubicBezTo>
                    <a:cubicBezTo>
                      <a:pt x="17058" y="139700"/>
                      <a:pt x="0" y="122642"/>
                      <a:pt x="0" y="1016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54050" y="2774950"/>
                <a:ext cx="177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88900">
                    <a:moveTo>
                      <a:pt x="0" y="0"/>
                    </a:moveTo>
                    <a:cubicBezTo>
                      <a:pt x="0" y="49098"/>
                      <a:pt x="39802" y="88900"/>
                      <a:pt x="88900" y="88900"/>
                    </a:cubicBezTo>
                    <a:cubicBezTo>
                      <a:pt x="137998" y="88900"/>
                      <a:pt x="177800" y="49098"/>
                      <a:pt x="17780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92150" y="2914649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42950" y="2863849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02792" y="2711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5216" y="3048952"/>
              <a:ext cx="267766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按住麦克风直接说，录音作为音频交给模型，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听懂后回答——不是先转写再粘贴。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191000" y="289560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1000" y="3467100"/>
              <a:ext cx="3810000" cy="876300"/>
            </a:xfrm>
            <a:prstGeom prst="roundRect">
              <a:avLst>
                <a:gd name="adj" fmla="val 3261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28650" y="3632200"/>
              <a:ext cx="228599" cy="203199"/>
              <a:chOff x="628650" y="3632200"/>
              <a:chExt cx="228599" cy="20319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28650" y="3632200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25400" y="38100"/>
                    </a:moveTo>
                    <a:lnTo>
                      <a:pt x="38100" y="38100"/>
                    </a:lnTo>
                    <a:cubicBezTo>
                      <a:pt x="52128" y="38100"/>
                      <a:pt x="63500" y="26728"/>
                      <a:pt x="63500" y="12700"/>
                    </a:cubicBezTo>
                    <a:cubicBezTo>
                      <a:pt x="63500" y="5686"/>
                      <a:pt x="69186" y="0"/>
                      <a:pt x="76200" y="0"/>
                    </a:cubicBezTo>
                    <a:lnTo>
                      <a:pt x="152400" y="0"/>
                    </a:lnTo>
                    <a:cubicBezTo>
                      <a:pt x="159414" y="0"/>
                      <a:pt x="165100" y="5686"/>
                      <a:pt x="165100" y="12700"/>
                    </a:cubicBezTo>
                    <a:cubicBezTo>
                      <a:pt x="165100" y="26728"/>
                      <a:pt x="176472" y="38100"/>
                      <a:pt x="190500" y="38100"/>
                    </a:cubicBezTo>
                    <a:lnTo>
                      <a:pt x="203199" y="38100"/>
                    </a:lnTo>
                    <a:cubicBezTo>
                      <a:pt x="217227" y="38100"/>
                      <a:pt x="228599" y="49472"/>
                      <a:pt x="228599" y="63500"/>
                    </a:cubicBezTo>
                    <a:lnTo>
                      <a:pt x="228599" y="177800"/>
                    </a:lnTo>
                    <a:cubicBezTo>
                      <a:pt x="228599" y="191828"/>
                      <a:pt x="217227" y="203199"/>
                      <a:pt x="203199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63500"/>
                    </a:lnTo>
                    <a:cubicBezTo>
                      <a:pt x="0" y="49472"/>
                      <a:pt x="11372" y="38100"/>
                      <a:pt x="2540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4850" y="37084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02792" y="36452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5216" y="4001452"/>
              <a:ext cx="2804350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拍照、白板、截图、扫描 PDF；不只提取文字，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还能理解图表、流程图和手绘。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191000" y="38290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000" y="4419600"/>
              <a:ext cx="3810000" cy="876300"/>
            </a:xfrm>
            <a:prstGeom prst="roundRect">
              <a:avLst>
                <a:gd name="adj" fmla="val 3261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28650" y="4591050"/>
              <a:ext cx="228600" cy="152400"/>
              <a:chOff x="628650" y="4591050"/>
              <a:chExt cx="228600" cy="1524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81050" y="46109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7" y="8921"/>
                      <a:pt x="76200" y="13320"/>
                    </a:cubicBezTo>
                    <a:lnTo>
                      <a:pt x="76200" y="99223"/>
                    </a:lnTo>
                    <a:cubicBezTo>
                      <a:pt x="76197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28650" y="45910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02792" y="4578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5216" y="4953952"/>
              <a:ext cx="294436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会议录像边看边听，抽帧看画面、抽音频听内容，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合并成要点与任务。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191000" y="476250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1000" y="5372100"/>
              <a:ext cx="3810000" cy="876300"/>
            </a:xfrm>
            <a:prstGeom prst="roundRect">
              <a:avLst>
                <a:gd name="adj" fmla="val 3261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28650" y="5498877"/>
              <a:ext cx="229147" cy="203645"/>
              <a:chOff x="628650" y="5498877"/>
              <a:chExt cx="229147" cy="20364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81050" y="5549900"/>
                <a:ext cx="25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01600">
                    <a:moveTo>
                      <a:pt x="0" y="0"/>
                    </a:moveTo>
                    <a:cubicBezTo>
                      <a:pt x="15990" y="11992"/>
                      <a:pt x="25400" y="30813"/>
                      <a:pt x="25400" y="50800"/>
                    </a:cubicBezTo>
                    <a:cubicBezTo>
                      <a:pt x="25400" y="70787"/>
                      <a:pt x="15990" y="89608"/>
                      <a:pt x="0" y="1016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5339" y="5511800"/>
                <a:ext cx="42458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42458" h="177800">
                    <a:moveTo>
                      <a:pt x="0" y="0"/>
                    </a:moveTo>
                    <a:cubicBezTo>
                      <a:pt x="26853" y="21700"/>
                      <a:pt x="42458" y="54375"/>
                      <a:pt x="42458" y="88900"/>
                    </a:cubicBezTo>
                    <a:cubicBezTo>
                      <a:pt x="42458" y="123425"/>
                      <a:pt x="26853" y="156099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28650" y="5498877"/>
                <a:ext cx="102438" cy="203645"/>
              </a:xfrm>
              <a:custGeom>
                <a:avLst/>
                <a:gdLst/>
                <a:ahLst/>
                <a:cxnLst/>
                <a:rect l="l" t="t" r="r" b="b"/>
                <a:pathLst>
                  <a:path w="102438" h="203645">
                    <a:moveTo>
                      <a:pt x="38100" y="139922"/>
                    </a:moveTo>
                    <a:lnTo>
                      <a:pt x="12700" y="139922"/>
                    </a:lnTo>
                    <a:cubicBezTo>
                      <a:pt x="5686" y="139922"/>
                      <a:pt x="0" y="134236"/>
                      <a:pt x="0" y="127222"/>
                    </a:cubicBezTo>
                    <a:lnTo>
                      <a:pt x="0" y="76422"/>
                    </a:lnTo>
                    <a:cubicBezTo>
                      <a:pt x="0" y="69408"/>
                      <a:pt x="5686" y="63722"/>
                      <a:pt x="12700" y="63722"/>
                    </a:cubicBezTo>
                    <a:lnTo>
                      <a:pt x="38100" y="63722"/>
                    </a:lnTo>
                    <a:lnTo>
                      <a:pt x="82550" y="6573"/>
                    </a:lnTo>
                    <a:cubicBezTo>
                      <a:pt x="84843" y="2118"/>
                      <a:pt x="90042" y="0"/>
                      <a:pt x="94796" y="1585"/>
                    </a:cubicBezTo>
                    <a:cubicBezTo>
                      <a:pt x="99549" y="3169"/>
                      <a:pt x="102438" y="7982"/>
                      <a:pt x="101600" y="12922"/>
                    </a:cubicBezTo>
                    <a:lnTo>
                      <a:pt x="101600" y="190722"/>
                    </a:lnTo>
                    <a:cubicBezTo>
                      <a:pt x="102438" y="195662"/>
                      <a:pt x="99549" y="200476"/>
                      <a:pt x="94796" y="202060"/>
                    </a:cubicBezTo>
                    <a:cubicBezTo>
                      <a:pt x="90042" y="203645"/>
                      <a:pt x="84843" y="201527"/>
                      <a:pt x="82550" y="197072"/>
                    </a:cubicBezTo>
                    <a:lnTo>
                      <a:pt x="38100" y="139922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02792" y="55121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5216" y="5906452"/>
              <a:ext cx="281101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语音回复可开关、可重听；每天早晨的今日播报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把待办念给你听。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143500" y="2000250"/>
            <a:ext cx="3619500" cy="1905000"/>
            <a:chOff x="5143500" y="2000250"/>
            <a:chExt cx="3619500" cy="1905000"/>
          </a:xfrm>
        </p:grpSpPr>
        <p:sp>
          <p:nvSpPr>
            <p:cNvPr id="46" name="Rectangle 46"/>
            <p:cNvSpPr/>
            <p:nvPr/>
          </p:nvSpPr>
          <p:spPr>
            <a:xfrm>
              <a:off x="5143500" y="2000250"/>
              <a:ext cx="3619500" cy="1905000"/>
            </a:xfrm>
            <a:prstGeom prst="roundRect">
              <a:avLst>
                <a:gd name="adj" fmla="val 2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492750" y="2362200"/>
              <a:ext cx="254001" cy="190500"/>
              <a:chOff x="5492750" y="2362200"/>
              <a:chExt cx="254001" cy="1905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5492750" y="2362200"/>
                <a:ext cx="254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1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492750" y="2489200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5973318" y="2374582"/>
              <a:ext cx="19292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omni_chat 适配层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23154" y="2823210"/>
              <a:ext cx="3018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统一接入 MiniCPM-o 4.5，四个语音接口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23154" y="31089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行为一致；长音频自动分片处理。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23916" y="346805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本地直听 / 云端先转写再理解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763000" y="1809750"/>
            <a:ext cx="3048000" cy="1238250"/>
            <a:chOff x="8763000" y="1809750"/>
            <a:chExt cx="3048000" cy="1238250"/>
          </a:xfrm>
        </p:grpSpPr>
        <p:sp>
          <p:nvSpPr>
            <p:cNvPr id="55" name="Rectangle 55"/>
            <p:cNvSpPr/>
            <p:nvPr/>
          </p:nvSpPr>
          <p:spPr>
            <a:xfrm>
              <a:off x="9144000" y="1809750"/>
              <a:ext cx="2667000" cy="1238250"/>
            </a:xfrm>
            <a:prstGeom prst="roundRect">
              <a:avLst>
                <a:gd name="adj" fmla="val 2308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410700" y="2057400"/>
              <a:ext cx="228599" cy="228599"/>
              <a:chOff x="9410700" y="2057400"/>
              <a:chExt cx="228599" cy="228599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436100" y="20828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486900" y="2133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410700" y="21463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410700" y="2197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499600" y="20574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550400" y="20574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613899" y="21463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613899" y="2197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550400" y="226059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499600" y="226059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822942" y="2102168"/>
              <a:ext cx="1162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67266" y="2477452"/>
              <a:ext cx="180422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llama-omni 能直接听懂音频，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实听实答。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67266" y="27060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评审期主力 · 统一昇腾环境复现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763000" y="2428875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8763000" y="3524250"/>
            <a:ext cx="3048000" cy="1238250"/>
            <a:chOff x="8763000" y="3524250"/>
            <a:chExt cx="3048000" cy="1238250"/>
          </a:xfrm>
        </p:grpSpPr>
        <p:sp>
          <p:nvSpPr>
            <p:cNvPr id="72" name="Rectangle 72"/>
            <p:cNvSpPr/>
            <p:nvPr/>
          </p:nvSpPr>
          <p:spPr>
            <a:xfrm>
              <a:off x="9144000" y="3524250"/>
              <a:ext cx="2667000" cy="1238250"/>
            </a:xfrm>
            <a:prstGeom prst="roundRect">
              <a:avLst>
                <a:gd name="adj" fmla="val 2308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398000" y="3793363"/>
              <a:ext cx="253999" cy="169087"/>
            </a:xfrm>
            <a:custGeom>
              <a:avLst/>
              <a:gdLst/>
              <a:ahLst/>
              <a:cxnLst/>
              <a:rect l="l" t="t" r="r" b="b"/>
              <a:pathLst>
                <a:path w="253999" h="169087">
                  <a:moveTo>
                    <a:pt x="59144" y="169037"/>
                  </a:moveTo>
                  <a:cubicBezTo>
                    <a:pt x="26479" y="169037"/>
                    <a:pt x="0" y="143548"/>
                    <a:pt x="0" y="112103"/>
                  </a:cubicBezTo>
                  <a:cubicBezTo>
                    <a:pt x="0" y="80670"/>
                    <a:pt x="26479" y="55181"/>
                    <a:pt x="59144" y="55181"/>
                  </a:cubicBezTo>
                  <a:cubicBezTo>
                    <a:pt x="64135" y="32804"/>
                    <a:pt x="81927" y="14541"/>
                    <a:pt x="105816" y="7264"/>
                  </a:cubicBezTo>
                  <a:cubicBezTo>
                    <a:pt x="129692" y="0"/>
                    <a:pt x="156057" y="4813"/>
                    <a:pt x="174955" y="19964"/>
                  </a:cubicBezTo>
                  <a:cubicBezTo>
                    <a:pt x="193852" y="35077"/>
                    <a:pt x="202412" y="58153"/>
                    <a:pt x="197434" y="80530"/>
                  </a:cubicBezTo>
                  <a:lnTo>
                    <a:pt x="210007" y="80530"/>
                  </a:lnTo>
                  <a:cubicBezTo>
                    <a:pt x="234302" y="80530"/>
                    <a:pt x="253999" y="100342"/>
                    <a:pt x="253999" y="124803"/>
                  </a:cubicBezTo>
                  <a:cubicBezTo>
                    <a:pt x="253999" y="149275"/>
                    <a:pt x="234302" y="169087"/>
                    <a:pt x="209994" y="169087"/>
                  </a:cubicBezTo>
                  <a:lnTo>
                    <a:pt x="59144" y="16908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822942" y="3816668"/>
              <a:ext cx="140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ModelBest 云端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367266" y="4191952"/>
              <a:ext cx="198424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turn-based 音频先转写再理解，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开发期兜底 · 免费 API。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763000" y="4143375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5143500" y="4191000"/>
            <a:ext cx="3810000" cy="1143000"/>
            <a:chOff x="5143500" y="4191000"/>
            <a:chExt cx="3810000" cy="1143000"/>
          </a:xfrm>
        </p:grpSpPr>
        <p:sp>
          <p:nvSpPr>
            <p:cNvPr id="78" name="Rectangle 78"/>
            <p:cNvSpPr/>
            <p:nvPr/>
          </p:nvSpPr>
          <p:spPr>
            <a:xfrm>
              <a:off x="5143500" y="4191000"/>
              <a:ext cx="3810000" cy="1143000"/>
            </a:xfrm>
            <a:prstGeom prst="roundRect">
              <a:avLst>
                <a:gd name="adj" fmla="val 3333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5424488" y="444500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785104" y="44805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实测记录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385816" y="4801552"/>
              <a:ext cx="1890903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语音理解约 8 秒；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云端音频自动“先转写再理解”。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385816" y="503015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详见 P26 工程验证。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4" name="TextBox 8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协作闭环：从计划到执行再到触达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809750"/>
            <a:ext cx="1905000" cy="1047750"/>
            <a:chOff x="381000" y="1809750"/>
            <a:chExt cx="1905000" cy="1047750"/>
          </a:xfrm>
        </p:grpSpPr>
        <p:sp>
          <p:nvSpPr>
            <p:cNvPr id="7" name="Rectangle 7"/>
            <p:cNvSpPr/>
            <p:nvPr/>
          </p:nvSpPr>
          <p:spPr>
            <a:xfrm>
              <a:off x="3810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31031" y="1997869"/>
              <a:ext cx="166688" cy="214312"/>
              <a:chOff x="631031" y="1997869"/>
              <a:chExt cx="166688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31031" y="202168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78656" y="199786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78656" y="210502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456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3822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· 排期 · 分工 · 报告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166" y="2591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确认后进入执行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86000" y="2428875"/>
            <a:ext cx="304800" cy="1"/>
            <a:chOff x="2286000" y="2428875"/>
            <a:chExt cx="304800" cy="1"/>
          </a:xfrm>
        </p:grpSpPr>
        <p:sp>
          <p:nvSpPr>
            <p:cNvPr id="16" name="Line 16"/>
            <p:cNvSpPr/>
            <p:nvPr/>
          </p:nvSpPr>
          <p:spPr>
            <a:xfrm>
              <a:off x="2286000" y="242887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2590800" y="1809750"/>
            <a:ext cx="1905000" cy="1047750"/>
            <a:chOff x="2590800" y="1809750"/>
            <a:chExt cx="1905000" cy="1047750"/>
          </a:xfrm>
        </p:grpSpPr>
        <p:sp>
          <p:nvSpPr>
            <p:cNvPr id="18" name="Rectangle 18"/>
            <p:cNvSpPr/>
            <p:nvPr/>
          </p:nvSpPr>
          <p:spPr>
            <a:xfrm>
              <a:off x="25908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817019" y="1997869"/>
              <a:ext cx="214312" cy="214313"/>
              <a:chOff x="2817019" y="1997869"/>
              <a:chExt cx="214312" cy="2143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840831" y="1997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817019" y="21407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71800" y="199941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995612" y="214253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1554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75966" y="23822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按分工推进任务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75966" y="2591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状态随时更新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00" y="2428875"/>
            <a:ext cx="304800" cy="1"/>
            <a:chOff x="4495800" y="2428875"/>
            <a:chExt cx="304800" cy="1"/>
          </a:xfrm>
        </p:grpSpPr>
        <p:sp>
          <p:nvSpPr>
            <p:cNvPr id="28" name="Line 28"/>
            <p:cNvSpPr/>
            <p:nvPr/>
          </p:nvSpPr>
          <p:spPr>
            <a:xfrm>
              <a:off x="4495800" y="242887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800600" y="1809750"/>
            <a:ext cx="1905000" cy="1047750"/>
            <a:chOff x="4800600" y="1809750"/>
            <a:chExt cx="1905000" cy="1047750"/>
          </a:xfrm>
        </p:grpSpPr>
        <p:sp>
          <p:nvSpPr>
            <p:cNvPr id="30" name="Rectangle 30"/>
            <p:cNvSpPr/>
            <p:nvPr/>
          </p:nvSpPr>
          <p:spPr>
            <a:xfrm>
              <a:off x="48006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032772" y="2015728"/>
              <a:ext cx="196453" cy="172641"/>
              <a:chOff x="5032772" y="2015728"/>
              <a:chExt cx="196453" cy="17264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032772" y="2015728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032772" y="2087166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032772" y="2158603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122069" y="203358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122069" y="210502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122069" y="217646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3652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汇报反馈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85766" y="23822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 / 文本汇报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85766" y="2591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交付物直传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848350" y="2857500"/>
            <a:ext cx="1" cy="400050"/>
            <a:chOff x="5848350" y="2857500"/>
            <a:chExt cx="1" cy="400050"/>
          </a:xfrm>
        </p:grpSpPr>
        <p:sp>
          <p:nvSpPr>
            <p:cNvPr id="42" name="Line 42"/>
            <p:cNvSpPr/>
            <p:nvPr/>
          </p:nvSpPr>
          <p:spPr>
            <a:xfrm>
              <a:off x="5848350" y="2857500"/>
              <a:ext cx="1" cy="4000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4800600" y="3276600"/>
            <a:ext cx="1905000" cy="1047750"/>
            <a:chOff x="4800600" y="3276600"/>
            <a:chExt cx="1905000" cy="1047750"/>
          </a:xfrm>
        </p:grpSpPr>
        <p:sp>
          <p:nvSpPr>
            <p:cNvPr id="44" name="Rectangle 44"/>
            <p:cNvSpPr/>
            <p:nvPr/>
          </p:nvSpPr>
          <p:spPr>
            <a:xfrm>
              <a:off x="48006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050631" y="3464719"/>
              <a:ext cx="166688" cy="214312"/>
              <a:chOff x="5050631" y="3464719"/>
              <a:chExt cx="16668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050631" y="348853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098256" y="34647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098256" y="357187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365242" y="34928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85766" y="38490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确认完成，变更进入计划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14850" y="3895725"/>
            <a:ext cx="285750" cy="1"/>
            <a:chOff x="4514850" y="3895725"/>
            <a:chExt cx="285750" cy="1"/>
          </a:xfrm>
        </p:grpSpPr>
        <p:sp>
          <p:nvSpPr>
            <p:cNvPr id="52" name="Line 52"/>
            <p:cNvSpPr/>
            <p:nvPr/>
          </p:nvSpPr>
          <p:spPr>
            <a:xfrm flipH="1">
              <a:off x="4514850" y="3895725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2590800" y="3276600"/>
            <a:ext cx="1998383" cy="1047750"/>
            <a:chOff x="2590800" y="3276600"/>
            <a:chExt cx="1998383" cy="1047750"/>
          </a:xfrm>
        </p:grpSpPr>
        <p:sp>
          <p:nvSpPr>
            <p:cNvPr id="54" name="Rectangle 54"/>
            <p:cNvSpPr/>
            <p:nvPr/>
          </p:nvSpPr>
          <p:spPr>
            <a:xfrm>
              <a:off x="25908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2813198" y="3464719"/>
              <a:ext cx="218133" cy="218133"/>
              <a:chOff x="2813198" y="3464719"/>
              <a:chExt cx="218133" cy="21813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2900362" y="3464719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0" y="130969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813198" y="3464719"/>
                <a:ext cx="218133" cy="218133"/>
              </a:xfrm>
              <a:custGeom>
                <a:avLst/>
                <a:gdLst/>
                <a:ahLst/>
                <a:cxnLst/>
                <a:rect l="l" t="t" r="r" b="b"/>
                <a:pathLst>
                  <a:path w="218133" h="218133">
                    <a:moveTo>
                      <a:pt x="218133" y="0"/>
                    </a:moveTo>
                    <a:lnTo>
                      <a:pt x="140742" y="214312"/>
                    </a:lnTo>
                    <a:cubicBezTo>
                      <a:pt x="139675" y="216640"/>
                      <a:pt x="137350" y="218133"/>
                      <a:pt x="134789" y="218133"/>
                    </a:cubicBezTo>
                    <a:cubicBezTo>
                      <a:pt x="132228" y="218133"/>
                      <a:pt x="129903" y="216640"/>
                      <a:pt x="128836" y="214312"/>
                    </a:cubicBezTo>
                    <a:lnTo>
                      <a:pt x="87164" y="130969"/>
                    </a:lnTo>
                    <a:lnTo>
                      <a:pt x="3820" y="89297"/>
                    </a:lnTo>
                    <a:cubicBezTo>
                      <a:pt x="1493" y="88230"/>
                      <a:pt x="0" y="85904"/>
                      <a:pt x="0" y="83344"/>
                    </a:cubicBezTo>
                    <a:cubicBezTo>
                      <a:pt x="0" y="80783"/>
                      <a:pt x="1493" y="78457"/>
                      <a:pt x="3820" y="77391"/>
                    </a:cubicBezTo>
                    <a:lnTo>
                      <a:pt x="218133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1554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通知触达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775966" y="3849052"/>
              <a:ext cx="1813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企微 / 飞书 / 钉钉 Webhook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75966" y="4058602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今日播报（TTS）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305050" y="3895725"/>
            <a:ext cx="285750" cy="1"/>
            <a:chOff x="2305050" y="3895725"/>
            <a:chExt cx="285750" cy="1"/>
          </a:xfrm>
        </p:grpSpPr>
        <p:sp>
          <p:nvSpPr>
            <p:cNvPr id="62" name="Line 62"/>
            <p:cNvSpPr/>
            <p:nvPr/>
          </p:nvSpPr>
          <p:spPr>
            <a:xfrm flipH="1">
              <a:off x="2305050" y="3895725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381000" y="3276600"/>
            <a:ext cx="1905000" cy="1047750"/>
            <a:chOff x="381000" y="3276600"/>
            <a:chExt cx="1905000" cy="1047750"/>
          </a:xfrm>
        </p:grpSpPr>
        <p:sp>
          <p:nvSpPr>
            <p:cNvPr id="64" name="Rectangle 64"/>
            <p:cNvSpPr/>
            <p:nvPr/>
          </p:nvSpPr>
          <p:spPr>
            <a:xfrm>
              <a:off x="3810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19125" y="3472031"/>
              <a:ext cx="190500" cy="199688"/>
              <a:chOff x="619125" y="3472031"/>
              <a:chExt cx="190500" cy="19968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19125" y="347203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19125" y="358378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9456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66166" y="38490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 / 成员 / 工时变化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6166" y="40586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自动重排，计划保持最新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28750" y="2876550"/>
            <a:ext cx="1" cy="400050"/>
            <a:chOff x="1428750" y="2876550"/>
            <a:chExt cx="1" cy="400050"/>
          </a:xfrm>
        </p:grpSpPr>
        <p:sp>
          <p:nvSpPr>
            <p:cNvPr id="72" name="Line 72"/>
            <p:cNvSpPr/>
            <p:nvPr/>
          </p:nvSpPr>
          <p:spPr>
            <a:xfrm flipV="1">
              <a:off x="1428750" y="2876550"/>
              <a:ext cx="1" cy="4000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7239000" y="1905000"/>
            <a:ext cx="4381500" cy="1057656"/>
            <a:chOff x="7239000" y="1905000"/>
            <a:chExt cx="4381500" cy="1057656"/>
          </a:xfrm>
        </p:grpSpPr>
        <p:sp>
          <p:nvSpPr>
            <p:cNvPr id="74" name="Rectangle 74"/>
            <p:cNvSpPr/>
            <p:nvPr/>
          </p:nvSpPr>
          <p:spPr>
            <a:xfrm>
              <a:off x="7239000" y="1905000"/>
              <a:ext cx="4381500" cy="104775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98842" y="21402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计划随现实持续运转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99604" y="248031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每一次状态变更都回到“即时重算”，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99604" y="27279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计划永远不是一次生成、永久过时。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81000" y="4705350"/>
            <a:ext cx="2724150" cy="1428750"/>
            <a:chOff x="381000" y="4705350"/>
            <a:chExt cx="2724150" cy="1428750"/>
          </a:xfrm>
        </p:grpSpPr>
        <p:sp>
          <p:nvSpPr>
            <p:cNvPr id="79" name="Rectangle 79"/>
            <p:cNvSpPr/>
            <p:nvPr/>
          </p:nvSpPr>
          <p:spPr>
            <a:xfrm>
              <a:off x="38100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638173" y="4937658"/>
              <a:ext cx="196302" cy="202110"/>
              <a:chOff x="638173" y="4937658"/>
              <a:chExt cx="196302" cy="20211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697706" y="500300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1519" y="4937658"/>
                <a:ext cx="112956" cy="112974"/>
              </a:xfrm>
              <a:custGeom>
                <a:avLst/>
                <a:gdLst/>
                <a:ahLst/>
                <a:cxnLst/>
                <a:rect l="l" t="t" r="r" b="b"/>
                <a:pathLst>
                  <a:path w="112956" h="112974">
                    <a:moveTo>
                      <a:pt x="0" y="29630"/>
                    </a:moveTo>
                    <a:lnTo>
                      <a:pt x="5513" y="23248"/>
                    </a:lnTo>
                    <a:cubicBezTo>
                      <a:pt x="28764" y="0"/>
                      <a:pt x="66459" y="3"/>
                      <a:pt x="89708" y="23254"/>
                    </a:cubicBezTo>
                    <a:cubicBezTo>
                      <a:pt x="112956" y="46506"/>
                      <a:pt x="112953" y="84201"/>
                      <a:pt x="89702" y="107449"/>
                    </a:cubicBezTo>
                    <a:lnTo>
                      <a:pt x="83344" y="112974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38173" y="5026819"/>
                <a:ext cx="107158" cy="112949"/>
              </a:xfrm>
              <a:custGeom>
                <a:avLst/>
                <a:gdLst/>
                <a:ahLst/>
                <a:cxnLst/>
                <a:rect l="l" t="t" r="r" b="b"/>
                <a:pathLst>
                  <a:path w="107158" h="112949">
                    <a:moveTo>
                      <a:pt x="107158" y="83344"/>
                    </a:moveTo>
                    <a:lnTo>
                      <a:pt x="102431" y="89702"/>
                    </a:lnTo>
                    <a:cubicBezTo>
                      <a:pt x="78922" y="112949"/>
                      <a:pt x="41084" y="112949"/>
                      <a:pt x="17575" y="89702"/>
                    </a:cubicBezTo>
                    <a:cubicBezTo>
                      <a:pt x="6329" y="78581"/>
                      <a:pt x="0" y="63423"/>
                      <a:pt x="0" y="47607"/>
                    </a:cubicBezTo>
                    <a:cubicBezTo>
                      <a:pt x="0" y="31791"/>
                      <a:pt x="6329" y="16633"/>
                      <a:pt x="17575" y="5513"/>
                    </a:cubicBezTo>
                    <a:lnTo>
                      <a:pt x="23814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983742" y="4959668"/>
              <a:ext cx="1168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免登录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85216" y="53730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成员只看自己的任务，手机即用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295650" y="4705350"/>
            <a:ext cx="2724150" cy="1428750"/>
            <a:chOff x="3295650" y="4705350"/>
            <a:chExt cx="2724150" cy="1428750"/>
          </a:xfrm>
        </p:grpSpPr>
        <p:sp>
          <p:nvSpPr>
            <p:cNvPr id="87" name="Rectangle 87"/>
            <p:cNvSpPr/>
            <p:nvPr/>
          </p:nvSpPr>
          <p:spPr>
            <a:xfrm>
              <a:off x="329565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3552825" y="4943475"/>
              <a:ext cx="190500" cy="190500"/>
              <a:chOff x="3552825" y="4943475"/>
              <a:chExt cx="190500" cy="1905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3552825" y="50506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3683794" y="50506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3552825" y="4943475"/>
                <a:ext cx="19050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0969">
                    <a:moveTo>
                      <a:pt x="0" y="130969"/>
                    </a:move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ubicBezTo>
                      <a:pt x="147855" y="0"/>
                      <a:pt x="190500" y="42645"/>
                      <a:pt x="190500" y="95250"/>
                    </a:cubicBezTo>
                    <a:lnTo>
                      <a:pt x="190500" y="13096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3898392" y="495966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499866" y="53730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语音上报状态与工时，拍照交付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210300" y="4705350"/>
            <a:ext cx="2724150" cy="1428750"/>
            <a:chOff x="6210300" y="4705350"/>
            <a:chExt cx="2724150" cy="1428750"/>
          </a:xfrm>
        </p:grpSpPr>
        <p:sp>
          <p:nvSpPr>
            <p:cNvPr id="95" name="Rectangle 95"/>
            <p:cNvSpPr/>
            <p:nvPr/>
          </p:nvSpPr>
          <p:spPr>
            <a:xfrm>
              <a:off x="621030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467021" y="4943009"/>
              <a:ext cx="202861" cy="191432"/>
              <a:chOff x="6467021" y="4943009"/>
              <a:chExt cx="202861" cy="191432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467021" y="4943009"/>
                <a:ext cx="202860" cy="191432"/>
              </a:xfrm>
              <a:custGeom>
                <a:avLst/>
                <a:gdLst/>
                <a:ahLst/>
                <a:cxnLst/>
                <a:rect l="l" t="t" r="r" b="b"/>
                <a:pathLst>
                  <a:path w="202860" h="191432">
                    <a:moveTo>
                      <a:pt x="8764" y="871"/>
                    </a:moveTo>
                    <a:lnTo>
                      <a:pt x="202860" y="95716"/>
                    </a:lnTo>
                    <a:lnTo>
                      <a:pt x="8764" y="190561"/>
                    </a:lnTo>
                    <a:cubicBezTo>
                      <a:pt x="6498" y="191432"/>
                      <a:pt x="3931" y="190849"/>
                      <a:pt x="2263" y="189085"/>
                    </a:cubicBezTo>
                    <a:cubicBezTo>
                      <a:pt x="552" y="187279"/>
                      <a:pt x="0" y="184666"/>
                      <a:pt x="835" y="182322"/>
                    </a:cubicBezTo>
                    <a:lnTo>
                      <a:pt x="30219" y="95716"/>
                    </a:lnTo>
                    <a:lnTo>
                      <a:pt x="835" y="9110"/>
                    </a:lnTo>
                    <a:cubicBezTo>
                      <a:pt x="0" y="6767"/>
                      <a:pt x="552" y="4153"/>
                      <a:pt x="2263" y="2347"/>
                    </a:cubicBezTo>
                    <a:cubicBezTo>
                      <a:pt x="3931" y="583"/>
                      <a:pt x="6498" y="0"/>
                      <a:pt x="8764" y="871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497241" y="5038725"/>
                <a:ext cx="17264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2641" h="9525">
                    <a:moveTo>
                      <a:pt x="0" y="0"/>
                    </a:moveTo>
                    <a:lnTo>
                      <a:pt x="172641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6813042" y="4959668"/>
              <a:ext cx="1427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Webhook 群通知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414516" y="53730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状态变更自动推送到工作群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124950" y="4705350"/>
            <a:ext cx="2686050" cy="1428750"/>
            <a:chOff x="9124950" y="4705350"/>
            <a:chExt cx="2686050" cy="1428750"/>
          </a:xfrm>
        </p:grpSpPr>
        <p:sp>
          <p:nvSpPr>
            <p:cNvPr id="102" name="Rectangle 102"/>
            <p:cNvSpPr/>
            <p:nvPr/>
          </p:nvSpPr>
          <p:spPr>
            <a:xfrm>
              <a:off x="9124950" y="4705350"/>
              <a:ext cx="26860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9370219" y="4931569"/>
              <a:ext cx="226219" cy="226219"/>
              <a:chOff x="9370219" y="4931569"/>
              <a:chExt cx="226219" cy="226219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9370219" y="4955381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04715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66688" y="0"/>
                    </a:lnTo>
                    <a:cubicBezTo>
                      <a:pt x="179839" y="0"/>
                      <a:pt x="190500" y="10661"/>
                      <a:pt x="190500" y="23812"/>
                    </a:cubicBezTo>
                    <a:lnTo>
                      <a:pt x="190500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9548812" y="5062538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7625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9501188" y="5062538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9513094" y="49315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9417844" y="49315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9370219" y="5026819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9727692" y="4959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今日播报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329166" y="5373052"/>
              <a:ext cx="184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朗读今日待办要点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113" name="TextBox 11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6071711" cy="1015365"/>
            <a:chOff x="747522" y="1851660"/>
            <a:chExt cx="607171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1647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03 / 核心功能详解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60717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五大能力模块，围绕计划引擎展开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00278" y="3609975"/>
            <a:ext cx="6109538" cy="2007870"/>
            <a:chOff x="800278" y="3609975"/>
            <a:chExt cx="6109538" cy="2007870"/>
          </a:xfrm>
        </p:grpSpPr>
        <p:grpSp>
          <p:nvGrpSpPr>
            <p:cNvPr id="9" name="Group 9"/>
            <p:cNvGrpSpPr/>
            <p:nvPr/>
          </p:nvGrpSpPr>
          <p:grpSpPr>
            <a:xfrm>
              <a:off x="819150" y="3609975"/>
              <a:ext cx="228600" cy="171450"/>
              <a:chOff x="819150" y="3609975"/>
              <a:chExt cx="22860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19150" y="36099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114300" y="114300"/>
                    </a:lnTo>
                    <a:lnTo>
                      <a:pt x="2286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19150" y="37242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114300" y="57150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25880" y="3609975"/>
              <a:ext cx="3567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功能总览矩阵：五大模块全景（P12）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33438" y="4138612"/>
              <a:ext cx="200025" cy="257176"/>
              <a:chOff x="833438" y="4138612"/>
              <a:chExt cx="200025" cy="2571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3438" y="416718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0588" y="41386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90588" y="426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47738" y="42672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0588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47738" y="43243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25880" y="4181475"/>
              <a:ext cx="4773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计划引擎：拆解 / 工时 / 匹配 / 均衡（P13–P14）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19150" y="4718887"/>
              <a:ext cx="228600" cy="239626"/>
              <a:chOff x="819150" y="4718887"/>
              <a:chExt cx="228600" cy="2396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19150" y="4718887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9150" y="4852988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325880" y="4752975"/>
              <a:ext cx="5583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动态协作与版本管理：可编辑 · 拖拽 · 重算 · 回滚（P15）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00278" y="5281612"/>
              <a:ext cx="261759" cy="261759"/>
              <a:chOff x="800278" y="5281612"/>
              <a:chExt cx="261759" cy="26175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04875" y="528161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00278" y="528161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325880" y="5324475"/>
              <a:ext cx="5452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成员汇报与群通知：免登录 · 语音/照片 · Webhook（P16）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P11–P17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11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功能总览：五大能力模块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381000" y="1562100"/>
            <a:ext cx="5619750" cy="1504950"/>
            <a:chOff x="381000" y="1562100"/>
            <a:chExt cx="5619750" cy="150495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5619750" cy="1504950"/>
            </a:xfrm>
            <a:prstGeom prst="roundRect">
              <a:avLst>
                <a:gd name="adj" fmla="val 253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82625" y="1825625"/>
              <a:ext cx="215901" cy="215901"/>
              <a:chOff x="682625" y="1825625"/>
              <a:chExt cx="215901" cy="2159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82625" y="18796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09613" y="18256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9613" y="19335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63588" y="19605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0575" y="18256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0575" y="20145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4551" y="18391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18256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1538" y="18930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97280" y="18383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 · 核心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2935" y="2240756"/>
              <a:ext cx="4769358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把项目要求拆成有依赖关系的子任务，估算工时，按技能匹配出三层角色，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CPM 算法排出关键路径并生成风险报告；支持小型与大型两种项目模式。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1000" y="3219450"/>
            <a:ext cx="6369685" cy="1504950"/>
            <a:chOff x="381000" y="3219450"/>
            <a:chExt cx="6369685" cy="1504950"/>
          </a:xfrm>
        </p:grpSpPr>
        <p:sp>
          <p:nvSpPr>
            <p:cNvPr id="21" name="Rectangle 21"/>
            <p:cNvSpPr/>
            <p:nvPr/>
          </p:nvSpPr>
          <p:spPr>
            <a:xfrm>
              <a:off x="381000" y="3219450"/>
              <a:ext cx="5619750" cy="1504950"/>
            </a:xfrm>
            <a:prstGeom prst="roundRect">
              <a:avLst>
                <a:gd name="adj" fmla="val 253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2625" y="3477769"/>
              <a:ext cx="215901" cy="226313"/>
              <a:chOff x="682625" y="3477769"/>
              <a:chExt cx="215901" cy="22631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2625" y="3477769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215901" y="99663"/>
                    </a:moveTo>
                    <a:cubicBezTo>
                      <a:pt x="209117" y="50849"/>
                      <a:pt x="170506" y="12613"/>
                      <a:pt x="121629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2625" y="3604419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4" y="26988"/>
                    </a:cubicBezTo>
                    <a:moveTo>
                      <a:pt x="215901" y="80963"/>
                    </a:moveTo>
                    <a:lnTo>
                      <a:pt x="215901" y="26988"/>
                    </a:lnTo>
                    <a:lnTo>
                      <a:pt x="161925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97280" y="34956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2935" y="3898106"/>
              <a:ext cx="612775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草案可以增删改、拆分合并；分工可以拖拽；成员变动、状态切换、工时变化都会触发即时重算。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每次保存都生成版本快照，可以对比、可以回滚。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1000" y="4876800"/>
            <a:ext cx="5619750" cy="1504950"/>
            <a:chOff x="381000" y="4876800"/>
            <a:chExt cx="5619750" cy="1504950"/>
          </a:xfrm>
        </p:grpSpPr>
        <p:sp>
          <p:nvSpPr>
            <p:cNvPr id="28" name="Rectangle 28"/>
            <p:cNvSpPr/>
            <p:nvPr/>
          </p:nvSpPr>
          <p:spPr>
            <a:xfrm>
              <a:off x="381000" y="4876800"/>
              <a:ext cx="5619750" cy="1504950"/>
            </a:xfrm>
            <a:prstGeom prst="roundRect">
              <a:avLst>
                <a:gd name="adj" fmla="val 2532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69131" y="5140325"/>
              <a:ext cx="229394" cy="215901"/>
            </a:xfrm>
            <a:custGeom>
              <a:avLst/>
              <a:gdLst/>
              <a:ahLst/>
              <a:cxnLst/>
              <a:rect l="l" t="t" r="r" b="b"/>
              <a:pathLst>
                <a:path w="229394" h="215901">
                  <a:moveTo>
                    <a:pt x="175419" y="188913"/>
                  </a:moveTo>
                  <a:cubicBezTo>
                    <a:pt x="190324" y="188913"/>
                    <a:pt x="202407" y="200996"/>
                    <a:pt x="202407" y="215901"/>
                  </a:cubicBezTo>
                  <a:cubicBezTo>
                    <a:pt x="202407" y="200996"/>
                    <a:pt x="214489" y="188913"/>
                    <a:pt x="229394" y="188913"/>
                  </a:cubicBezTo>
                  <a:cubicBezTo>
                    <a:pt x="214489" y="188913"/>
                    <a:pt x="202407" y="176830"/>
                    <a:pt x="202407" y="161925"/>
                  </a:cubicBezTo>
                  <a:cubicBezTo>
                    <a:pt x="202407" y="176830"/>
                    <a:pt x="190324" y="188913"/>
                    <a:pt x="175419" y="188913"/>
                  </a:cubicBezTo>
                  <a:moveTo>
                    <a:pt x="175419" y="26988"/>
                  </a:moveTo>
                  <a:cubicBezTo>
                    <a:pt x="190324" y="26988"/>
                    <a:pt x="202407" y="39070"/>
                    <a:pt x="202407" y="53975"/>
                  </a:cubicBezTo>
                  <a:cubicBezTo>
                    <a:pt x="202407" y="39070"/>
                    <a:pt x="214489" y="26988"/>
                    <a:pt x="229394" y="26988"/>
                  </a:cubicBezTo>
                  <a:cubicBezTo>
                    <a:pt x="214489" y="26988"/>
                    <a:pt x="202407" y="14905"/>
                    <a:pt x="202407" y="0"/>
                  </a:cubicBezTo>
                  <a:cubicBezTo>
                    <a:pt x="202407" y="14905"/>
                    <a:pt x="190324" y="26988"/>
                    <a:pt x="175419" y="26988"/>
                  </a:cubicBezTo>
                  <a:moveTo>
                    <a:pt x="80963" y="188913"/>
                  </a:moveTo>
                  <a:cubicBezTo>
                    <a:pt x="80963" y="144198"/>
                    <a:pt x="117211" y="107950"/>
                    <a:pt x="161925" y="107950"/>
                  </a:cubicBezTo>
                  <a:cubicBezTo>
                    <a:pt x="117211" y="107950"/>
                    <a:pt x="80963" y="71702"/>
                    <a:pt x="80963" y="26988"/>
                  </a:cubicBezTo>
                  <a:cubicBezTo>
                    <a:pt x="80963" y="71702"/>
                    <a:pt x="44714" y="107950"/>
                    <a:pt x="0" y="107950"/>
                  </a:cubicBezTo>
                  <a:cubicBezTo>
                    <a:pt x="44714" y="107950"/>
                    <a:pt x="80963" y="144198"/>
                    <a:pt x="80963" y="188913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7280" y="51530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35" y="5555456"/>
              <a:ext cx="456311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打字、说话、拍照、传录像、听播报，五种模态都接到真实协作动作上，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由统一适配层接入 MiniCPM-o，每种输入都能变成计划的一部分。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91250" y="1562100"/>
            <a:ext cx="5619750" cy="1504950"/>
            <a:chOff x="6191250" y="1562100"/>
            <a:chExt cx="5619750" cy="15049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562100"/>
              <a:ext cx="5619750" cy="1504950"/>
            </a:xfrm>
            <a:prstGeom prst="roundRect">
              <a:avLst>
                <a:gd name="adj" fmla="val 253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75052" y="1812131"/>
              <a:ext cx="247218" cy="247218"/>
              <a:chOff x="6475052" y="1812131"/>
              <a:chExt cx="247218" cy="24721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73838" y="1812131"/>
                <a:ext cx="148432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148432">
                    <a:moveTo>
                      <a:pt x="0" y="148432"/>
                    </a:moveTo>
                    <a:lnTo>
                      <a:pt x="148432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75052" y="1812131"/>
                <a:ext cx="247218" cy="247218"/>
              </a:xfrm>
              <a:custGeom>
                <a:avLst/>
                <a:gdLst/>
                <a:ahLst/>
                <a:cxnLst/>
                <a:rect l="l" t="t" r="r" b="b"/>
                <a:pathLst>
                  <a:path w="247218" h="247218">
                    <a:moveTo>
                      <a:pt x="247218" y="0"/>
                    </a:moveTo>
                    <a:lnTo>
                      <a:pt x="159508" y="242888"/>
                    </a:lnTo>
                    <a:cubicBezTo>
                      <a:pt x="158299" y="245526"/>
                      <a:pt x="155663" y="247218"/>
                      <a:pt x="152761" y="247218"/>
                    </a:cubicBezTo>
                    <a:cubicBezTo>
                      <a:pt x="149859" y="247218"/>
                      <a:pt x="147223" y="245526"/>
                      <a:pt x="146014" y="242888"/>
                    </a:cubicBezTo>
                    <a:lnTo>
                      <a:pt x="98786" y="148432"/>
                    </a:lnTo>
                    <a:lnTo>
                      <a:pt x="4330" y="101203"/>
                    </a:lnTo>
                    <a:cubicBezTo>
                      <a:pt x="1692" y="99994"/>
                      <a:pt x="0" y="97359"/>
                      <a:pt x="0" y="94456"/>
                    </a:cubicBezTo>
                    <a:cubicBezTo>
                      <a:pt x="0" y="91554"/>
                      <a:pt x="1692" y="88919"/>
                      <a:pt x="4330" y="87710"/>
                    </a:cubicBezTo>
                    <a:lnTo>
                      <a:pt x="24721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07530" y="1838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汇报与通知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3185" y="2240756"/>
              <a:ext cx="4328414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成员用 token 链接免登录汇报，语音或照片都能交；负责人确认后，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变更自动推送到企业微信、飞书或钉钉工作群，还有今日播报。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91250" y="3219450"/>
            <a:ext cx="5619750" cy="1504950"/>
            <a:chOff x="6191250" y="3219450"/>
            <a:chExt cx="5619750" cy="1504950"/>
          </a:xfrm>
        </p:grpSpPr>
        <p:sp>
          <p:nvSpPr>
            <p:cNvPr id="40" name="Rectangle 40"/>
            <p:cNvSpPr/>
            <p:nvPr/>
          </p:nvSpPr>
          <p:spPr>
            <a:xfrm>
              <a:off x="6191250" y="3219450"/>
              <a:ext cx="5619750" cy="1504950"/>
            </a:xfrm>
            <a:prstGeom prst="roundRect">
              <a:avLst>
                <a:gd name="adj" fmla="val 253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73458" y="3463558"/>
              <a:ext cx="254736" cy="254736"/>
              <a:chOff x="6473458" y="3463558"/>
              <a:chExt cx="254736" cy="25473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73458" y="3463558"/>
                <a:ext cx="254736" cy="254736"/>
              </a:xfrm>
              <a:custGeom>
                <a:avLst/>
                <a:gdLst/>
                <a:ahLst/>
                <a:cxnLst/>
                <a:rect l="l" t="t" r="r" b="b"/>
                <a:pathLst>
                  <a:path w="254736" h="254736">
                    <a:moveTo>
                      <a:pt x="104766" y="23695"/>
                    </a:moveTo>
                    <a:cubicBezTo>
                      <a:pt x="110514" y="0"/>
                      <a:pt x="144222" y="0"/>
                      <a:pt x="149970" y="23695"/>
                    </a:cubicBezTo>
                    <a:cubicBezTo>
                      <a:pt x="151719" y="30915"/>
                      <a:pt x="156812" y="36865"/>
                      <a:pt x="163675" y="39709"/>
                    </a:cubicBezTo>
                    <a:cubicBezTo>
                      <a:pt x="170538" y="42552"/>
                      <a:pt x="178347" y="41947"/>
                      <a:pt x="184689" y="38079"/>
                    </a:cubicBezTo>
                    <a:cubicBezTo>
                      <a:pt x="205510" y="25395"/>
                      <a:pt x="229354" y="49225"/>
                      <a:pt x="216670" y="70060"/>
                    </a:cubicBezTo>
                    <a:cubicBezTo>
                      <a:pt x="212808" y="76400"/>
                      <a:pt x="212204" y="84202"/>
                      <a:pt x="215044" y="91061"/>
                    </a:cubicBezTo>
                    <a:cubicBezTo>
                      <a:pt x="217884" y="97920"/>
                      <a:pt x="223827" y="103012"/>
                      <a:pt x="231041" y="104766"/>
                    </a:cubicBezTo>
                    <a:cubicBezTo>
                      <a:pt x="254736" y="110514"/>
                      <a:pt x="254736" y="144222"/>
                      <a:pt x="231041" y="149970"/>
                    </a:cubicBezTo>
                    <a:cubicBezTo>
                      <a:pt x="223821" y="151719"/>
                      <a:pt x="217870" y="156812"/>
                      <a:pt x="215027" y="163675"/>
                    </a:cubicBezTo>
                    <a:cubicBezTo>
                      <a:pt x="212183" y="170538"/>
                      <a:pt x="212789" y="178347"/>
                      <a:pt x="216656" y="184689"/>
                    </a:cubicBezTo>
                    <a:cubicBezTo>
                      <a:pt x="229340" y="205510"/>
                      <a:pt x="205510" y="229354"/>
                      <a:pt x="184676" y="216670"/>
                    </a:cubicBezTo>
                    <a:cubicBezTo>
                      <a:pt x="178336" y="212808"/>
                      <a:pt x="170533" y="212204"/>
                      <a:pt x="163674" y="215044"/>
                    </a:cubicBezTo>
                    <a:cubicBezTo>
                      <a:pt x="156816" y="217884"/>
                      <a:pt x="151724" y="223827"/>
                      <a:pt x="149970" y="231041"/>
                    </a:cubicBezTo>
                    <a:cubicBezTo>
                      <a:pt x="144222" y="254736"/>
                      <a:pt x="110514" y="254736"/>
                      <a:pt x="104766" y="231041"/>
                    </a:cubicBezTo>
                    <a:cubicBezTo>
                      <a:pt x="103016" y="223821"/>
                      <a:pt x="97924" y="217870"/>
                      <a:pt x="91061" y="215027"/>
                    </a:cubicBezTo>
                    <a:cubicBezTo>
                      <a:pt x="84198" y="212183"/>
                      <a:pt x="76389" y="212789"/>
                      <a:pt x="70046" y="216656"/>
                    </a:cubicBezTo>
                    <a:cubicBezTo>
                      <a:pt x="49225" y="229340"/>
                      <a:pt x="25382" y="205510"/>
                      <a:pt x="38066" y="184676"/>
                    </a:cubicBezTo>
                    <a:cubicBezTo>
                      <a:pt x="41928" y="178336"/>
                      <a:pt x="42532" y="170533"/>
                      <a:pt x="39692" y="163674"/>
                    </a:cubicBezTo>
                    <a:cubicBezTo>
                      <a:pt x="36852" y="156816"/>
                      <a:pt x="30908" y="151724"/>
                      <a:pt x="23695" y="149970"/>
                    </a:cubicBezTo>
                    <a:cubicBezTo>
                      <a:pt x="0" y="144222"/>
                      <a:pt x="0" y="110514"/>
                      <a:pt x="23695" y="104766"/>
                    </a:cubicBezTo>
                    <a:cubicBezTo>
                      <a:pt x="30915" y="103016"/>
                      <a:pt x="36865" y="97924"/>
                      <a:pt x="39709" y="91061"/>
                    </a:cubicBezTo>
                    <a:cubicBezTo>
                      <a:pt x="42552" y="84198"/>
                      <a:pt x="41947" y="76389"/>
                      <a:pt x="38079" y="70046"/>
                    </a:cubicBezTo>
                    <a:cubicBezTo>
                      <a:pt x="25395" y="49225"/>
                      <a:pt x="49225" y="25382"/>
                      <a:pt x="70060" y="38066"/>
                    </a:cubicBezTo>
                    <a:cubicBezTo>
                      <a:pt x="83553" y="46270"/>
                      <a:pt x="101041" y="39011"/>
                      <a:pt x="104766" y="2369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60344" y="355044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07530" y="34956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工程能力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3185" y="3898106"/>
              <a:ext cx="5160518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方案可导出为 Word、PDF、Excel、CSV、ICS 等格式；知识库问答复用历史经验；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多用户鉴权、操作审计与版本回滚保证安全；监控与演示前预检保证可运行。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91250" y="4876800"/>
            <a:ext cx="5619750" cy="1504950"/>
            <a:chOff x="6191250" y="4876800"/>
            <a:chExt cx="5619750" cy="1504950"/>
          </a:xfrm>
        </p:grpSpPr>
        <p:sp>
          <p:nvSpPr>
            <p:cNvPr id="47" name="Rectangle 47"/>
            <p:cNvSpPr/>
            <p:nvPr/>
          </p:nvSpPr>
          <p:spPr>
            <a:xfrm>
              <a:off x="6191250" y="4876800"/>
              <a:ext cx="5619750" cy="1504950"/>
            </a:xfrm>
            <a:prstGeom prst="roundRect">
              <a:avLst>
                <a:gd name="adj" fmla="val 253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31280" y="503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模块关系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33185" y="5460206"/>
              <a:ext cx="427863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计划引擎是核心，动态协作保证计划实时更新；全模态交互是入口，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汇报与通知是闭环出口，工程能力保障可运行、可复现、可审计。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1" name="TextBox 51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3055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计划引擎：拆解 · 工时 · 匹配 · 均衡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81000" y="1581150"/>
            <a:ext cx="5619750" cy="2381250"/>
            <a:chOff x="381000" y="1581150"/>
            <a:chExt cx="561975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58115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5811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96119" y="1869281"/>
              <a:ext cx="188913" cy="242889"/>
              <a:chOff x="696119" y="1869281"/>
              <a:chExt cx="188913" cy="24288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96119" y="189626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50094" y="186928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50094" y="1990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04069" y="19907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50094" y="2044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4069" y="2044701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96518" y="18792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2935" y="2336006"/>
              <a:ext cx="44208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系统先判断项目规模：小型项目直接拆解分工；大型项目先拆大模块，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由骨干认领，再逐层拆到子任务，最后开放志愿者招募与认领。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2935" y="3174206"/>
              <a:ext cx="3915918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拆解由 LLM 结合知识库的工时案例生成一到八项弹性子任务，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失败时自动切换到确定性拆解规则，保证主链路不断。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91250" y="1581150"/>
            <a:ext cx="5619750" cy="2381250"/>
            <a:chOff x="6191250" y="1581150"/>
            <a:chExt cx="5619750" cy="2381250"/>
          </a:xfrm>
        </p:grpSpPr>
        <p:sp>
          <p:nvSpPr>
            <p:cNvPr id="20" name="Rectangle 20"/>
            <p:cNvSpPr/>
            <p:nvPr/>
          </p:nvSpPr>
          <p:spPr>
            <a:xfrm>
              <a:off x="6191250" y="158115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91250" y="15811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479381" y="1869281"/>
              <a:ext cx="242888" cy="242888"/>
              <a:chOff x="6479381" y="1869281"/>
              <a:chExt cx="242888" cy="24288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479381" y="18692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00825" y="192325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906768" y="18792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工时估算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3185" y="2336006"/>
              <a:ext cx="314071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每一项任务都从结构化工时案例库检索参考工时，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再结合团队成员的实际可用情况校准。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3185" y="3174206"/>
              <a:ext cx="3012694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任务完成后的实际偏差会反馈回知识库，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同类任务下次估算得更准——系统会越用越好用。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4152900"/>
            <a:ext cx="5619750" cy="2286000"/>
            <a:chOff x="381000" y="4152900"/>
            <a:chExt cx="5619750" cy="2286000"/>
          </a:xfrm>
        </p:grpSpPr>
        <p:sp>
          <p:nvSpPr>
            <p:cNvPr id="29" name="Rectangle 29"/>
            <p:cNvSpPr/>
            <p:nvPr/>
          </p:nvSpPr>
          <p:spPr>
            <a:xfrm>
              <a:off x="381000" y="4152900"/>
              <a:ext cx="5619750" cy="2286000"/>
            </a:xfrm>
            <a:prstGeom prst="roundRect">
              <a:avLst>
                <a:gd name="adj" fmla="val 1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1000" y="41529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9131" y="4441031"/>
              <a:ext cx="242888" cy="242888"/>
              <a:chOff x="669131" y="4441031"/>
              <a:chExt cx="242888" cy="24288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77082" y="45489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3106" y="44950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9131" y="44410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96518" y="44510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技能匹配分工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935" y="4907756"/>
              <a:ext cx="328295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分工按中文、近义词和中英文三种方式匹配技能，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把成员排成负责人、主要协助、辅助协助三层角色。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" y="5745956"/>
              <a:ext cx="4549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每一项分工都给出匹配度评分——为什么选这个人，看得见、说得清。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91250" y="4152900"/>
            <a:ext cx="5619750" cy="2286000"/>
            <a:chOff x="6191250" y="4152900"/>
            <a:chExt cx="5619750" cy="2286000"/>
          </a:xfrm>
        </p:grpSpPr>
        <p:sp>
          <p:nvSpPr>
            <p:cNvPr id="39" name="Rectangle 39"/>
            <p:cNvSpPr/>
            <p:nvPr/>
          </p:nvSpPr>
          <p:spPr>
            <a:xfrm>
              <a:off x="6191250" y="4152900"/>
              <a:ext cx="5619750" cy="2286000"/>
            </a:xfrm>
            <a:prstGeom prst="roundRect">
              <a:avLst>
                <a:gd name="adj" fmla="val 1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41529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92875" y="4454525"/>
              <a:ext cx="215901" cy="215901"/>
              <a:chOff x="6492875" y="4454525"/>
              <a:chExt cx="215901" cy="21590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92875" y="45085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19863" y="44545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19863" y="45624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73838" y="45894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00825" y="44545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00825" y="46434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54801" y="44680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81788" y="44545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81788" y="45219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06768" y="4451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负载均衡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185" y="4907756"/>
              <a:ext cx="37096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在分工基础上，系统按成员可用工时与阶段负载自动均衡，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避免有人连轴转、有人闲着。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33185" y="57459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均衡后重算匹配评分并说明调整理由，改动可追溯。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3992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关键路径排期：确定性算法保证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381000" y="1676400"/>
            <a:ext cx="5334000" cy="4099084"/>
            <a:chOff x="381000" y="1676400"/>
            <a:chExt cx="5334000" cy="4099084"/>
          </a:xfrm>
        </p:grpSpPr>
        <p:sp>
          <p:nvSpPr>
            <p:cNvPr id="7" name="Rectangle 7"/>
            <p:cNvSpPr/>
            <p:nvPr/>
          </p:nvSpPr>
          <p:spPr>
            <a:xfrm>
              <a:off x="381000" y="1676400"/>
              <a:ext cx="5334000" cy="914400"/>
            </a:xfrm>
            <a:prstGeom prst="roundRect">
              <a:avLst>
                <a:gd name="adj" fmla="val 416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79450" y="1885950"/>
              <a:ext cx="203199" cy="228599"/>
              <a:chOff x="679450" y="1885950"/>
              <a:chExt cx="203199" cy="2285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79450" y="19113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177800"/>
                    </a:lnTo>
                    <a:cubicBezTo>
                      <a:pt x="203199" y="191828"/>
                      <a:pt x="191828" y="203199"/>
                      <a:pt x="177800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31849" y="18859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30250" y="18859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79450" y="1987550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8350" y="20383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81050" y="20383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59180" y="1895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倒排日期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2935" y="2259806"/>
              <a:ext cx="27139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从项目截止日反向推导每一项任务的起止，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保证整条链路的终点就是截止日。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2705100"/>
              <a:ext cx="5334000" cy="914400"/>
            </a:xfrm>
            <a:prstGeom prst="roundRect">
              <a:avLst>
                <a:gd name="adj" fmla="val 416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66750" y="2965450"/>
              <a:ext cx="228599" cy="127000"/>
              <a:chOff x="666750" y="2965450"/>
              <a:chExt cx="228599" cy="127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79450" y="2978150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06450" y="30416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42950" y="29781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6750" y="30670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9949" y="29654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59180" y="29241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关键路径与浮动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2935" y="3288506"/>
              <a:ext cx="35674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计算关键路径与每项任务的浮动时间，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没有余量的任务直接决定交付，系统据此输出风险提示。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3733800"/>
              <a:ext cx="5334000" cy="914400"/>
            </a:xfrm>
            <a:prstGeom prst="roundRect">
              <a:avLst>
                <a:gd name="adj" fmla="val 416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66750" y="3943350"/>
              <a:ext cx="228599" cy="228600"/>
              <a:chOff x="666750" y="3943350"/>
              <a:chExt cx="228599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2150" y="39433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6750" y="40957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1849" y="39450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7249" y="40976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59180" y="3952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资源日历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935" y="4317206"/>
              <a:ext cx="35674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跳过周末与成员标注的不可用日期，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按成员每日可用工时安排起止，计划落在真实可用性上。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4762500"/>
              <a:ext cx="5334000" cy="914400"/>
            </a:xfrm>
            <a:prstGeom prst="roundRect">
              <a:avLst>
                <a:gd name="adj" fmla="val 416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79450" y="4969445"/>
              <a:ext cx="218505" cy="218505"/>
              <a:chOff x="679450" y="4969445"/>
              <a:chExt cx="218505" cy="21850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9450" y="5022850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381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39700"/>
                    </a:lnTo>
                    <a:cubicBezTo>
                      <a:pt x="0" y="153728"/>
                      <a:pt x="11372" y="165100"/>
                      <a:pt x="25400" y="165100"/>
                    </a:cubicBezTo>
                    <a:lnTo>
                      <a:pt x="139700" y="165100"/>
                    </a:lnTo>
                    <a:cubicBezTo>
                      <a:pt x="153728" y="165100"/>
                      <a:pt x="165100" y="153728"/>
                      <a:pt x="165100" y="139700"/>
                    </a:cubicBezTo>
                    <a:lnTo>
                      <a:pt x="16510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42950" y="4969445"/>
                <a:ext cx="155005" cy="155005"/>
              </a:xfrm>
              <a:custGeom>
                <a:avLst/>
                <a:gdLst/>
                <a:ahLst/>
                <a:cxnLst/>
                <a:rect l="l" t="t" r="r" b="b"/>
                <a:pathLst>
                  <a:path w="155005" h="155005">
                    <a:moveTo>
                      <a:pt x="144589" y="48135"/>
                    </a:moveTo>
                    <a:cubicBezTo>
                      <a:pt x="155005" y="37719"/>
                      <a:pt x="155005" y="20832"/>
                      <a:pt x="144589" y="10416"/>
                    </a:cubicBezTo>
                    <a:cubicBezTo>
                      <a:pt x="134173" y="0"/>
                      <a:pt x="117286" y="0"/>
                      <a:pt x="106870" y="10416"/>
                    </a:cubicBezTo>
                    <a:lnTo>
                      <a:pt x="0" y="116905"/>
                    </a:lnTo>
                    <a:lnTo>
                      <a:pt x="0" y="155005"/>
                    </a:lnTo>
                    <a:lnTo>
                      <a:pt x="38100" y="155005"/>
                    </a:lnTo>
                    <a:lnTo>
                      <a:pt x="144589" y="4813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1849" y="49974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59180" y="49815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手动固定日期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935" y="5345906"/>
              <a:ext cx="32829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有些日期是定死的（比如答辩日），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系统支持手动固定，其余任务围绕固定点自动重排。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0" y="1676400"/>
            <a:ext cx="5715000" cy="3810000"/>
            <a:chOff x="6096000" y="1676400"/>
            <a:chExt cx="5715000" cy="3810000"/>
          </a:xfrm>
        </p:grpSpPr>
        <p:sp>
          <p:nvSpPr>
            <p:cNvPr id="42" name="Rectangle 42"/>
            <p:cNvSpPr/>
            <p:nvPr/>
          </p:nvSpPr>
          <p:spPr>
            <a:xfrm>
              <a:off x="6096000" y="1676400"/>
              <a:ext cx="5715000" cy="3810000"/>
            </a:xfrm>
            <a:prstGeom prst="roundRect">
              <a:avLst>
                <a:gd name="adj" fmla="val 1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93180" y="1857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甘特示意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5466" y="21726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任务条 · 里程碑 · 依赖 · 关键路径（金色）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400800" y="24765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95466" y="2744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需求拆解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543800" y="2705100"/>
              <a:ext cx="142875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62166" y="3429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界面设计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72550" y="3390900"/>
              <a:ext cx="190500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62166" y="4115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后端开发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543800" y="4076700"/>
              <a:ext cx="3333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62166" y="4801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测试验收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877550" y="4762500"/>
              <a:ext cx="66675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Polygon 54"/>
            <p:cNvSpPr/>
            <p:nvPr/>
          </p:nvSpPr>
          <p:spPr>
            <a:xfrm>
              <a:off x="11468100" y="49149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291316" y="5277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258175" y="2895600"/>
              <a:ext cx="714375" cy="495300"/>
            </a:xfrm>
            <a:custGeom>
              <a:avLst/>
              <a:gdLst/>
              <a:ahLst/>
              <a:cxnLst/>
              <a:rect l="l" t="t" r="r" b="b"/>
              <a:pathLst>
                <a:path w="714375" h="495300">
                  <a:moveTo>
                    <a:pt x="0" y="0"/>
                  </a:moveTo>
                  <a:lnTo>
                    <a:pt x="714375" y="495300"/>
                  </a:lnTo>
                </a:path>
              </a:pathLst>
            </a:custGeom>
            <a:noFill/>
            <a:ln w="9525">
              <a:solidFill>
                <a:srgbClr val="A5B8C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543800" y="3581400"/>
              <a:ext cx="1428750" cy="495300"/>
            </a:xfrm>
            <a:custGeom>
              <a:avLst/>
              <a:gdLst/>
              <a:ahLst/>
              <a:cxnLst/>
              <a:rect l="l" t="t" r="r" b="b"/>
              <a:pathLst>
                <a:path w="1428750" h="495300">
                  <a:moveTo>
                    <a:pt x="142875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A5B8C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0877550" y="42672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A5B8C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1544300" y="495300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52400" h="76200">
                  <a:moveTo>
                    <a:pt x="0" y="0"/>
                  </a:moveTo>
                  <a:lnTo>
                    <a:pt x="152400" y="76200"/>
                  </a:lnTo>
                </a:path>
              </a:pathLst>
            </a:custGeom>
            <a:noFill/>
            <a:ln w="9525">
              <a:solidFill>
                <a:srgbClr val="A5B8C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95466" y="5182552"/>
              <a:ext cx="2437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示意绘制：运行界面见 P25 截图占位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2" name="TextBox 62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1337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动态协作：计划随现实变化实时重算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28775"/>
            <a:ext cx="5920740" cy="560070"/>
            <a:chOff x="373380" y="1628775"/>
            <a:chExt cx="5920740" cy="5600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28775"/>
              <a:ext cx="592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计划的价值不在于生成的那一刻，而在于之后每一次变化都能跟得上。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人改一步，系统就重算一步，计划永远是“现在时”。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266950"/>
            <a:ext cx="5619750" cy="1219200"/>
            <a:chOff x="381000" y="2266950"/>
            <a:chExt cx="5619750" cy="1219200"/>
          </a:xfrm>
        </p:grpSpPr>
        <p:sp>
          <p:nvSpPr>
            <p:cNvPr id="9" name="Rectangle 9"/>
            <p:cNvSpPr/>
            <p:nvPr/>
          </p:nvSpPr>
          <p:spPr>
            <a:xfrm>
              <a:off x="381000" y="22669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79450" y="2511995"/>
              <a:ext cx="218505" cy="218505"/>
              <a:chOff x="679450" y="2511995"/>
              <a:chExt cx="218505" cy="21850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79450" y="2565400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381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39700"/>
                    </a:lnTo>
                    <a:cubicBezTo>
                      <a:pt x="0" y="153728"/>
                      <a:pt x="11372" y="165100"/>
                      <a:pt x="25400" y="165100"/>
                    </a:cubicBezTo>
                    <a:lnTo>
                      <a:pt x="139700" y="165100"/>
                    </a:lnTo>
                    <a:cubicBezTo>
                      <a:pt x="153728" y="165100"/>
                      <a:pt x="165100" y="153728"/>
                      <a:pt x="165100" y="139700"/>
                    </a:cubicBezTo>
                    <a:lnTo>
                      <a:pt x="16510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2950" y="2511995"/>
                <a:ext cx="155005" cy="155005"/>
              </a:xfrm>
              <a:custGeom>
                <a:avLst/>
                <a:gdLst/>
                <a:ahLst/>
                <a:cxnLst/>
                <a:rect l="l" t="t" r="r" b="b"/>
                <a:pathLst>
                  <a:path w="155005" h="155005">
                    <a:moveTo>
                      <a:pt x="144589" y="48135"/>
                    </a:moveTo>
                    <a:cubicBezTo>
                      <a:pt x="155005" y="37719"/>
                      <a:pt x="155005" y="20832"/>
                      <a:pt x="144589" y="10416"/>
                    </a:cubicBezTo>
                    <a:cubicBezTo>
                      <a:pt x="134173" y="0"/>
                      <a:pt x="117286" y="0"/>
                      <a:pt x="106870" y="10416"/>
                    </a:cubicBezTo>
                    <a:lnTo>
                      <a:pt x="0" y="116905"/>
                    </a:lnTo>
                    <a:lnTo>
                      <a:pt x="0" y="155005"/>
                    </a:lnTo>
                    <a:lnTo>
                      <a:pt x="38100" y="155005"/>
                    </a:lnTo>
                    <a:lnTo>
                      <a:pt x="144589" y="4813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1849" y="2540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78230" y="25431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可编辑草案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2935" y="296465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任务与模块可以增删改、拆分合并，确认前的每一步都可以自由调整。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" y="3619500"/>
            <a:ext cx="5619750" cy="1219200"/>
            <a:chOff x="381000" y="3619500"/>
            <a:chExt cx="5619750" cy="1219200"/>
          </a:xfrm>
        </p:grpSpPr>
        <p:sp>
          <p:nvSpPr>
            <p:cNvPr id="17" name="Rectangle 17"/>
            <p:cNvSpPr/>
            <p:nvPr/>
          </p:nvSpPr>
          <p:spPr>
            <a:xfrm>
              <a:off x="381000" y="361950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66750" y="3879850"/>
              <a:ext cx="228599" cy="203200"/>
              <a:chOff x="666750" y="3879850"/>
              <a:chExt cx="228599" cy="203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57249" y="38798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7249" y="40068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750" y="3917950"/>
                <a:ext cx="228599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00">
                    <a:moveTo>
                      <a:pt x="0" y="0"/>
                    </a:moveTo>
                    <a:lnTo>
                      <a:pt x="38100" y="0"/>
                    </a:lnTo>
                    <a:cubicBezTo>
                      <a:pt x="73170" y="0"/>
                      <a:pt x="101600" y="28430"/>
                      <a:pt x="101600" y="63500"/>
                    </a:cubicBezTo>
                    <a:cubicBezTo>
                      <a:pt x="101600" y="98570"/>
                      <a:pt x="130030" y="127000"/>
                      <a:pt x="165100" y="127000"/>
                    </a:cubicBezTo>
                    <a:lnTo>
                      <a:pt x="228599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6750" y="3917930"/>
                <a:ext cx="228599" cy="12703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35">
                    <a:moveTo>
                      <a:pt x="228599" y="20"/>
                    </a:moveTo>
                    <a:lnTo>
                      <a:pt x="165100" y="20"/>
                    </a:lnTo>
                    <a:cubicBezTo>
                      <a:pt x="151357" y="0"/>
                      <a:pt x="137982" y="4458"/>
                      <a:pt x="127000" y="12720"/>
                    </a:cubicBezTo>
                    <a:moveTo>
                      <a:pt x="76200" y="114320"/>
                    </a:moveTo>
                    <a:cubicBezTo>
                      <a:pt x="65215" y="122577"/>
                      <a:pt x="51842" y="127035"/>
                      <a:pt x="38100" y="127020"/>
                    </a:cubicBezTo>
                    <a:lnTo>
                      <a:pt x="0" y="12702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78230" y="3895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拖拽分工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2935" y="431720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看板上直接拖拽负责人与协作者；改乱了，一键恢复自动分工。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1000" y="4972050"/>
            <a:ext cx="5619750" cy="1219200"/>
            <a:chOff x="381000" y="4972050"/>
            <a:chExt cx="5619750" cy="1219200"/>
          </a:xfrm>
        </p:grpSpPr>
        <p:sp>
          <p:nvSpPr>
            <p:cNvPr id="26" name="Rectangle 26"/>
            <p:cNvSpPr/>
            <p:nvPr/>
          </p:nvSpPr>
          <p:spPr>
            <a:xfrm>
              <a:off x="381000" y="49720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79450" y="5227500"/>
              <a:ext cx="203199" cy="213000"/>
              <a:chOff x="679450" y="5227500"/>
              <a:chExt cx="203199" cy="213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79450" y="52275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9450" y="53467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78230" y="5248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35" y="5669756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任务状态切换、成员变动、工时调整，都会触发排期与分工的自动重算。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91250" y="2266950"/>
            <a:ext cx="5619750" cy="1219200"/>
            <a:chOff x="6191250" y="2266950"/>
            <a:chExt cx="5619750" cy="1219200"/>
          </a:xfrm>
        </p:grpSpPr>
        <p:sp>
          <p:nvSpPr>
            <p:cNvPr id="33" name="Rectangle 33"/>
            <p:cNvSpPr/>
            <p:nvPr/>
          </p:nvSpPr>
          <p:spPr>
            <a:xfrm>
              <a:off x="6191250" y="22669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77000" y="2514600"/>
              <a:ext cx="228599" cy="228600"/>
              <a:chOff x="6477000" y="2514600"/>
              <a:chExt cx="228599" cy="228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02400" y="25146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77000" y="26670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42099" y="251625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67499" y="266890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888480" y="2543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成员管理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185" y="2964656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增删成员、调整每日工时、角色与不可用日期，应用后自动重排分工与排期。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91250" y="3619500"/>
            <a:ext cx="5619750" cy="2571750"/>
            <a:chOff x="6191250" y="3619500"/>
            <a:chExt cx="5619750" cy="2571750"/>
          </a:xfrm>
        </p:grpSpPr>
        <p:sp>
          <p:nvSpPr>
            <p:cNvPr id="42" name="Rectangle 42"/>
            <p:cNvSpPr/>
            <p:nvPr/>
          </p:nvSpPr>
          <p:spPr>
            <a:xfrm>
              <a:off x="6191250" y="3619500"/>
              <a:ext cx="5619750" cy="2571750"/>
            </a:xfrm>
            <a:prstGeom prst="roundRect">
              <a:avLst>
                <a:gd name="adj" fmla="val 148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36195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502400" y="3937000"/>
              <a:ext cx="190500" cy="203199"/>
              <a:chOff x="6502400" y="3937000"/>
              <a:chExt cx="190500" cy="20319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502400" y="40893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02400" y="3937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29400" y="3937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27800" y="39878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53200" y="4025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88900"/>
                    </a:moveTo>
                    <a:lnTo>
                      <a:pt x="76200" y="88900"/>
                    </a:lnTo>
                    <a:cubicBezTo>
                      <a:pt x="90228" y="88900"/>
                      <a:pt x="101600" y="77528"/>
                      <a:pt x="101600" y="6350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16700" y="40259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888480" y="3952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版本管理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185" y="4393406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保存即生成版本快照；相似任务形成版本树，支持差异对比与分支回滚。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33185" y="475535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每一次调整都可追溯、可恢复，试错没有代价。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33566" y="5639752"/>
              <a:ext cx="4738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大型项目模式：大模块 → 骨干认领 → 子任务 → 志愿者招募，多阶段连续推进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1910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汇报触达：免登录汇报 + 自动群通知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28775"/>
            <a:ext cx="6873240" cy="560070"/>
            <a:chOff x="373380" y="1628775"/>
            <a:chExt cx="6873240" cy="5600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28775"/>
              <a:ext cx="687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进度追踪的成本越低，成员越愿意更新；通知触达越自动，负责人越不需要追问。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这条链路把“汇报”变成一件顺手的事。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2266950"/>
            <a:ext cx="2590800" cy="1809750"/>
            <a:chOff x="381000" y="2266950"/>
            <a:chExt cx="2590800" cy="1809750"/>
          </a:xfrm>
        </p:grpSpPr>
        <p:sp>
          <p:nvSpPr>
            <p:cNvPr id="9" name="Rectangle 9"/>
            <p:cNvSpPr/>
            <p:nvPr/>
          </p:nvSpPr>
          <p:spPr>
            <a:xfrm>
              <a:off x="381000" y="22669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1792" y="2483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82623" y="2828682"/>
              <a:ext cx="222476" cy="229059"/>
              <a:chOff x="682623" y="2828682"/>
              <a:chExt cx="222476" cy="22905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50094" y="290274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80963"/>
                    </a:move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7082" y="2828682"/>
                <a:ext cx="128017" cy="128037"/>
              </a:xfrm>
              <a:custGeom>
                <a:avLst/>
                <a:gdLst/>
                <a:ahLst/>
                <a:cxnLst/>
                <a:rect l="l" t="t" r="r" b="b"/>
                <a:pathLst>
                  <a:path w="128017" h="128037">
                    <a:moveTo>
                      <a:pt x="0" y="33581"/>
                    </a:moveTo>
                    <a:lnTo>
                      <a:pt x="6248" y="26348"/>
                    </a:lnTo>
                    <a:cubicBezTo>
                      <a:pt x="32599" y="0"/>
                      <a:pt x="75321" y="3"/>
                      <a:pt x="101669" y="26355"/>
                    </a:cubicBezTo>
                    <a:cubicBezTo>
                      <a:pt x="128017" y="52706"/>
                      <a:pt x="128014" y="95428"/>
                      <a:pt x="101662" y="121776"/>
                    </a:cubicBezTo>
                    <a:lnTo>
                      <a:pt x="94456" y="128037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82623" y="2929732"/>
                <a:ext cx="121446" cy="128009"/>
              </a:xfrm>
              <a:custGeom>
                <a:avLst/>
                <a:gdLst/>
                <a:ahLst/>
                <a:cxnLst/>
                <a:rect l="l" t="t" r="r" b="b"/>
                <a:pathLst>
                  <a:path w="121446" h="128009">
                    <a:moveTo>
                      <a:pt x="121446" y="94456"/>
                    </a:moveTo>
                    <a:lnTo>
                      <a:pt x="116089" y="101662"/>
                    </a:lnTo>
                    <a:cubicBezTo>
                      <a:pt x="89446" y="128009"/>
                      <a:pt x="46562" y="128009"/>
                      <a:pt x="19919" y="101662"/>
                    </a:cubicBezTo>
                    <a:cubicBezTo>
                      <a:pt x="7173" y="89059"/>
                      <a:pt x="0" y="71880"/>
                      <a:pt x="0" y="53955"/>
                    </a:cubicBezTo>
                    <a:cubicBezTo>
                      <a:pt x="0" y="36030"/>
                      <a:pt x="7173" y="18851"/>
                      <a:pt x="19919" y="6248"/>
                    </a:cubicBezTo>
                    <a:lnTo>
                      <a:pt x="26989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21030" y="3286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生成链接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316" y="3658552"/>
              <a:ext cx="201758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token 绑定方案与成员，免登录，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打开只看到自己的任务。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71800" y="3190875"/>
            <a:ext cx="247650" cy="1"/>
            <a:chOff x="2971800" y="3190875"/>
            <a:chExt cx="247650" cy="1"/>
          </a:xfrm>
        </p:grpSpPr>
        <p:sp>
          <p:nvSpPr>
            <p:cNvPr id="18" name="Line 18"/>
            <p:cNvSpPr/>
            <p:nvPr/>
          </p:nvSpPr>
          <p:spPr>
            <a:xfrm>
              <a:off x="2971800" y="3190875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3257550" y="2266950"/>
            <a:ext cx="2590800" cy="1809750"/>
            <a:chOff x="3257550" y="2266950"/>
            <a:chExt cx="2590800" cy="1809750"/>
          </a:xfrm>
        </p:grpSpPr>
        <p:sp>
          <p:nvSpPr>
            <p:cNvPr id="20" name="Rectangle 20"/>
            <p:cNvSpPr/>
            <p:nvPr/>
          </p:nvSpPr>
          <p:spPr>
            <a:xfrm>
              <a:off x="3257550" y="22669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98342" y="2483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559175" y="2835275"/>
              <a:ext cx="215901" cy="215900"/>
              <a:chOff x="3559175" y="2835275"/>
              <a:chExt cx="215901" cy="2159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559175" y="2956719"/>
                <a:ext cx="67469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4456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67469"/>
                    </a:lnTo>
                    <a:cubicBezTo>
                      <a:pt x="67469" y="82374"/>
                      <a:pt x="55386" y="94456"/>
                      <a:pt x="40481" y="94456"/>
                    </a:cubicBezTo>
                    <a:lnTo>
                      <a:pt x="26988" y="94456"/>
                    </a:lnTo>
                    <a:cubicBezTo>
                      <a:pt x="12083" y="94456"/>
                      <a:pt x="0" y="82374"/>
                      <a:pt x="0" y="67469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707607" y="2956719"/>
                <a:ext cx="67469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4456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67469"/>
                    </a:lnTo>
                    <a:cubicBezTo>
                      <a:pt x="67469" y="82374"/>
                      <a:pt x="55386" y="94456"/>
                      <a:pt x="40481" y="94456"/>
                    </a:cubicBezTo>
                    <a:lnTo>
                      <a:pt x="26988" y="94456"/>
                    </a:lnTo>
                    <a:cubicBezTo>
                      <a:pt x="12083" y="94456"/>
                      <a:pt x="0" y="82374"/>
                      <a:pt x="0" y="67469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559175" y="2835275"/>
                <a:ext cx="215901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48432">
                    <a:moveTo>
                      <a:pt x="0" y="148432"/>
                    </a:moveTo>
                    <a:lnTo>
                      <a:pt x="0" y="107950"/>
                    </a:lnTo>
                    <a:cubicBezTo>
                      <a:pt x="0" y="48331"/>
                      <a:pt x="48331" y="0"/>
                      <a:pt x="107950" y="0"/>
                    </a:cubicBezTo>
                    <a:cubicBezTo>
                      <a:pt x="167570" y="0"/>
                      <a:pt x="215901" y="48331"/>
                      <a:pt x="215901" y="107950"/>
                    </a:cubicBezTo>
                    <a:lnTo>
                      <a:pt x="215901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497580" y="32861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99866" y="3658552"/>
              <a:ext cx="174421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语音上报状态、工时与备注，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交付物拍照即可上传。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848350" y="3190875"/>
            <a:ext cx="247650" cy="1"/>
            <a:chOff x="5848350" y="3190875"/>
            <a:chExt cx="247650" cy="1"/>
          </a:xfrm>
        </p:grpSpPr>
        <p:sp>
          <p:nvSpPr>
            <p:cNvPr id="29" name="Line 29"/>
            <p:cNvSpPr/>
            <p:nvPr/>
          </p:nvSpPr>
          <p:spPr>
            <a:xfrm>
              <a:off x="5848350" y="3190875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134100" y="2266950"/>
            <a:ext cx="2590800" cy="1809750"/>
            <a:chOff x="6134100" y="2266950"/>
            <a:chExt cx="2590800" cy="1809750"/>
          </a:xfrm>
        </p:grpSpPr>
        <p:sp>
          <p:nvSpPr>
            <p:cNvPr id="31" name="Rectangle 31"/>
            <p:cNvSpPr/>
            <p:nvPr/>
          </p:nvSpPr>
          <p:spPr>
            <a:xfrm>
              <a:off x="6134100" y="22669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4892" y="2483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6449219" y="2821781"/>
              <a:ext cx="188913" cy="242889"/>
              <a:chOff x="6449219" y="2821781"/>
              <a:chExt cx="188913" cy="24288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49219" y="284876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03194" y="282178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03194" y="294322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374130" y="32861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416" y="3658552"/>
              <a:ext cx="161086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确认完成，变更进入计划，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并自动触发即时重算。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724900" y="3190875"/>
            <a:ext cx="247650" cy="1"/>
            <a:chOff x="8724900" y="3190875"/>
            <a:chExt cx="247650" cy="1"/>
          </a:xfrm>
        </p:grpSpPr>
        <p:sp>
          <p:nvSpPr>
            <p:cNvPr id="40" name="Line 40"/>
            <p:cNvSpPr/>
            <p:nvPr/>
          </p:nvSpPr>
          <p:spPr>
            <a:xfrm>
              <a:off x="8724900" y="3190875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010650" y="2266950"/>
            <a:ext cx="2873311" cy="1809750"/>
            <a:chOff x="9010650" y="2266950"/>
            <a:chExt cx="2873311" cy="1809750"/>
          </a:xfrm>
        </p:grpSpPr>
        <p:sp>
          <p:nvSpPr>
            <p:cNvPr id="42" name="Rectangle 42"/>
            <p:cNvSpPr/>
            <p:nvPr/>
          </p:nvSpPr>
          <p:spPr>
            <a:xfrm>
              <a:off x="9010650" y="2266950"/>
              <a:ext cx="280035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51442" y="2483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9294452" y="2821781"/>
              <a:ext cx="247218" cy="247218"/>
              <a:chOff x="9294452" y="2821781"/>
              <a:chExt cx="247218" cy="24721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93238" y="2821781"/>
                <a:ext cx="148432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148432">
                    <a:moveTo>
                      <a:pt x="0" y="148432"/>
                    </a:moveTo>
                    <a:lnTo>
                      <a:pt x="148432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294452" y="2821781"/>
                <a:ext cx="247218" cy="247218"/>
              </a:xfrm>
              <a:custGeom>
                <a:avLst/>
                <a:gdLst/>
                <a:ahLst/>
                <a:cxnLst/>
                <a:rect l="l" t="t" r="r" b="b"/>
                <a:pathLst>
                  <a:path w="247218" h="247218">
                    <a:moveTo>
                      <a:pt x="247218" y="0"/>
                    </a:moveTo>
                    <a:lnTo>
                      <a:pt x="159508" y="242888"/>
                    </a:lnTo>
                    <a:cubicBezTo>
                      <a:pt x="158299" y="245526"/>
                      <a:pt x="155663" y="247218"/>
                      <a:pt x="152761" y="247218"/>
                    </a:cubicBezTo>
                    <a:cubicBezTo>
                      <a:pt x="149859" y="247218"/>
                      <a:pt x="147223" y="245526"/>
                      <a:pt x="146014" y="242888"/>
                    </a:cubicBezTo>
                    <a:lnTo>
                      <a:pt x="98786" y="148432"/>
                    </a:lnTo>
                    <a:lnTo>
                      <a:pt x="4330" y="101203"/>
                    </a:lnTo>
                    <a:cubicBezTo>
                      <a:pt x="1692" y="99994"/>
                      <a:pt x="0" y="97359"/>
                      <a:pt x="0" y="94456"/>
                    </a:cubicBezTo>
                    <a:cubicBezTo>
                      <a:pt x="0" y="91554"/>
                      <a:pt x="1692" y="88919"/>
                      <a:pt x="4330" y="87710"/>
                    </a:cubicBezTo>
                    <a:lnTo>
                      <a:pt x="24721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250680" y="3286125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 / 今日播报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52966" y="3658552"/>
              <a:ext cx="2630995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企业微信、飞书、钉钉 Webhook 自动推送，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播报今日待办。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81000" y="4400550"/>
            <a:ext cx="11430000" cy="1714500"/>
            <a:chOff x="381000" y="4400550"/>
            <a:chExt cx="11430000" cy="1714500"/>
          </a:xfrm>
        </p:grpSpPr>
        <p:sp>
          <p:nvSpPr>
            <p:cNvPr id="50" name="Rectangle 50"/>
            <p:cNvSpPr/>
            <p:nvPr/>
          </p:nvSpPr>
          <p:spPr>
            <a:xfrm>
              <a:off x="381000" y="440055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88181" y="4664869"/>
              <a:ext cx="166688" cy="214312"/>
              <a:chOff x="688181" y="4664869"/>
              <a:chExt cx="166688" cy="21431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88181" y="4760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59619" y="4807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3900" y="4664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46767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全程免登录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935" y="5117306"/>
              <a:ext cx="2294382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绑定方案与成员，无需注册，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手机即可完成汇报与确认。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286250" y="440055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581525" y="4664869"/>
              <a:ext cx="190500" cy="214312"/>
              <a:chOff x="4581525" y="4664869"/>
              <a:chExt cx="190500" cy="2143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581525" y="4664869"/>
                <a:ext cx="190500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66688">
                    <a:moveTo>
                      <a:pt x="71438" y="23812"/>
                    </a:moveTo>
                    <a:cubicBezTo>
                      <a:pt x="71438" y="10661"/>
                      <a:pt x="82099" y="0"/>
                      <a:pt x="95250" y="0"/>
                    </a:cubicBezTo>
                    <a:cubicBezTo>
                      <a:pt x="108401" y="0"/>
                      <a:pt x="119062" y="10661"/>
                      <a:pt x="119062" y="23812"/>
                    </a:cubicBezTo>
                    <a:cubicBezTo>
                      <a:pt x="146925" y="36987"/>
                      <a:pt x="165242" y="64463"/>
                      <a:pt x="166688" y="95250"/>
                    </a:cubicBezTo>
                    <a:lnTo>
                      <a:pt x="166688" y="130969"/>
                    </a:lnTo>
                    <a:cubicBezTo>
                      <a:pt x="168505" y="145980"/>
                      <a:pt x="177342" y="159237"/>
                      <a:pt x="190500" y="166688"/>
                    </a:cubicBezTo>
                    <a:lnTo>
                      <a:pt x="0" y="166688"/>
                    </a:lnTo>
                    <a:cubicBezTo>
                      <a:pt x="13158" y="159237"/>
                      <a:pt x="21995" y="145980"/>
                      <a:pt x="23812" y="130969"/>
                    </a:cubicBezTo>
                    <a:lnTo>
                      <a:pt x="23812" y="95250"/>
                    </a:lnTo>
                    <a:cubicBezTo>
                      <a:pt x="25258" y="64463"/>
                      <a:pt x="43575" y="36987"/>
                      <a:pt x="71438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641056" y="4831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0"/>
                    </a:moveTo>
                    <a:lnTo>
                      <a:pt x="0" y="11906"/>
                    </a:lnTo>
                    <a:cubicBezTo>
                      <a:pt x="0" y="31633"/>
                      <a:pt x="15992" y="47625"/>
                      <a:pt x="35719" y="47625"/>
                    </a:cubicBezTo>
                    <a:cubicBezTo>
                      <a:pt x="55446" y="47625"/>
                      <a:pt x="71438" y="31633"/>
                      <a:pt x="71438" y="11906"/>
                    </a:cubicBez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945380" y="46767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自动触达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28185" y="5117306"/>
              <a:ext cx="1910334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状态变更自动推送 Webhook，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无需人工转发，消息不遗漏。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191500" y="440055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474869" y="4664869"/>
              <a:ext cx="226219" cy="226219"/>
              <a:chOff x="8474869" y="4664869"/>
              <a:chExt cx="226219" cy="226219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474869" y="4688681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04715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66688" y="0"/>
                    </a:lnTo>
                    <a:cubicBezTo>
                      <a:pt x="179839" y="0"/>
                      <a:pt x="190500" y="10661"/>
                      <a:pt x="190500" y="23812"/>
                    </a:cubicBezTo>
                    <a:lnTo>
                      <a:pt x="190500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653462" y="4795838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7625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605838" y="4795838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617744" y="46648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22494" y="46648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474869" y="4760119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850630" y="46767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今日播报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33435" y="5117306"/>
              <a:ext cx="189611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 TTS 朗读今日待办要点，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团队节奏一目了然。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4" name="TextBox 7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7269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全模态交互：五种模态 × 真实协作场景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62100"/>
            <a:ext cx="11430000" cy="438150"/>
            <a:chOff x="381000" y="1562100"/>
            <a:chExt cx="11430000" cy="43815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714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46354" y="16992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95500" y="1562100"/>
              <a:ext cx="3619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60854" y="16992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0" y="1562100"/>
              <a:ext cx="3429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80354" y="1699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0" y="1562100"/>
              <a:ext cx="2667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09354" y="1699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对应接口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2000250"/>
            <a:ext cx="11430000" cy="704850"/>
            <a:chOff x="381000" y="2000250"/>
            <a:chExt cx="11430000" cy="704850"/>
          </a:xfrm>
        </p:grpSpPr>
        <p:sp>
          <p:nvSpPr>
            <p:cNvPr id="16" name="Rectangle 16"/>
            <p:cNvSpPr/>
            <p:nvPr/>
          </p:nvSpPr>
          <p:spPr>
            <a:xfrm>
              <a:off x="381000" y="2000250"/>
              <a:ext cx="1714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83406" y="2193925"/>
              <a:ext cx="185737" cy="175418"/>
              <a:chOff x="583406" y="2193925"/>
              <a:chExt cx="185737" cy="17541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35000" y="2245518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35000" y="2286793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83406" y="2193925"/>
                <a:ext cx="185737" cy="17541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75418">
                    <a:moveTo>
                      <a:pt x="154781" y="0"/>
                    </a:moveTo>
                    <a:cubicBezTo>
                      <a:pt x="171877" y="0"/>
                      <a:pt x="185737" y="13860"/>
                      <a:pt x="185737" y="30956"/>
                    </a:cubicBezTo>
                    <a:lnTo>
                      <a:pt x="185737" y="113506"/>
                    </a:lnTo>
                    <a:cubicBezTo>
                      <a:pt x="185737" y="130603"/>
                      <a:pt x="171877" y="144462"/>
                      <a:pt x="154781" y="144462"/>
                    </a:cubicBezTo>
                    <a:lnTo>
                      <a:pt x="103187" y="144462"/>
                    </a:lnTo>
                    <a:lnTo>
                      <a:pt x="51594" y="175418"/>
                    </a:lnTo>
                    <a:lnTo>
                      <a:pt x="51594" y="144462"/>
                    </a:lnTo>
                    <a:lnTo>
                      <a:pt x="30956" y="144462"/>
                    </a:lnTo>
                    <a:cubicBezTo>
                      <a:pt x="13860" y="144462"/>
                      <a:pt x="0" y="130603"/>
                      <a:pt x="0" y="113506"/>
                    </a:cubicBez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89254" y="22136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95500" y="20002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60854" y="2194560"/>
              <a:ext cx="2930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SSE 流式对话、AI 建议抽屉带方案快照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1616" y="24774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边看方案边提问，实时增量显示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2000250"/>
              <a:ext cx="3429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80354" y="22707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边看方案边提问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002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10116" y="2286952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/api/realtime/chat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2705100"/>
            <a:ext cx="11430000" cy="704850"/>
            <a:chOff x="381000" y="2705100"/>
            <a:chExt cx="11430000" cy="704850"/>
          </a:xfrm>
        </p:grpSpPr>
        <p:sp>
          <p:nvSpPr>
            <p:cNvPr id="30" name="Rectangle 30"/>
            <p:cNvSpPr/>
            <p:nvPr/>
          </p:nvSpPr>
          <p:spPr>
            <a:xfrm>
              <a:off x="381000" y="2705100"/>
              <a:ext cx="1714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04044" y="2878137"/>
              <a:ext cx="144462" cy="205581"/>
              <a:chOff x="604044" y="2878137"/>
              <a:chExt cx="144462" cy="20558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318" y="2878137"/>
                <a:ext cx="61912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13506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lnTo>
                      <a:pt x="61912" y="82550"/>
                    </a:lnTo>
                    <a:cubicBezTo>
                      <a:pt x="61912" y="99646"/>
                      <a:pt x="48053" y="113506"/>
                      <a:pt x="30956" y="113506"/>
                    </a:cubicBezTo>
                    <a:cubicBezTo>
                      <a:pt x="13860" y="113506"/>
                      <a:pt x="0" y="99646"/>
                      <a:pt x="0" y="82550"/>
                    </a:cubicBezTo>
                    <a:lnTo>
                      <a:pt x="0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4044" y="2960687"/>
                <a:ext cx="144462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72231">
                    <a:moveTo>
                      <a:pt x="0" y="0"/>
                    </a:moveTo>
                    <a:cubicBezTo>
                      <a:pt x="0" y="39892"/>
                      <a:pt x="32339" y="72231"/>
                      <a:pt x="72231" y="72231"/>
                    </a:cubicBezTo>
                    <a:cubicBezTo>
                      <a:pt x="112123" y="72231"/>
                      <a:pt x="144462" y="39892"/>
                      <a:pt x="144462" y="0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35000" y="3074193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6275" y="30329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9254" y="2918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95500" y="2705100"/>
              <a:ext cx="3619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60854" y="28994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麦克风对话、语音需求输入、语音汇报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61616" y="31823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说话排期、路上汇报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0" y="2705100"/>
              <a:ext cx="3429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80354" y="2975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说话排期、路上汇报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2705100"/>
              <a:ext cx="2667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10116" y="299180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/api/realtime/voice-chat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1000" y="3409950"/>
            <a:ext cx="11430000" cy="704850"/>
            <a:chOff x="381000" y="3409950"/>
            <a:chExt cx="11430000" cy="704850"/>
          </a:xfrm>
        </p:grpSpPr>
        <p:sp>
          <p:nvSpPr>
            <p:cNvPr id="45" name="Rectangle 45"/>
            <p:cNvSpPr/>
            <p:nvPr/>
          </p:nvSpPr>
          <p:spPr>
            <a:xfrm>
              <a:off x="381000" y="3409950"/>
              <a:ext cx="1714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3406" y="3603625"/>
              <a:ext cx="185737" cy="165099"/>
              <a:chOff x="583406" y="3603625"/>
              <a:chExt cx="185737" cy="16509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83406" y="3603625"/>
                <a:ext cx="185737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099">
                    <a:moveTo>
                      <a:pt x="20637" y="30956"/>
                    </a:moveTo>
                    <a:lnTo>
                      <a:pt x="30956" y="30956"/>
                    </a:lnTo>
                    <a:cubicBezTo>
                      <a:pt x="42354" y="30956"/>
                      <a:pt x="51594" y="21716"/>
                      <a:pt x="51594" y="10319"/>
                    </a:cubicBezTo>
                    <a:cubicBezTo>
                      <a:pt x="51594" y="4620"/>
                      <a:pt x="56213" y="0"/>
                      <a:pt x="61912" y="0"/>
                    </a:cubicBezTo>
                    <a:lnTo>
                      <a:pt x="123825" y="0"/>
                    </a:lnTo>
                    <a:cubicBezTo>
                      <a:pt x="129523" y="0"/>
                      <a:pt x="134143" y="4620"/>
                      <a:pt x="134143" y="10319"/>
                    </a:cubicBezTo>
                    <a:cubicBezTo>
                      <a:pt x="134143" y="21716"/>
                      <a:pt x="143383" y="30956"/>
                      <a:pt x="154781" y="30956"/>
                    </a:cubicBezTo>
                    <a:lnTo>
                      <a:pt x="165099" y="30956"/>
                    </a:lnTo>
                    <a:cubicBezTo>
                      <a:pt x="176497" y="30956"/>
                      <a:pt x="185737" y="40196"/>
                      <a:pt x="185737" y="51594"/>
                    </a:cubicBezTo>
                    <a:lnTo>
                      <a:pt x="185737" y="144462"/>
                    </a:lnTo>
                    <a:cubicBezTo>
                      <a:pt x="185737" y="155860"/>
                      <a:pt x="176497" y="165099"/>
                      <a:pt x="165099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51594"/>
                    </a:lnTo>
                    <a:cubicBezTo>
                      <a:pt x="0" y="40196"/>
                      <a:pt x="9240" y="30956"/>
                      <a:pt x="20637" y="3095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5318" y="3665537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cubicBezTo>
                      <a:pt x="0" y="48053"/>
                      <a:pt x="13860" y="61912"/>
                      <a:pt x="30956" y="61912"/>
                    </a:cubicBez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60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89254" y="36233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095500" y="34099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260854" y="3604260"/>
              <a:ext cx="300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拍照需求、白板 / 截图 / 扫描 PDF 理解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61616" y="38871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无文字流程图也能理解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0" y="3409950"/>
              <a:ext cx="3429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80354" y="3680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拍照立项、白板进拆解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144000" y="34099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310116" y="369665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/api/analyze-files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1000" y="4114800"/>
            <a:ext cx="11430000" cy="704850"/>
            <a:chOff x="381000" y="4114800"/>
            <a:chExt cx="11430000" cy="704850"/>
          </a:xfrm>
        </p:grpSpPr>
        <p:sp>
          <p:nvSpPr>
            <p:cNvPr id="58" name="Rectangle 58"/>
            <p:cNvSpPr/>
            <p:nvPr/>
          </p:nvSpPr>
          <p:spPr>
            <a:xfrm>
              <a:off x="381000" y="4114800"/>
              <a:ext cx="1714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83406" y="4329112"/>
              <a:ext cx="185737" cy="123825"/>
              <a:chOff x="583406" y="4329112"/>
              <a:chExt cx="185737" cy="1238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07231" y="4345304"/>
                <a:ext cx="61912" cy="9144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1442">
                    <a:moveTo>
                      <a:pt x="0" y="25083"/>
                    </a:moveTo>
                    <a:lnTo>
                      <a:pt x="46981" y="1598"/>
                    </a:lnTo>
                    <a:cubicBezTo>
                      <a:pt x="50179" y="0"/>
                      <a:pt x="53976" y="171"/>
                      <a:pt x="57017" y="2050"/>
                    </a:cubicBezTo>
                    <a:cubicBezTo>
                      <a:pt x="60058" y="3929"/>
                      <a:pt x="61910" y="7248"/>
                      <a:pt x="61912" y="10823"/>
                    </a:cubicBezTo>
                    <a:lnTo>
                      <a:pt x="61912" y="80619"/>
                    </a:lnTo>
                    <a:cubicBezTo>
                      <a:pt x="61910" y="84194"/>
                      <a:pt x="60058" y="87513"/>
                      <a:pt x="57017" y="89392"/>
                    </a:cubicBezTo>
                    <a:cubicBezTo>
                      <a:pt x="53976" y="91271"/>
                      <a:pt x="50179" y="91442"/>
                      <a:pt x="46981" y="89844"/>
                    </a:cubicBezTo>
                    <a:lnTo>
                      <a:pt x="0" y="66358"/>
                    </a:lnTo>
                    <a:lnTo>
                      <a:pt x="0" y="2508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83406" y="43291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  <a:cubicBezTo>
                      <a:pt x="123825" y="114585"/>
                      <a:pt x="114585" y="123825"/>
                      <a:pt x="103187" y="123825"/>
                    </a:cubicBezTo>
                    <a:lnTo>
                      <a:pt x="20637" y="123825"/>
                    </a:lnTo>
                    <a:cubicBezTo>
                      <a:pt x="9240" y="123825"/>
                      <a:pt x="0" y="114585"/>
                      <a:pt x="0" y="103187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89254" y="43281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095500" y="4114800"/>
              <a:ext cx="3619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260854" y="4309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会议录像边看边听、答辩录像表现观察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261616" y="45920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抽帧 + 抽音频分别理解后合并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715000" y="4114800"/>
              <a:ext cx="3429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80354" y="4385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会议旁听整理任务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44000" y="4114800"/>
              <a:ext cx="2667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10116" y="4401502"/>
              <a:ext cx="1558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/api/realtime/meeting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81000" y="4819650"/>
            <a:ext cx="11430000" cy="704850"/>
            <a:chOff x="381000" y="4819650"/>
            <a:chExt cx="11430000" cy="704850"/>
          </a:xfrm>
        </p:grpSpPr>
        <p:sp>
          <p:nvSpPr>
            <p:cNvPr id="71" name="Rectangle 71"/>
            <p:cNvSpPr/>
            <p:nvPr/>
          </p:nvSpPr>
          <p:spPr>
            <a:xfrm>
              <a:off x="381000" y="4819650"/>
              <a:ext cx="1714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83406" y="5013144"/>
              <a:ext cx="186182" cy="165461"/>
              <a:chOff x="583406" y="5013144"/>
              <a:chExt cx="186182" cy="16546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07231" y="5054600"/>
                <a:ext cx="20637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82550">
                    <a:moveTo>
                      <a:pt x="0" y="0"/>
                    </a:moveTo>
                    <a:cubicBezTo>
                      <a:pt x="12992" y="9744"/>
                      <a:pt x="20637" y="25035"/>
                      <a:pt x="20637" y="41275"/>
                    </a:cubicBezTo>
                    <a:cubicBezTo>
                      <a:pt x="20637" y="57514"/>
                      <a:pt x="12992" y="72806"/>
                      <a:pt x="0" y="82550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35091" y="5023644"/>
                <a:ext cx="3449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34497" h="144462">
                    <a:moveTo>
                      <a:pt x="0" y="0"/>
                    </a:moveTo>
                    <a:cubicBezTo>
                      <a:pt x="21818" y="17631"/>
                      <a:pt x="34497" y="44180"/>
                      <a:pt x="34497" y="72231"/>
                    </a:cubicBezTo>
                    <a:cubicBezTo>
                      <a:pt x="34497" y="100282"/>
                      <a:pt x="21818" y="126831"/>
                      <a:pt x="0" y="144462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83406" y="5013144"/>
                <a:ext cx="83231" cy="165461"/>
              </a:xfrm>
              <a:custGeom>
                <a:avLst/>
                <a:gdLst/>
                <a:ahLst/>
                <a:cxnLst/>
                <a:rect l="l" t="t" r="r" b="b"/>
                <a:pathLst>
                  <a:path w="83231" h="165461">
                    <a:moveTo>
                      <a:pt x="30956" y="113687"/>
                    </a:moveTo>
                    <a:lnTo>
                      <a:pt x="10319" y="113687"/>
                    </a:lnTo>
                    <a:cubicBezTo>
                      <a:pt x="4620" y="113687"/>
                      <a:pt x="0" y="109067"/>
                      <a:pt x="0" y="103368"/>
                    </a:cubicBezTo>
                    <a:lnTo>
                      <a:pt x="0" y="62093"/>
                    </a:lnTo>
                    <a:cubicBezTo>
                      <a:pt x="0" y="56394"/>
                      <a:pt x="4620" y="51774"/>
                      <a:pt x="10319" y="51774"/>
                    </a:cubicBezTo>
                    <a:lnTo>
                      <a:pt x="30956" y="51774"/>
                    </a:lnTo>
                    <a:lnTo>
                      <a:pt x="67072" y="5340"/>
                    </a:lnTo>
                    <a:cubicBezTo>
                      <a:pt x="68935" y="1721"/>
                      <a:pt x="73159" y="0"/>
                      <a:pt x="77022" y="1287"/>
                    </a:cubicBezTo>
                    <a:cubicBezTo>
                      <a:pt x="80884" y="2575"/>
                      <a:pt x="83231" y="6486"/>
                      <a:pt x="82550" y="10500"/>
                    </a:cubicBezTo>
                    <a:lnTo>
                      <a:pt x="82550" y="154962"/>
                    </a:lnTo>
                    <a:cubicBezTo>
                      <a:pt x="83231" y="158975"/>
                      <a:pt x="80884" y="162886"/>
                      <a:pt x="77022" y="164174"/>
                    </a:cubicBezTo>
                    <a:cubicBezTo>
                      <a:pt x="73159" y="165461"/>
                      <a:pt x="68935" y="163741"/>
                      <a:pt x="67072" y="160121"/>
                    </a:cubicBezTo>
                    <a:lnTo>
                      <a:pt x="30956" y="11368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889254" y="50330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095500" y="48196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260854" y="50139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语音回复开关与重听、今日播报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261616" y="5296852"/>
              <a:ext cx="1541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朗读今日待办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715000" y="4819650"/>
              <a:ext cx="3429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80354" y="5090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今日待办播报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144000" y="48196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310116" y="510635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/api/realtime/tts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381000" y="5772150"/>
            <a:ext cx="11430000" cy="495300"/>
            <a:chOff x="381000" y="5772150"/>
            <a:chExt cx="11430000" cy="495300"/>
          </a:xfrm>
        </p:grpSpPr>
        <p:sp>
          <p:nvSpPr>
            <p:cNvPr id="85" name="Rectangle 85"/>
            <p:cNvSpPr/>
            <p:nvPr/>
          </p:nvSpPr>
          <p:spPr>
            <a:xfrm>
              <a:off x="381000" y="577215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92150" y="5975350"/>
              <a:ext cx="187326" cy="88900"/>
              <a:chOff x="692150" y="5975350"/>
              <a:chExt cx="187326" cy="889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92150" y="603091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81050" y="597535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69951" y="59753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92150" y="597535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654" y="596646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每种模态都有对应接口与真实协作动作，全模态能力落进工作流而非停留在演示。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93" name="TextBox 9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5668861" cy="1015365"/>
            <a:chOff x="747522" y="1851660"/>
            <a:chExt cx="566886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107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04 / 创新点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四个创新点，回答四个关键问题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54380" y="3609975"/>
            <a:ext cx="4750365" cy="1893570"/>
            <a:chOff x="754380" y="3609975"/>
            <a:chExt cx="4750365" cy="1893570"/>
          </a:xfrm>
        </p:grpSpPr>
        <p:sp>
          <p:nvSpPr>
            <p:cNvPr id="7" name="TextBox 7"/>
            <p:cNvSpPr txBox="1"/>
            <p:nvPr/>
          </p:nvSpPr>
          <p:spPr>
            <a:xfrm>
              <a:off x="754380" y="3609975"/>
              <a:ext cx="4312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全模态从“聊天”进入真实协作流程（P19）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4143375"/>
              <a:ext cx="4355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LLM 创造 × 算法正确的确定性保证（P20）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676775"/>
              <a:ext cx="40782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完整协作闭环与全环节故障兜底（P21）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5210175"/>
              <a:ext cx="4750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昇腾本地 + 云端双后端统一适配与合规（P22）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P18–P22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18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创新点一：把多模态模型变成协作流程的入口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28775"/>
            <a:ext cx="8606790" cy="826770"/>
            <a:chOff x="373380" y="1628775"/>
            <a:chExt cx="8606790" cy="8267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28775"/>
              <a:ext cx="86067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先看一个常见的现状：市面上几乎所有多模态应用，都把模型放在聊天框里——你问它问题，它回答你，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然后就没有然后了。图片识别、语音转写、视频理解都是一个个孤立的按钮，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结果永远不会变成团队下一步要做的事。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2552700"/>
            <a:ext cx="5619750" cy="1238250"/>
            <a:chOff x="381000" y="2552700"/>
            <a:chExt cx="5619750" cy="1238250"/>
          </a:xfrm>
        </p:grpSpPr>
        <p:sp>
          <p:nvSpPr>
            <p:cNvPr id="9" name="Rectangle 9"/>
            <p:cNvSpPr/>
            <p:nvPr/>
          </p:nvSpPr>
          <p:spPr>
            <a:xfrm>
              <a:off x="381000" y="2552700"/>
              <a:ext cx="5619750" cy="1238250"/>
            </a:xfrm>
            <a:prstGeom prst="roundRect">
              <a:avLst>
                <a:gd name="adj" fmla="val 307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69131" y="2835275"/>
              <a:ext cx="242888" cy="215901"/>
              <a:chOff x="669131" y="2835275"/>
              <a:chExt cx="242888" cy="2159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69131" y="2835275"/>
                <a:ext cx="242888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5901">
                    <a:moveTo>
                      <a:pt x="26988" y="40481"/>
                    </a:moveTo>
                    <a:lnTo>
                      <a:pt x="40481" y="40481"/>
                    </a:lnTo>
                    <a:cubicBezTo>
                      <a:pt x="55386" y="40481"/>
                      <a:pt x="67469" y="28399"/>
                      <a:pt x="67469" y="13494"/>
                    </a:cubicBezTo>
                    <a:cubicBezTo>
                      <a:pt x="67469" y="6041"/>
                      <a:pt x="73510" y="0"/>
                      <a:pt x="80963" y="0"/>
                    </a:cubicBezTo>
                    <a:lnTo>
                      <a:pt x="161925" y="0"/>
                    </a:lnTo>
                    <a:cubicBezTo>
                      <a:pt x="169378" y="0"/>
                      <a:pt x="175419" y="6041"/>
                      <a:pt x="175419" y="13494"/>
                    </a:cubicBezTo>
                    <a:cubicBezTo>
                      <a:pt x="175419" y="28399"/>
                      <a:pt x="187502" y="40481"/>
                      <a:pt x="202407" y="40481"/>
                    </a:cubicBezTo>
                    <a:lnTo>
                      <a:pt x="215901" y="40481"/>
                    </a:lnTo>
                    <a:cubicBezTo>
                      <a:pt x="230805" y="40481"/>
                      <a:pt x="242888" y="52564"/>
                      <a:pt x="242888" y="67469"/>
                    </a:cubicBezTo>
                    <a:lnTo>
                      <a:pt x="242888" y="188913"/>
                    </a:lnTo>
                    <a:cubicBezTo>
                      <a:pt x="242888" y="203818"/>
                      <a:pt x="230805" y="215901"/>
                      <a:pt x="215901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67469"/>
                    </a:lnTo>
                    <a:cubicBezTo>
                      <a:pt x="0" y="52564"/>
                      <a:pt x="12083" y="40481"/>
                      <a:pt x="26988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50094" y="2916238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16330" y="2847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2935" y="3269456"/>
              <a:ext cx="442087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白板、截图、手绘拍下来直接进入任务拆解；系统理解的不只是文字，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还有图表、流程和界面，并把它们转化成项目需求。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91250" y="2552700"/>
            <a:ext cx="5619750" cy="1238250"/>
            <a:chOff x="6191250" y="2552700"/>
            <a:chExt cx="5619750" cy="1238250"/>
          </a:xfrm>
        </p:grpSpPr>
        <p:sp>
          <p:nvSpPr>
            <p:cNvPr id="16" name="Rectangle 16"/>
            <p:cNvSpPr/>
            <p:nvPr/>
          </p:nvSpPr>
          <p:spPr>
            <a:xfrm>
              <a:off x="6191250" y="2552700"/>
              <a:ext cx="5619750" cy="1238250"/>
            </a:xfrm>
            <a:prstGeom prst="roundRect">
              <a:avLst>
                <a:gd name="adj" fmla="val 307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06369" y="2808288"/>
              <a:ext cx="188913" cy="265906"/>
              <a:chOff x="6506369" y="2808288"/>
              <a:chExt cx="188913" cy="2659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560344" y="2808288"/>
                <a:ext cx="80963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48432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9" y="0"/>
                      <a:pt x="80963" y="18124"/>
                      <a:pt x="80963" y="40481"/>
                    </a:cubicBezTo>
                    <a:lnTo>
                      <a:pt x="80963" y="107950"/>
                    </a:lnTo>
                    <a:cubicBezTo>
                      <a:pt x="80963" y="130307"/>
                      <a:pt x="62839" y="148432"/>
                      <a:pt x="40481" y="148432"/>
                    </a:cubicBezTo>
                    <a:cubicBezTo>
                      <a:pt x="18124" y="148432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506369" y="2916238"/>
                <a:ext cx="188913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3" y="52167"/>
                      <a:pt x="188913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46850" y="30646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00825" y="30106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926580" y="2847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3185" y="3269456"/>
              <a:ext cx="48475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录音直接交给模型，听懂后生成任务草案；不需要先转写、再复制、再粘贴，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说完就开始了。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81000" y="3981450"/>
            <a:ext cx="5619750" cy="1238250"/>
            <a:chOff x="381000" y="3981450"/>
            <a:chExt cx="56197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381000" y="3981450"/>
              <a:ext cx="5619750" cy="1238250"/>
            </a:xfrm>
            <a:prstGeom prst="roundRect">
              <a:avLst>
                <a:gd name="adj" fmla="val 307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69131" y="4291013"/>
              <a:ext cx="242889" cy="161925"/>
              <a:chOff x="669131" y="4291013"/>
              <a:chExt cx="242889" cy="1619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1057" y="4312186"/>
                <a:ext cx="80963" cy="11957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578">
                    <a:moveTo>
                      <a:pt x="0" y="32801"/>
                    </a:moveTo>
                    <a:lnTo>
                      <a:pt x="61437" y="2090"/>
                    </a:lnTo>
                    <a:cubicBezTo>
                      <a:pt x="65619" y="0"/>
                      <a:pt x="70584" y="224"/>
                      <a:pt x="74561" y="2681"/>
                    </a:cubicBezTo>
                    <a:cubicBezTo>
                      <a:pt x="78538" y="5138"/>
                      <a:pt x="80960" y="9478"/>
                      <a:pt x="80963" y="14153"/>
                    </a:cubicBezTo>
                    <a:lnTo>
                      <a:pt x="80963" y="105425"/>
                    </a:lnTo>
                    <a:cubicBezTo>
                      <a:pt x="80960" y="110100"/>
                      <a:pt x="78538" y="114440"/>
                      <a:pt x="74561" y="116897"/>
                    </a:cubicBezTo>
                    <a:cubicBezTo>
                      <a:pt x="70584" y="119354"/>
                      <a:pt x="65619" y="119578"/>
                      <a:pt x="61437" y="117488"/>
                    </a:cubicBezTo>
                    <a:lnTo>
                      <a:pt x="0" y="86777"/>
                    </a:lnTo>
                    <a:lnTo>
                      <a:pt x="0" y="3280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9131" y="4291013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116330" y="4276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会议旁听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935" y="4698206"/>
              <a:ext cx="31407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会议录像边看边听：画面和声音分别理解后合并，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自动整理成要点、任务和风险。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91250" y="3981450"/>
            <a:ext cx="5619750" cy="1238250"/>
            <a:chOff x="6191250" y="3981450"/>
            <a:chExt cx="5619750" cy="1238250"/>
          </a:xfrm>
        </p:grpSpPr>
        <p:sp>
          <p:nvSpPr>
            <p:cNvPr id="32" name="Rectangle 32"/>
            <p:cNvSpPr/>
            <p:nvPr/>
          </p:nvSpPr>
          <p:spPr>
            <a:xfrm>
              <a:off x="6191250" y="3981450"/>
              <a:ext cx="5619750" cy="1238250"/>
            </a:xfrm>
            <a:prstGeom prst="roundRect">
              <a:avLst>
                <a:gd name="adj" fmla="val 307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79381" y="4263789"/>
              <a:ext cx="243471" cy="216373"/>
              <a:chOff x="6479381" y="4263789"/>
              <a:chExt cx="243471" cy="21637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641307" y="4318000"/>
                <a:ext cx="269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07950">
                    <a:moveTo>
                      <a:pt x="0" y="0"/>
                    </a:moveTo>
                    <a:cubicBezTo>
                      <a:pt x="16989" y="12742"/>
                      <a:pt x="26988" y="32739"/>
                      <a:pt x="26988" y="53975"/>
                    </a:cubicBezTo>
                    <a:cubicBezTo>
                      <a:pt x="26988" y="75211"/>
                      <a:pt x="16989" y="95208"/>
                      <a:pt x="0" y="10795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77740" y="4277519"/>
                <a:ext cx="45112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5112" h="188913">
                    <a:moveTo>
                      <a:pt x="0" y="0"/>
                    </a:moveTo>
                    <a:cubicBezTo>
                      <a:pt x="28531" y="23057"/>
                      <a:pt x="45112" y="57774"/>
                      <a:pt x="45112" y="94456"/>
                    </a:cubicBezTo>
                    <a:cubicBezTo>
                      <a:pt x="45112" y="131139"/>
                      <a:pt x="28531" y="165856"/>
                      <a:pt x="0" y="188913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79381" y="4263789"/>
                <a:ext cx="108841" cy="216373"/>
              </a:xfrm>
              <a:custGeom>
                <a:avLst/>
                <a:gdLst/>
                <a:ahLst/>
                <a:cxnLst/>
                <a:rect l="l" t="t" r="r" b="b"/>
                <a:pathLst>
                  <a:path w="108841" h="216373">
                    <a:moveTo>
                      <a:pt x="40481" y="148668"/>
                    </a:moveTo>
                    <a:lnTo>
                      <a:pt x="13494" y="148668"/>
                    </a:lnTo>
                    <a:cubicBezTo>
                      <a:pt x="6041" y="148668"/>
                      <a:pt x="0" y="142627"/>
                      <a:pt x="0" y="135174"/>
                    </a:cubicBezTo>
                    <a:lnTo>
                      <a:pt x="0" y="81199"/>
                    </a:lnTo>
                    <a:cubicBezTo>
                      <a:pt x="0" y="73747"/>
                      <a:pt x="6041" y="67705"/>
                      <a:pt x="13494" y="67705"/>
                    </a:cubicBezTo>
                    <a:lnTo>
                      <a:pt x="40481" y="67705"/>
                    </a:lnTo>
                    <a:lnTo>
                      <a:pt x="87710" y="6983"/>
                    </a:lnTo>
                    <a:cubicBezTo>
                      <a:pt x="90146" y="2250"/>
                      <a:pt x="95670" y="0"/>
                      <a:pt x="100721" y="1684"/>
                    </a:cubicBezTo>
                    <a:cubicBezTo>
                      <a:pt x="105772" y="3367"/>
                      <a:pt x="108841" y="8481"/>
                      <a:pt x="107950" y="13730"/>
                    </a:cubicBezTo>
                    <a:lnTo>
                      <a:pt x="107950" y="202643"/>
                    </a:lnTo>
                    <a:cubicBezTo>
                      <a:pt x="108841" y="207892"/>
                      <a:pt x="105772" y="213006"/>
                      <a:pt x="100721" y="214690"/>
                    </a:cubicBezTo>
                    <a:cubicBezTo>
                      <a:pt x="95670" y="216373"/>
                      <a:pt x="90146" y="214123"/>
                      <a:pt x="87710" y="209390"/>
                    </a:cubicBezTo>
                    <a:lnTo>
                      <a:pt x="40481" y="14866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26580" y="4276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答辩直连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3185" y="4698206"/>
              <a:ext cx="38519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评委的语音、视频点评直接对话，答辩录像附逐帧表现观察，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现场就能得到反馈。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5410200"/>
            <a:ext cx="11430000" cy="1362456"/>
            <a:chOff x="381000" y="5410200"/>
            <a:chExt cx="11430000" cy="1362456"/>
          </a:xfrm>
        </p:grpSpPr>
        <p:sp>
          <p:nvSpPr>
            <p:cNvPr id="40" name="Rectangle 40"/>
            <p:cNvSpPr/>
            <p:nvPr/>
          </p:nvSpPr>
          <p:spPr>
            <a:xfrm>
              <a:off x="381000" y="5410200"/>
              <a:ext cx="11430000" cy="1066800"/>
            </a:xfrm>
            <a:prstGeom prst="roundRect">
              <a:avLst>
                <a:gd name="adj" fmla="val 357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12656" y="5660231"/>
              <a:ext cx="232012" cy="241404"/>
              <a:chOff x="712656" y="5660231"/>
              <a:chExt cx="232012" cy="24140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47713" y="56602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3"/>
                    </a:moveTo>
                    <a:cubicBezTo>
                      <a:pt x="0" y="125677"/>
                      <a:pt x="36248" y="161925"/>
                      <a:pt x="80963" y="161925"/>
                    </a:cubicBezTo>
                    <a:cubicBezTo>
                      <a:pt x="125677" y="161925"/>
                      <a:pt x="161925" y="125677"/>
                      <a:pt x="161925" y="80963"/>
                    </a:cubicBezTo>
                    <a:cubicBezTo>
                      <a:pt x="161925" y="36248"/>
                      <a:pt x="125677" y="0"/>
                      <a:pt x="80963" y="0"/>
                    </a:cubicBezTo>
                    <a:cubicBezTo>
                      <a:pt x="36248" y="0"/>
                      <a:pt x="0" y="36248"/>
                      <a:pt x="0" y="80963"/>
                    </a:cubicBezTo>
                  </a:path>
                </a:pathLst>
              </a:custGeom>
              <a:noFill/>
              <a:ln w="26988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8675" y="5781675"/>
                <a:ext cx="115993" cy="119960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60">
                    <a:moveTo>
                      <a:pt x="0" y="40481"/>
                    </a:moveTo>
                    <a:lnTo>
                      <a:pt x="45879" y="119960"/>
                    </a:lnTo>
                    <a:lnTo>
                      <a:pt x="67442" y="76334"/>
                    </a:lnTo>
                    <a:lnTo>
                      <a:pt x="115993" y="79465"/>
                    </a:lnTo>
                    <a:lnTo>
                      <a:pt x="70114" y="0"/>
                    </a:lnTo>
                  </a:path>
                </a:pathLst>
              </a:custGeom>
              <a:noFill/>
              <a:ln w="26988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2656" y="5781675"/>
                <a:ext cx="115993" cy="119946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46">
                    <a:moveTo>
                      <a:pt x="45879" y="0"/>
                    </a:moveTo>
                    <a:lnTo>
                      <a:pt x="0" y="79478"/>
                    </a:lnTo>
                    <a:lnTo>
                      <a:pt x="48551" y="76334"/>
                    </a:lnTo>
                    <a:lnTo>
                      <a:pt x="70114" y="119946"/>
                    </a:lnTo>
                    <a:lnTo>
                      <a:pt x="115993" y="40481"/>
                    </a:lnTo>
                  </a:path>
                </a:pathLst>
              </a:custGeom>
              <a:noFill/>
              <a:ln w="26988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55573" y="57107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为什么这是创新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0654" y="6042660"/>
              <a:ext cx="5498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这些能力的共同点，是模型每一次输出都落到工作流的下一个动作上——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要么变成任务、要么变成排期、要么变成汇报。多模态能力第一次不是附加功能，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而是协作这件事的入口。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8" name="TextBox 48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创新点二：确定性正确性保证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28775"/>
            <a:ext cx="7092315" cy="826770"/>
            <a:chOff x="373380" y="1628775"/>
            <a:chExt cx="7092315" cy="8267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28775"/>
              <a:ext cx="70923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规划工具最大的问题是输出不稳定：同一个需求，模型这次给三周、下次给五天；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今天推荐的负责人和明天不一样。计划是要拿来执行的，不确定性就是成本。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所以我们把架构拆成两半——模型负责创造，算法负责正确。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" y="2628900"/>
            <a:ext cx="5334000" cy="2476500"/>
            <a:chOff x="381000" y="2628900"/>
            <a:chExt cx="5334000" cy="2476500"/>
          </a:xfrm>
        </p:grpSpPr>
        <p:sp>
          <p:nvSpPr>
            <p:cNvPr id="9" name="Rectangle 9"/>
            <p:cNvSpPr/>
            <p:nvPr/>
          </p:nvSpPr>
          <p:spPr>
            <a:xfrm>
              <a:off x="381000" y="2628900"/>
              <a:ext cx="5334000" cy="2476500"/>
            </a:xfrm>
            <a:prstGeom prst="roundRect">
              <a:avLst>
                <a:gd name="adj" fmla="val 153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2628900"/>
              <a:ext cx="5334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7231" y="2987675"/>
              <a:ext cx="229394" cy="215901"/>
            </a:xfrm>
            <a:custGeom>
              <a:avLst/>
              <a:gdLst/>
              <a:ahLst/>
              <a:cxnLst/>
              <a:rect l="l" t="t" r="r" b="b"/>
              <a:pathLst>
                <a:path w="229394" h="215901">
                  <a:moveTo>
                    <a:pt x="175419" y="188913"/>
                  </a:moveTo>
                  <a:cubicBezTo>
                    <a:pt x="190324" y="188913"/>
                    <a:pt x="202407" y="200996"/>
                    <a:pt x="202407" y="215901"/>
                  </a:cubicBezTo>
                  <a:cubicBezTo>
                    <a:pt x="202407" y="200996"/>
                    <a:pt x="214489" y="188913"/>
                    <a:pt x="229394" y="188913"/>
                  </a:cubicBezTo>
                  <a:cubicBezTo>
                    <a:pt x="214489" y="188913"/>
                    <a:pt x="202407" y="176830"/>
                    <a:pt x="202407" y="161925"/>
                  </a:cubicBezTo>
                  <a:cubicBezTo>
                    <a:pt x="202407" y="176830"/>
                    <a:pt x="190324" y="188913"/>
                    <a:pt x="175419" y="188913"/>
                  </a:cubicBezTo>
                  <a:moveTo>
                    <a:pt x="175419" y="26988"/>
                  </a:moveTo>
                  <a:cubicBezTo>
                    <a:pt x="190324" y="26988"/>
                    <a:pt x="202407" y="39070"/>
                    <a:pt x="202407" y="53975"/>
                  </a:cubicBezTo>
                  <a:cubicBezTo>
                    <a:pt x="202407" y="39070"/>
                    <a:pt x="214489" y="26988"/>
                    <a:pt x="229394" y="26988"/>
                  </a:cubicBezTo>
                  <a:cubicBezTo>
                    <a:pt x="214489" y="26988"/>
                    <a:pt x="202407" y="14905"/>
                    <a:pt x="202407" y="0"/>
                  </a:cubicBezTo>
                  <a:cubicBezTo>
                    <a:pt x="202407" y="14905"/>
                    <a:pt x="190324" y="26988"/>
                    <a:pt x="175419" y="26988"/>
                  </a:cubicBezTo>
                  <a:moveTo>
                    <a:pt x="80963" y="188913"/>
                  </a:moveTo>
                  <a:cubicBezTo>
                    <a:pt x="80963" y="144198"/>
                    <a:pt x="117211" y="107950"/>
                    <a:pt x="161925" y="107950"/>
                  </a:cubicBezTo>
                  <a:cubicBezTo>
                    <a:pt x="117211" y="107950"/>
                    <a:pt x="80963" y="71702"/>
                    <a:pt x="80963" y="26988"/>
                  </a:cubicBezTo>
                  <a:cubicBezTo>
                    <a:pt x="80963" y="71702"/>
                    <a:pt x="44714" y="107950"/>
                    <a:pt x="0" y="107950"/>
                  </a:cubicBezTo>
                  <a:cubicBezTo>
                    <a:pt x="44714" y="107950"/>
                    <a:pt x="80963" y="144198"/>
                    <a:pt x="80963" y="188913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4618" y="2984182"/>
              <a:ext cx="1532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0654" y="3470910"/>
              <a:ext cx="3974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理解自然语言需求、拆解任务、给出工时建议、组织报告、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提出批判性审查建议——这些没有唯一正确答案，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适合大模型发挥。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77000" y="2628900"/>
            <a:ext cx="5334000" cy="2476500"/>
            <a:chOff x="6477000" y="2628900"/>
            <a:chExt cx="5334000" cy="2476500"/>
          </a:xfrm>
        </p:grpSpPr>
        <p:sp>
          <p:nvSpPr>
            <p:cNvPr id="15" name="Rectangle 15"/>
            <p:cNvSpPr/>
            <p:nvPr/>
          </p:nvSpPr>
          <p:spPr>
            <a:xfrm>
              <a:off x="6477000" y="2628900"/>
              <a:ext cx="5334000" cy="2476500"/>
            </a:xfrm>
            <a:prstGeom prst="roundRect">
              <a:avLst>
                <a:gd name="adj" fmla="val 153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77000" y="2628900"/>
              <a:ext cx="5334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16725" y="2987675"/>
              <a:ext cx="215901" cy="215901"/>
              <a:chOff x="6816725" y="2987675"/>
              <a:chExt cx="215901" cy="21590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816725" y="30416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843713" y="2987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43713" y="309562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97688" y="312261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924675" y="298767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924675" y="317658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78651" y="3001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05638" y="298767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05638" y="305514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230618" y="29841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确定性算法负责正确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56654" y="3470910"/>
              <a:ext cx="3974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关键路径与浮动、技能评分、负载均衡、依赖校验、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跳过周末与不可用日的日期约束——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这些必须精确、可复现，绝不能依赖模型输出的偶然正确。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0" y="3143250"/>
            <a:ext cx="762000" cy="857250"/>
            <a:chOff x="5715000" y="3143250"/>
            <a:chExt cx="762000" cy="857250"/>
          </a:xfrm>
        </p:grpSpPr>
        <p:sp>
          <p:nvSpPr>
            <p:cNvPr id="30" name="Rectangle 30"/>
            <p:cNvSpPr/>
            <p:nvPr/>
          </p:nvSpPr>
          <p:spPr>
            <a:xfrm>
              <a:off x="5715000" y="3143250"/>
              <a:ext cx="762000" cy="857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20283" y="34423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49315" y="3696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明确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1000" y="5334000"/>
            <a:ext cx="11430000" cy="1066800"/>
            <a:chOff x="381000" y="5334000"/>
            <a:chExt cx="114300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381000" y="5334000"/>
              <a:ext cx="11430000" cy="1066800"/>
            </a:xfrm>
            <a:prstGeom prst="roundRect">
              <a:avLst>
                <a:gd name="adj" fmla="val 3571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9021" y="5584031"/>
              <a:ext cx="263510" cy="242888"/>
              <a:chOff x="689021" y="5584031"/>
              <a:chExt cx="263510" cy="2428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89021" y="55840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69157" y="57729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155192" y="5607368"/>
              <a:ext cx="3753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这相当于给 AI 规划加了一条“算法安全带”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654" y="6023610"/>
              <a:ext cx="8452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模型发挥创造，算法保证正确；任何 LLM 环节失败都自动切到确定性规则，断网、模型离线时主链路依然完整。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创新点三：完整闭环，任何环节失败都有兜底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28775"/>
            <a:ext cx="7978140" cy="826770"/>
            <a:chOff x="373380" y="1628775"/>
            <a:chExt cx="7978140" cy="8267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28775"/>
              <a:ext cx="79781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很多作品是一个漂亮的单点 Demo：识别很准、语音很流畅，但离“能解决一个问题”还差很远；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评审时最怕的，是演示到一半模型不可用。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所以我们做的不是单点，而是一条闭环，并给每一环都准备了确定性兜底。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1000" y="2590800"/>
            <a:ext cx="2571750" cy="952500"/>
            <a:chOff x="381000" y="2590800"/>
            <a:chExt cx="2571750" cy="952500"/>
          </a:xfrm>
        </p:grpSpPr>
        <p:sp>
          <p:nvSpPr>
            <p:cNvPr id="9" name="Rectangle 9"/>
            <p:cNvSpPr/>
            <p:nvPr/>
          </p:nvSpPr>
          <p:spPr>
            <a:xfrm>
              <a:off x="381000" y="2590800"/>
              <a:ext cx="2571750" cy="952500"/>
            </a:xfrm>
            <a:prstGeom prst="roundRect">
              <a:avLst>
                <a:gd name="adj" fmla="val 3000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65163" y="2776538"/>
              <a:ext cx="155575" cy="200026"/>
              <a:chOff x="665163" y="2776538"/>
              <a:chExt cx="155575" cy="20002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65163" y="2798763"/>
                <a:ext cx="1555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1">
                    <a:moveTo>
                      <a:pt x="44450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33350" y="177801"/>
                    </a:lnTo>
                    <a:cubicBezTo>
                      <a:pt x="145625" y="177801"/>
                      <a:pt x="155575" y="167850"/>
                      <a:pt x="155575" y="15557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09613" y="27765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cubicBezTo>
                      <a:pt x="66675" y="34500"/>
                      <a:pt x="56725" y="44450"/>
                      <a:pt x="44450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9613" y="2876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54063" y="287655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09613" y="29210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54063" y="2921001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64692" y="2787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计划生成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4266" y="31823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· 排期 · 分工 · 报告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52750" y="3095625"/>
            <a:ext cx="228600" cy="1"/>
            <a:chOff x="2952750" y="3095625"/>
            <a:chExt cx="228600" cy="1"/>
          </a:xfrm>
        </p:grpSpPr>
        <p:sp>
          <p:nvSpPr>
            <p:cNvPr id="20" name="Line 20"/>
            <p:cNvSpPr/>
            <p:nvPr/>
          </p:nvSpPr>
          <p:spPr>
            <a:xfrm>
              <a:off x="2952750" y="3095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219450" y="2590800"/>
            <a:ext cx="2571750" cy="952500"/>
            <a:chOff x="3219450" y="2590800"/>
            <a:chExt cx="2571750" cy="952500"/>
          </a:xfrm>
        </p:grpSpPr>
        <p:sp>
          <p:nvSpPr>
            <p:cNvPr id="22" name="Rectangle 22"/>
            <p:cNvSpPr/>
            <p:nvPr/>
          </p:nvSpPr>
          <p:spPr>
            <a:xfrm>
              <a:off x="3219450" y="2590800"/>
              <a:ext cx="2571750" cy="952500"/>
            </a:xfrm>
            <a:prstGeom prst="roundRect">
              <a:avLst>
                <a:gd name="adj" fmla="val 3000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3481388" y="2776538"/>
              <a:ext cx="200026" cy="200025"/>
              <a:chOff x="3481388" y="2776538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503613" y="27765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481388" y="29098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25851" y="27779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648076" y="29115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3803142" y="2787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42716" y="31823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按分工推进，状态随时更新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91200" y="3095625"/>
            <a:ext cx="228600" cy="1"/>
            <a:chOff x="5791200" y="3095625"/>
            <a:chExt cx="228600" cy="1"/>
          </a:xfrm>
        </p:grpSpPr>
        <p:sp>
          <p:nvSpPr>
            <p:cNvPr id="31" name="Line 31"/>
            <p:cNvSpPr/>
            <p:nvPr/>
          </p:nvSpPr>
          <p:spPr>
            <a:xfrm>
              <a:off x="5791200" y="3095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057900" y="2590800"/>
            <a:ext cx="2571750" cy="952500"/>
            <a:chOff x="6057900" y="2590800"/>
            <a:chExt cx="2571750" cy="952500"/>
          </a:xfrm>
        </p:grpSpPr>
        <p:sp>
          <p:nvSpPr>
            <p:cNvPr id="33" name="Rectangle 33"/>
            <p:cNvSpPr/>
            <p:nvPr/>
          </p:nvSpPr>
          <p:spPr>
            <a:xfrm>
              <a:off x="6057900" y="2590800"/>
              <a:ext cx="2571750" cy="952500"/>
            </a:xfrm>
            <a:prstGeom prst="roundRect">
              <a:avLst>
                <a:gd name="adj" fmla="val 3000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325394" y="2793206"/>
              <a:ext cx="183357" cy="161132"/>
              <a:chOff x="6325394" y="2793206"/>
              <a:chExt cx="183357" cy="16113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25394" y="2793206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25394" y="2859882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25394" y="2926557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08738" y="2809875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08738" y="2876550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08738" y="2943226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641592" y="2787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汇报反馈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1166" y="3182302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 / 文本汇报，负责人确认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629650" y="3095625"/>
            <a:ext cx="228600" cy="1"/>
            <a:chOff x="8629650" y="3095625"/>
            <a:chExt cx="228600" cy="1"/>
          </a:xfrm>
        </p:grpSpPr>
        <p:sp>
          <p:nvSpPr>
            <p:cNvPr id="44" name="Line 44"/>
            <p:cNvSpPr/>
            <p:nvPr/>
          </p:nvSpPr>
          <p:spPr>
            <a:xfrm>
              <a:off x="8629650" y="3095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8896350" y="2590800"/>
            <a:ext cx="2914650" cy="952500"/>
            <a:chOff x="8896350" y="2590800"/>
            <a:chExt cx="2914650" cy="952500"/>
          </a:xfrm>
        </p:grpSpPr>
        <p:sp>
          <p:nvSpPr>
            <p:cNvPr id="46" name="Rectangle 46"/>
            <p:cNvSpPr/>
            <p:nvPr/>
          </p:nvSpPr>
          <p:spPr>
            <a:xfrm>
              <a:off x="8896350" y="2590800"/>
              <a:ext cx="2914650" cy="952500"/>
            </a:xfrm>
            <a:prstGeom prst="roundRect">
              <a:avLst>
                <a:gd name="adj" fmla="val 3000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154722" y="2776538"/>
              <a:ext cx="203591" cy="203591"/>
              <a:chOff x="9154722" y="2776538"/>
              <a:chExt cx="203591" cy="20359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236075" y="2776538"/>
                <a:ext cx="12223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22238">
                    <a:moveTo>
                      <a:pt x="0" y="122238"/>
                    </a:moveTo>
                    <a:lnTo>
                      <a:pt x="12223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154722" y="2776538"/>
                <a:ext cx="203591" cy="203591"/>
              </a:xfrm>
              <a:custGeom>
                <a:avLst/>
                <a:gdLst/>
                <a:ahLst/>
                <a:cxnLst/>
                <a:rect l="l" t="t" r="r" b="b"/>
                <a:pathLst>
                  <a:path w="203591" h="203591">
                    <a:moveTo>
                      <a:pt x="203591" y="0"/>
                    </a:moveTo>
                    <a:lnTo>
                      <a:pt x="131360" y="200026"/>
                    </a:lnTo>
                    <a:cubicBezTo>
                      <a:pt x="130364" y="202198"/>
                      <a:pt x="128193" y="203591"/>
                      <a:pt x="125804" y="203591"/>
                    </a:cubicBezTo>
                    <a:cubicBezTo>
                      <a:pt x="123414" y="203591"/>
                      <a:pt x="121243" y="202198"/>
                      <a:pt x="120247" y="200026"/>
                    </a:cubicBezTo>
                    <a:lnTo>
                      <a:pt x="81353" y="122238"/>
                    </a:lnTo>
                    <a:lnTo>
                      <a:pt x="3566" y="83344"/>
                    </a:lnTo>
                    <a:cubicBezTo>
                      <a:pt x="1393" y="82348"/>
                      <a:pt x="0" y="80178"/>
                      <a:pt x="0" y="77788"/>
                    </a:cubicBezTo>
                    <a:cubicBezTo>
                      <a:pt x="0" y="75398"/>
                      <a:pt x="1393" y="73227"/>
                      <a:pt x="3566" y="72231"/>
                    </a:cubicBezTo>
                    <a:lnTo>
                      <a:pt x="20359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480042" y="2787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通知触达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19616" y="3182302"/>
              <a:ext cx="2345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Webhook 群通知 · 今日播报（TTS）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73380" y="3876675"/>
            <a:ext cx="1499426" cy="293370"/>
            <a:chOff x="373380" y="3876675"/>
            <a:chExt cx="1499426" cy="293370"/>
          </a:xfrm>
        </p:grpSpPr>
        <p:sp>
          <p:nvSpPr>
            <p:cNvPr id="53" name="TextBox 53"/>
            <p:cNvSpPr txBox="1"/>
            <p:nvPr/>
          </p:nvSpPr>
          <p:spPr>
            <a:xfrm>
              <a:off x="373380" y="38766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四道确定性兜底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81000" y="4191000"/>
            <a:ext cx="2724150" cy="1619250"/>
            <a:chOff x="381000" y="4191000"/>
            <a:chExt cx="2724150" cy="1619250"/>
          </a:xfrm>
        </p:grpSpPr>
        <p:sp>
          <p:nvSpPr>
            <p:cNvPr id="55" name="Rectangle 55"/>
            <p:cNvSpPr/>
            <p:nvPr/>
          </p:nvSpPr>
          <p:spPr>
            <a:xfrm>
              <a:off x="381000" y="4191000"/>
              <a:ext cx="2724150" cy="1619250"/>
            </a:xfrm>
            <a:prstGeom prst="roundRect">
              <a:avLst>
                <a:gd name="adj" fmla="val 2353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9131" y="4436269"/>
              <a:ext cx="166688" cy="214312"/>
              <a:chOff x="669131" y="4436269"/>
              <a:chExt cx="166688" cy="21431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9131" y="446008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16756" y="443626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6756" y="4543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64381" y="45434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16756" y="4591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64381" y="459105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02742" y="4769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拆解兜底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266" y="5144452"/>
              <a:ext cx="176422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LLM 拆解失败，用确定性拆解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和弹性子任务规则顶上，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方案照样生成。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295650" y="4191000"/>
            <a:ext cx="2724150" cy="1619250"/>
            <a:chOff x="3295650" y="4191000"/>
            <a:chExt cx="2724150" cy="1619250"/>
          </a:xfrm>
        </p:grpSpPr>
        <p:sp>
          <p:nvSpPr>
            <p:cNvPr id="66" name="Rectangle 66"/>
            <p:cNvSpPr/>
            <p:nvPr/>
          </p:nvSpPr>
          <p:spPr>
            <a:xfrm>
              <a:off x="3295650" y="4191000"/>
              <a:ext cx="2724150" cy="1619250"/>
            </a:xfrm>
            <a:prstGeom prst="roundRect">
              <a:avLst>
                <a:gd name="adj" fmla="val 2353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3559969" y="4436269"/>
              <a:ext cx="214312" cy="214313"/>
              <a:chOff x="3559969" y="4436269"/>
              <a:chExt cx="214312" cy="21431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3583781" y="44362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559969" y="45791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3714750" y="443781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3738562" y="458093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3517392" y="4769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分工兜底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518916" y="5144452"/>
              <a:ext cx="134416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分工失败，用规则分工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与评分兜底，匹配度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依然可解释。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210300" y="4191000"/>
            <a:ext cx="2724150" cy="1619250"/>
            <a:chOff x="6210300" y="4191000"/>
            <a:chExt cx="2724150" cy="1619250"/>
          </a:xfrm>
        </p:grpSpPr>
        <p:sp>
          <p:nvSpPr>
            <p:cNvPr id="75" name="Rectangle 75"/>
            <p:cNvSpPr/>
            <p:nvPr/>
          </p:nvSpPr>
          <p:spPr>
            <a:xfrm>
              <a:off x="6210300" y="4191000"/>
              <a:ext cx="2724150" cy="1619250"/>
            </a:xfrm>
            <a:prstGeom prst="roundRect">
              <a:avLst>
                <a:gd name="adj" fmla="val 2353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74619" y="4483894"/>
              <a:ext cx="214312" cy="119062"/>
              <a:chOff x="6474619" y="4483894"/>
              <a:chExt cx="214312" cy="11906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486525" y="449580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71438" y="11906"/>
                    </a:lnTo>
                    <a:lnTo>
                      <a:pt x="130969" y="71438"/>
                    </a:ln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605588" y="4555331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546056" y="4495800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474619" y="45791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665119" y="448389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432042" y="4769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排期兜底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33566" y="5144452"/>
              <a:ext cx="17442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排期失败，用算法排期兜底，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日期约束依然生效。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124950" y="4191000"/>
            <a:ext cx="2686050" cy="1619250"/>
            <a:chOff x="9124950" y="4191000"/>
            <a:chExt cx="2686050" cy="1619250"/>
          </a:xfrm>
        </p:grpSpPr>
        <p:sp>
          <p:nvSpPr>
            <p:cNvPr id="85" name="Rectangle 85"/>
            <p:cNvSpPr/>
            <p:nvPr/>
          </p:nvSpPr>
          <p:spPr>
            <a:xfrm>
              <a:off x="9124950" y="4191000"/>
              <a:ext cx="2686050" cy="1619250"/>
            </a:xfrm>
            <a:prstGeom prst="roundRect">
              <a:avLst>
                <a:gd name="adj" fmla="val 2353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9389269" y="4436269"/>
              <a:ext cx="214312" cy="214312"/>
              <a:chOff x="9389269" y="4436269"/>
              <a:chExt cx="214312" cy="214312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9448800" y="44958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389269" y="44362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532144" y="45791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420820" y="45791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420820" y="44678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9532144" y="44678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9346692" y="4769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断网兜底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348216" y="5144452"/>
              <a:ext cx="161086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断网或模型离线，本地保留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确定性拆解与导出能力，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主链路仍可演示。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96" name="TextBox 9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21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3359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创新点四：昇腾本地 + 云端双后端统一适配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28775"/>
            <a:ext cx="6454140" cy="826770"/>
            <a:chOff x="373380" y="1628775"/>
            <a:chExt cx="6454140" cy="8267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28775"/>
              <a:ext cx="64541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昇腾赛要求统一昇腾环境复现，但 910C 算力紧张，开发期不可能一直占着。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我们的做法，是让同一套系统同时支持两种后端，一键切换——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评审用本地昇腾证明复现，开发用云端保证进度。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" y="2552700"/>
            <a:ext cx="5429250" cy="2190750"/>
            <a:chOff x="381000" y="2552700"/>
            <a:chExt cx="5429250" cy="2190750"/>
          </a:xfrm>
        </p:grpSpPr>
        <p:sp>
          <p:nvSpPr>
            <p:cNvPr id="9" name="Rectangle 9"/>
            <p:cNvSpPr/>
            <p:nvPr/>
          </p:nvSpPr>
          <p:spPr>
            <a:xfrm>
              <a:off x="381000" y="2552700"/>
              <a:ext cx="54292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2552700"/>
              <a:ext cx="54292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09612" y="2881312"/>
              <a:ext cx="257175" cy="257175"/>
              <a:chOff x="709612" y="2881312"/>
              <a:chExt cx="257175" cy="2571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29098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85738"/>
                    </a:lnTo>
                    <a:cubicBezTo>
                      <a:pt x="200025" y="193628"/>
                      <a:pt x="193628" y="200025"/>
                      <a:pt x="185738" y="200025"/>
                    </a:cubicBezTo>
                    <a:lnTo>
                      <a:pt x="14288" y="200025"/>
                    </a:lnTo>
                    <a:cubicBezTo>
                      <a:pt x="6397" y="200025"/>
                      <a:pt x="0" y="193628"/>
                      <a:pt x="0" y="185738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5338" y="29670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09612" y="29813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09612" y="30384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9625" y="28813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66775" y="28813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8212" y="29813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38212" y="30384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6775" y="31099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9625" y="31099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53668" y="2907982"/>
              <a:ext cx="29369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 · 评审期主力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3383756"/>
              <a:ext cx="4371086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Ascend 910C + llama.cpp-omni + MiniCPM-o-4_5-F16（约 16G），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用于真实昇腾环境复现；本地能直接听，实听实答。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416" y="4287202"/>
              <a:ext cx="3874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ASCEND_OMNI_WS_URL=ws://127.0.0.1:28099/backend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81750" y="2552700"/>
            <a:ext cx="5429250" cy="2190750"/>
            <a:chOff x="6381750" y="2552700"/>
            <a:chExt cx="5429250" cy="2190750"/>
          </a:xfrm>
        </p:grpSpPr>
        <p:sp>
          <p:nvSpPr>
            <p:cNvPr id="26" name="Rectangle 26"/>
            <p:cNvSpPr/>
            <p:nvPr/>
          </p:nvSpPr>
          <p:spPr>
            <a:xfrm>
              <a:off x="6381750" y="2552700"/>
              <a:ext cx="54292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81750" y="2552700"/>
              <a:ext cx="54292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696075" y="2905458"/>
              <a:ext cx="285750" cy="190224"/>
            </a:xfrm>
            <a:custGeom>
              <a:avLst/>
              <a:gdLst/>
              <a:ahLst/>
              <a:cxnLst/>
              <a:rect l="l" t="t" r="r" b="b"/>
              <a:pathLst>
                <a:path w="285750" h="190224">
                  <a:moveTo>
                    <a:pt x="66537" y="190167"/>
                  </a:moveTo>
                  <a:cubicBezTo>
                    <a:pt x="29789" y="190167"/>
                    <a:pt x="0" y="161492"/>
                    <a:pt x="0" y="126116"/>
                  </a:cubicBezTo>
                  <a:cubicBezTo>
                    <a:pt x="0" y="90754"/>
                    <a:pt x="29789" y="62079"/>
                    <a:pt x="66537" y="62079"/>
                  </a:cubicBezTo>
                  <a:cubicBezTo>
                    <a:pt x="72152" y="36905"/>
                    <a:pt x="92169" y="16359"/>
                    <a:pt x="119043" y="8172"/>
                  </a:cubicBezTo>
                  <a:cubicBezTo>
                    <a:pt x="145904" y="0"/>
                    <a:pt x="175565" y="5415"/>
                    <a:pt x="196825" y="22460"/>
                  </a:cubicBezTo>
                  <a:cubicBezTo>
                    <a:pt x="218084" y="39462"/>
                    <a:pt x="227714" y="65422"/>
                    <a:pt x="222113" y="90597"/>
                  </a:cubicBezTo>
                  <a:lnTo>
                    <a:pt x="236258" y="90597"/>
                  </a:lnTo>
                  <a:cubicBezTo>
                    <a:pt x="263590" y="90597"/>
                    <a:pt x="285750" y="112886"/>
                    <a:pt x="285750" y="140403"/>
                  </a:cubicBezTo>
                  <a:cubicBezTo>
                    <a:pt x="285750" y="167935"/>
                    <a:pt x="263590" y="190224"/>
                    <a:pt x="236244" y="190224"/>
                  </a:cubicBezTo>
                  <a:lnTo>
                    <a:pt x="66537" y="190224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54418" y="2907982"/>
              <a:ext cx="31695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ModelBest 云端 · 开发期兜底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785" y="3383756"/>
              <a:ext cx="3823462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MiniCPM-o-4.5-Realtime API，免费；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turn-based 音频先转写再理解，行为经适配层与本地统一。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2166" y="4287202"/>
              <a:ext cx="4396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MAP_REALTIME_API_KEY + wss://api.modelbest.cn/v1/realtime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810250" y="2952750"/>
            <a:ext cx="571500" cy="857250"/>
            <a:chOff x="5810250" y="2952750"/>
            <a:chExt cx="571500" cy="857250"/>
          </a:xfrm>
        </p:grpSpPr>
        <p:sp>
          <p:nvSpPr>
            <p:cNvPr id="33" name="Rectangle 33"/>
            <p:cNvSpPr/>
            <p:nvPr/>
          </p:nvSpPr>
          <p:spPr>
            <a:xfrm>
              <a:off x="5810250" y="2952750"/>
              <a:ext cx="571500" cy="857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42247" y="32013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42247" y="34299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27982" y="3652838"/>
              <a:ext cx="5360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81000" y="4991100"/>
            <a:ext cx="11430000" cy="609600"/>
            <a:chOff x="381000" y="4991100"/>
            <a:chExt cx="11430000" cy="609600"/>
          </a:xfrm>
        </p:grpSpPr>
        <p:sp>
          <p:nvSpPr>
            <p:cNvPr id="38" name="Rectangle 38"/>
            <p:cNvSpPr/>
            <p:nvPr/>
          </p:nvSpPr>
          <p:spPr>
            <a:xfrm>
              <a:off x="381000" y="4991100"/>
              <a:ext cx="11430000" cy="609600"/>
            </a:xfrm>
            <a:prstGeom prst="roundRect">
              <a:avLst>
                <a:gd name="adj" fmla="val 625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92150" y="5232400"/>
              <a:ext cx="187326" cy="88900"/>
              <a:chOff x="692150" y="5232400"/>
              <a:chExt cx="187326" cy="88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2150" y="528796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1050" y="52324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9951" y="52324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150" y="52324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654" y="5242560"/>
              <a:ext cx="983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同一套 WebSocket 协议：配置 ASCEND_OMNI_WS_URL 走本地，注释掉走云端；/api/realtime/status 返回 local 或 map 一键确认。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5772150"/>
            <a:ext cx="11430000" cy="631984"/>
            <a:chOff x="381000" y="5772150"/>
            <a:chExt cx="11430000" cy="631984"/>
          </a:xfrm>
        </p:grpSpPr>
        <p:sp>
          <p:nvSpPr>
            <p:cNvPr id="46" name="Rectangle 46"/>
            <p:cNvSpPr/>
            <p:nvPr/>
          </p:nvSpPr>
          <p:spPr>
            <a:xfrm>
              <a:off x="381000" y="5772150"/>
              <a:ext cx="11430000" cy="6096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67351" y="5941219"/>
              <a:ext cx="232508" cy="214312"/>
              <a:chOff x="667351" y="5941219"/>
              <a:chExt cx="232508" cy="214312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7351" y="59412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6294" y="61079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79754" y="59474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合规是硬要求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0135" y="6184106"/>
              <a:ext cx="9679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APP_MODEL_MODE=minicpm 且 APP_ALLOW_EXTERNAL_MODELS=0 时，全链路仅调用 MiniCPM-o 4.5；API Key 只存 .env，不进版本库。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3" name="TextBox 5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8206818" cy="1015365"/>
            <a:chOff x="747522" y="1851660"/>
            <a:chExt cx="8206818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2223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05 / 应用落地与工程验证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82068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真实场景 · 真实运行效果 · 可核验的工程证据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04862" y="3581400"/>
            <a:ext cx="5902262" cy="2036445"/>
            <a:chOff x="804862" y="3581400"/>
            <a:chExt cx="5902262" cy="2036445"/>
          </a:xfrm>
        </p:grpSpPr>
        <p:grpSp>
          <p:nvGrpSpPr>
            <p:cNvPr id="10" name="Group 10"/>
            <p:cNvGrpSpPr/>
            <p:nvPr/>
          </p:nvGrpSpPr>
          <p:grpSpPr>
            <a:xfrm>
              <a:off x="814637" y="3581400"/>
              <a:ext cx="233113" cy="233113"/>
              <a:chOff x="814637" y="3581400"/>
              <a:chExt cx="233113" cy="23311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19150" y="3581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14637" y="3724275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" y="363855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25880" y="3609975"/>
              <a:ext cx="2714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应用场景与落地形态（P24）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62012" y="4152900"/>
              <a:ext cx="185738" cy="228600"/>
            </a:xfrm>
            <a:custGeom>
              <a:avLst/>
              <a:gdLst/>
              <a:ahLst/>
              <a:cxnLst/>
              <a:rect l="l" t="t" r="r" b="b"/>
              <a:pathLst>
                <a:path w="185738" h="228600">
                  <a:moveTo>
                    <a:pt x="0" y="0"/>
                  </a:moveTo>
                  <a:lnTo>
                    <a:pt x="0" y="228600"/>
                  </a:lnTo>
                  <a:lnTo>
                    <a:pt x="185738" y="11430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5880" y="4181475"/>
              <a:ext cx="4421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运行效果展示：截图占位，提交前粘贴（P25）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4862" y="47244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0" y="114300"/>
                  </a:moveTo>
                  <a:lnTo>
                    <a:pt x="57150" y="114300"/>
                  </a:lnTo>
                  <a:lnTo>
                    <a:pt x="100012" y="228600"/>
                  </a:lnTo>
                  <a:lnTo>
                    <a:pt x="157162" y="0"/>
                  </a:lnTo>
                  <a:lnTo>
                    <a:pt x="200025" y="114300"/>
                  </a:lnTo>
                  <a:lnTo>
                    <a:pt x="257175" y="1143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25880" y="4752975"/>
              <a:ext cx="4805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工程验证：379 项测试通过 + 昇腾 A3 实测（P26）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33438" y="5338762"/>
              <a:ext cx="200024" cy="180975"/>
              <a:chOff x="833438" y="5338762"/>
              <a:chExt cx="200024" cy="1809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3438" y="5338762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0"/>
                    </a:moveTo>
                    <a:lnTo>
                      <a:pt x="71438" y="71438"/>
                    </a:ln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3450" y="5510212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325880" y="5324475"/>
              <a:ext cx="5381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统一昇腾环境复现（P27）· 合规安全与已知边界（P28）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P23–P28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5E0EE"/>
                  </a:solidFill>
                  <a:latin typeface="+mn-lt"/>
                  <a:ea typeface="+mn-ea"/>
                  <a:cs typeface="+mn-cs"/>
                </a:rPr>
                <a:t>23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应用场景：从课堂到团队协作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19250"/>
            <a:ext cx="3676650" cy="1752600"/>
            <a:chOff x="381000" y="1619250"/>
            <a:chExt cx="3676650" cy="175260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3676650" cy="1752600"/>
            </a:xfrm>
            <a:prstGeom prst="roundRect">
              <a:avLst>
                <a:gd name="adj" fmla="val 2174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38175" y="1919288"/>
              <a:ext cx="285750" cy="200025"/>
              <a:chOff x="638175" y="1919288"/>
              <a:chExt cx="285750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38175" y="1919288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285750" y="57150"/>
                    </a:moveTo>
                    <a:lnTo>
                      <a:pt x="142875" y="0"/>
                    </a:lnTo>
                    <a:lnTo>
                      <a:pt x="0" y="57150"/>
                    </a:lnTo>
                    <a:lnTo>
                      <a:pt x="142875" y="114300"/>
                    </a:lnTo>
                    <a:lnTo>
                      <a:pt x="285750" y="57150"/>
                    </a:lnTo>
                    <a:lnTo>
                      <a:pt x="28575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95325" y="1999298"/>
                <a:ext cx="171450" cy="12001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20015">
                    <a:moveTo>
                      <a:pt x="0" y="0"/>
                    </a:moveTo>
                    <a:lnTo>
                      <a:pt x="0" y="77152"/>
                    </a:lnTo>
                    <a:cubicBezTo>
                      <a:pt x="0" y="100825"/>
                      <a:pt x="38380" y="120015"/>
                      <a:pt x="85725" y="120015"/>
                    </a:cubicBezTo>
                    <a:cubicBezTo>
                      <a:pt x="133070" y="120015"/>
                      <a:pt x="171450" y="100825"/>
                      <a:pt x="171450" y="77152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16330" y="193357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学生团队 / 课程设计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885" y="24122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拍照白板、语音需求直接进拆解；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6979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成员免登录汇报，进度透明。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266" y="30870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小型项目模式 · 扁平协作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48150" y="1619250"/>
            <a:ext cx="3676650" cy="1752600"/>
            <a:chOff x="4248150" y="1619250"/>
            <a:chExt cx="3676650" cy="1752600"/>
          </a:xfrm>
        </p:grpSpPr>
        <p:sp>
          <p:nvSpPr>
            <p:cNvPr id="16" name="Rectangle 16"/>
            <p:cNvSpPr/>
            <p:nvPr/>
          </p:nvSpPr>
          <p:spPr>
            <a:xfrm>
              <a:off x="4248150" y="1619250"/>
              <a:ext cx="3676650" cy="1752600"/>
            </a:xfrm>
            <a:prstGeom prst="roundRect">
              <a:avLst>
                <a:gd name="adj" fmla="val 2174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519612" y="1890712"/>
              <a:ext cx="257175" cy="257175"/>
              <a:chOff x="4519612" y="1890712"/>
              <a:chExt cx="257175" cy="2571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19612" y="18907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71438" y="85725"/>
                    </a:moveTo>
                    <a:lnTo>
                      <a:pt x="142875" y="157162"/>
                    </a:lnTo>
                    <a:lnTo>
                      <a:pt x="142875" y="257175"/>
                    </a:lnTo>
                    <a:lnTo>
                      <a:pt x="71438" y="257175"/>
                    </a:lnTo>
                    <a:lnTo>
                      <a:pt x="71438" y="200025"/>
                    </a:lnTo>
                    <a:moveTo>
                      <a:pt x="71438" y="257175"/>
                    </a:moveTo>
                    <a:lnTo>
                      <a:pt x="0" y="257175"/>
                    </a:lnTo>
                    <a:lnTo>
                      <a:pt x="0" y="157162"/>
                    </a:lnTo>
                    <a:lnTo>
                      <a:pt x="71438" y="85725"/>
                    </a:lnTo>
                    <a:moveTo>
                      <a:pt x="85725" y="100012"/>
                    </a:moveTo>
                    <a:lnTo>
                      <a:pt x="85725" y="14288"/>
                    </a:lnTo>
                    <a:cubicBezTo>
                      <a:pt x="85725" y="6397"/>
                      <a:pt x="92122" y="0"/>
                      <a:pt x="100012" y="0"/>
                    </a:cubicBezTo>
                    <a:lnTo>
                      <a:pt x="242888" y="0"/>
                    </a:lnTo>
                    <a:cubicBezTo>
                      <a:pt x="250778" y="0"/>
                      <a:pt x="257175" y="6397"/>
                      <a:pt x="257175" y="14288"/>
                    </a:cubicBezTo>
                    <a:lnTo>
                      <a:pt x="257175" y="257175"/>
                    </a:lnTo>
                    <a:lnTo>
                      <a:pt x="142875" y="2571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662488" y="19478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719638" y="19478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19638" y="20050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719638" y="20621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983480" y="19335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社团 / 活动组织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1035" y="24122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成员管理、任务认领；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035" y="26979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状态变更自动群通知。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71416" y="3087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志愿者招募与认领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15300" y="1619250"/>
            <a:ext cx="3695700" cy="1752600"/>
            <a:chOff x="8115300" y="1619250"/>
            <a:chExt cx="3695700" cy="1752600"/>
          </a:xfrm>
        </p:grpSpPr>
        <p:sp>
          <p:nvSpPr>
            <p:cNvPr id="28" name="Rectangle 28"/>
            <p:cNvSpPr/>
            <p:nvPr/>
          </p:nvSpPr>
          <p:spPr>
            <a:xfrm>
              <a:off x="8115300" y="1619250"/>
              <a:ext cx="3695700" cy="1752600"/>
            </a:xfrm>
            <a:prstGeom prst="roundRect">
              <a:avLst>
                <a:gd name="adj" fmla="val 2174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386762" y="1905000"/>
              <a:ext cx="257176" cy="252413"/>
              <a:chOff x="8386762" y="1905000"/>
              <a:chExt cx="257176" cy="25241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458200" y="21478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15350" y="20907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43912" y="19050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43912" y="1905000"/>
                <a:ext cx="1428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85738">
                    <a:moveTo>
                      <a:pt x="142875" y="0"/>
                    </a:moveTo>
                    <a:lnTo>
                      <a:pt x="142875" y="114300"/>
                    </a:lnTo>
                    <a:cubicBezTo>
                      <a:pt x="142875" y="153754"/>
                      <a:pt x="110891" y="185738"/>
                      <a:pt x="71438" y="185738"/>
                    </a:cubicBezTo>
                    <a:cubicBezTo>
                      <a:pt x="31984" y="185738"/>
                      <a:pt x="0" y="153754"/>
                      <a:pt x="0" y="11430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6762" y="19478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86788" y="19478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50630" y="19335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比赛 / 冲刺团队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185" y="24122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快速排期、负载均衡、今日播报；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8185" y="2697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冲刺阶段节奏可控。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8566" y="30870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关键路径 + 资源日历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1000" y="3562350"/>
            <a:ext cx="5619750" cy="1905000"/>
            <a:chOff x="381000" y="3562350"/>
            <a:chExt cx="5619750" cy="1905000"/>
          </a:xfrm>
        </p:grpSpPr>
        <p:sp>
          <p:nvSpPr>
            <p:cNvPr id="41" name="Rectangle 41"/>
            <p:cNvSpPr/>
            <p:nvPr/>
          </p:nvSpPr>
          <p:spPr>
            <a:xfrm>
              <a:off x="381000" y="3562350"/>
              <a:ext cx="5619750" cy="1905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1000" y="35623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1512" y="3833812"/>
              <a:ext cx="257176" cy="257175"/>
              <a:chOff x="671512" y="3833812"/>
              <a:chExt cx="257176" cy="25717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71525" y="39481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42950" y="4048125"/>
                <a:ext cx="1143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2862">
                    <a:moveTo>
                      <a:pt x="0" y="42862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85725" y="0"/>
                    </a:ln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42962" y="38338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3933825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00088" y="38338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1512" y="3933825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42862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35380" y="3876675"/>
              <a:ext cx="30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小型企业项目组 · 小型项目模式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935" y="4355306"/>
              <a:ext cx="4451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成员已确定、组织关系简单：快速拆解 → 排期 → 分工 → 汇报闭环。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935" y="4641056"/>
              <a:ext cx="31833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通知可直接推送到企业微信 / 钉钉 / 飞书工作群，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融入企业既有协作工具，无需额外下载安装。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3316" y="52206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低门槛：成员用手机即可完成汇报与确认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562350"/>
            <a:ext cx="5619750" cy="1905000"/>
            <a:chOff x="6191250" y="3562350"/>
            <a:chExt cx="5619750" cy="1905000"/>
          </a:xfrm>
        </p:grpSpPr>
        <p:sp>
          <p:nvSpPr>
            <p:cNvPr id="55" name="Rectangle 55"/>
            <p:cNvSpPr/>
            <p:nvPr/>
          </p:nvSpPr>
          <p:spPr>
            <a:xfrm>
              <a:off x="6191250" y="3562350"/>
              <a:ext cx="5619750" cy="1905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91250" y="3562350"/>
              <a:ext cx="561975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96050" y="3876675"/>
              <a:ext cx="228600" cy="171450"/>
              <a:chOff x="6496050" y="3876675"/>
              <a:chExt cx="228600" cy="17145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96050" y="38766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114300" y="114300"/>
                    </a:lnTo>
                    <a:lnTo>
                      <a:pt x="2286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96050" y="39909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114300" y="57150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45630" y="3876675"/>
              <a:ext cx="3047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中型 / 复杂项目 · 大型项目模式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33185" y="435530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先拆分大模块，骨干认领负责；子任务拆解后志愿者招募与认领。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33185" y="464105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适合跨部门项目、外包协同、赛事活动等成员与分工动态变化的场景。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3185" y="49268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多阶段连续推进，认领与分工全程可追溯。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33566" y="5220652"/>
              <a:ext cx="261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分层结构：模块 → 骨干 → 子任务 → 志愿者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81000" y="5676900"/>
            <a:ext cx="11430000" cy="590550"/>
            <a:chOff x="381000" y="5676900"/>
            <a:chExt cx="11430000" cy="590550"/>
          </a:xfrm>
        </p:grpSpPr>
        <p:sp>
          <p:nvSpPr>
            <p:cNvPr id="66" name="Rectangle 66"/>
            <p:cNvSpPr/>
            <p:nvPr/>
          </p:nvSpPr>
          <p:spPr>
            <a:xfrm>
              <a:off x="381000" y="5676900"/>
              <a:ext cx="11430000" cy="590550"/>
            </a:xfrm>
            <a:prstGeom prst="roundRect">
              <a:avLst>
                <a:gd name="adj" fmla="val 645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91564" y="5876925"/>
              <a:ext cx="194261" cy="194261"/>
              <a:chOff x="691564" y="5876925"/>
              <a:chExt cx="194261" cy="19426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95325" y="58769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07156"/>
                    </a:moveTo>
                    <a:cubicBezTo>
                      <a:pt x="43698" y="112349"/>
                      <a:pt x="78151" y="146802"/>
                      <a:pt x="83344" y="190500"/>
                    </a:cubicBezTo>
                    <a:cubicBezTo>
                      <a:pt x="104740" y="178165"/>
                      <a:pt x="118247" y="155653"/>
                      <a:pt x="119062" y="130969"/>
                    </a:cubicBezTo>
                    <a:cubicBezTo>
                      <a:pt x="159946" y="116587"/>
                      <a:pt x="188140" y="78994"/>
                      <a:pt x="190500" y="35719"/>
                    </a:cubicBezTo>
                    <a:cubicBezTo>
                      <a:pt x="190500" y="15992"/>
                      <a:pt x="174508" y="0"/>
                      <a:pt x="154781" y="0"/>
                    </a:cubicBezTo>
                    <a:cubicBezTo>
                      <a:pt x="111506" y="2360"/>
                      <a:pt x="73913" y="30554"/>
                      <a:pt x="59531" y="71438"/>
                    </a:cubicBezTo>
                    <a:cubicBezTo>
                      <a:pt x="34847" y="72253"/>
                      <a:pt x="12335" y="85760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1564" y="5995988"/>
                <a:ext cx="75198" cy="75198"/>
              </a:xfrm>
              <a:custGeom>
                <a:avLst/>
                <a:gdLst/>
                <a:ahLst/>
                <a:cxnLst/>
                <a:rect l="l" t="t" r="r" b="b"/>
                <a:pathLst>
                  <a:path w="75198" h="75198">
                    <a:moveTo>
                      <a:pt x="39479" y="0"/>
                    </a:moveTo>
                    <a:cubicBezTo>
                      <a:pt x="14130" y="14311"/>
                      <a:pt x="0" y="42572"/>
                      <a:pt x="3761" y="71438"/>
                    </a:cubicBezTo>
                    <a:cubicBezTo>
                      <a:pt x="32627" y="75198"/>
                      <a:pt x="60887" y="61068"/>
                      <a:pt x="75198" y="35719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4388" y="5924550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60704" y="5909310"/>
              <a:ext cx="7097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落地形态：Web 工作台 + 免登录汇报页 + 企微 / 飞书 / 钉钉群通知 + 多格式导出 + 只读分享链接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3" name="TextBox 7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运行效果展示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1600200"/>
            <a:ext cx="3676650" cy="3657600"/>
            <a:chOff x="381000" y="1600200"/>
            <a:chExt cx="3676650" cy="3657600"/>
          </a:xfrm>
        </p:grpSpPr>
        <p:sp>
          <p:nvSpPr>
            <p:cNvPr id="7" name="Rectangle 7"/>
            <p:cNvSpPr/>
            <p:nvPr/>
          </p:nvSpPr>
          <p:spPr>
            <a:xfrm>
              <a:off x="381000" y="1600200"/>
              <a:ext cx="3676650" cy="3657600"/>
            </a:xfrm>
            <a:prstGeom prst="roundRect">
              <a:avLst>
                <a:gd name="adj" fmla="val 1042"/>
              </a:avLst>
            </a:prstGeom>
            <a:solidFill>
              <a:srgbClr val="F0F6FC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112169" y="2486025"/>
              <a:ext cx="278606" cy="342900"/>
            </a:xfrm>
            <a:custGeom>
              <a:avLst/>
              <a:gdLst/>
              <a:ahLst/>
              <a:cxnLst/>
              <a:rect l="l" t="t" r="r" b="b"/>
              <a:pathLst>
                <a:path w="278606" h="342900">
                  <a:moveTo>
                    <a:pt x="0" y="0"/>
                  </a:moveTo>
                  <a:lnTo>
                    <a:pt x="0" y="342900"/>
                  </a:lnTo>
                  <a:lnTo>
                    <a:pt x="278606" y="171450"/>
                  </a:lnTo>
                  <a:lnTo>
                    <a:pt x="0" y="0"/>
                  </a:lnTo>
                </a:path>
              </a:pathLst>
            </a:custGeom>
            <a:noFill/>
            <a:ln w="42862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81639" y="3190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工作台首页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950" y="3574256"/>
              <a:ext cx="2472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项目输入 · 方案总览 · AI 建议抽屉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5885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48150" y="1600200"/>
            <a:ext cx="3676650" cy="3657600"/>
            <a:chOff x="4248150" y="1600200"/>
            <a:chExt cx="3676650" cy="3657600"/>
          </a:xfrm>
        </p:grpSpPr>
        <p:sp>
          <p:nvSpPr>
            <p:cNvPr id="13" name="Rectangle 13"/>
            <p:cNvSpPr/>
            <p:nvPr/>
          </p:nvSpPr>
          <p:spPr>
            <a:xfrm>
              <a:off x="4248150" y="1600200"/>
              <a:ext cx="3676650" cy="3657600"/>
            </a:xfrm>
            <a:prstGeom prst="roundRect">
              <a:avLst>
                <a:gd name="adj" fmla="val 1042"/>
              </a:avLst>
            </a:prstGeom>
            <a:solidFill>
              <a:srgbClr val="F0F6FC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893594" y="2550319"/>
              <a:ext cx="385762" cy="214312"/>
              <a:chOff x="5893594" y="2550319"/>
              <a:chExt cx="385762" cy="2143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15025" y="257175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0" y="171450"/>
                    </a:moveTo>
                    <a:lnTo>
                      <a:pt x="128588" y="21431"/>
                    </a:lnTo>
                    <a:lnTo>
                      <a:pt x="235744" y="128588"/>
                    </a:lnTo>
                    <a:lnTo>
                      <a:pt x="342900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29338" y="2678906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022181" y="257175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893594" y="272176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36494" y="255031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230749" y="31908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任务草案与甘特图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66802" y="35742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/ 排期 / 分工 / 拖拽调整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33035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15300" y="1600200"/>
            <a:ext cx="3695700" cy="3657600"/>
            <a:chOff x="8115300" y="1600200"/>
            <a:chExt cx="3695700" cy="3657600"/>
          </a:xfrm>
        </p:grpSpPr>
        <p:sp>
          <p:nvSpPr>
            <p:cNvPr id="24" name="Rectangle 24"/>
            <p:cNvSpPr/>
            <p:nvPr/>
          </p:nvSpPr>
          <p:spPr>
            <a:xfrm>
              <a:off x="8115300" y="1600200"/>
              <a:ext cx="3695700" cy="3657600"/>
            </a:xfrm>
            <a:prstGeom prst="roundRect">
              <a:avLst>
                <a:gd name="adj" fmla="val 1042"/>
              </a:avLst>
            </a:prstGeom>
            <a:solidFill>
              <a:srgbClr val="F0F6FC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811017" y="2464594"/>
              <a:ext cx="392639" cy="392639"/>
              <a:chOff x="9811017" y="2464594"/>
              <a:chExt cx="392639" cy="39263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967912" y="2464594"/>
                <a:ext cx="235744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35744">
                    <a:moveTo>
                      <a:pt x="0" y="235744"/>
                    </a:moveTo>
                    <a:lnTo>
                      <a:pt x="235744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811017" y="2464594"/>
                <a:ext cx="392639" cy="392639"/>
              </a:xfrm>
              <a:custGeom>
                <a:avLst/>
                <a:gdLst/>
                <a:ahLst/>
                <a:cxnLst/>
                <a:rect l="l" t="t" r="r" b="b"/>
                <a:pathLst>
                  <a:path w="392639" h="392639">
                    <a:moveTo>
                      <a:pt x="392639" y="0"/>
                    </a:moveTo>
                    <a:lnTo>
                      <a:pt x="253336" y="385762"/>
                    </a:lnTo>
                    <a:cubicBezTo>
                      <a:pt x="251416" y="389953"/>
                      <a:pt x="247230" y="392639"/>
                      <a:pt x="242620" y="392639"/>
                    </a:cubicBezTo>
                    <a:cubicBezTo>
                      <a:pt x="238011" y="392639"/>
                      <a:pt x="233825" y="389953"/>
                      <a:pt x="231905" y="385762"/>
                    </a:cubicBezTo>
                    <a:lnTo>
                      <a:pt x="156895" y="235744"/>
                    </a:lnTo>
                    <a:lnTo>
                      <a:pt x="6877" y="160734"/>
                    </a:lnTo>
                    <a:cubicBezTo>
                      <a:pt x="2687" y="158814"/>
                      <a:pt x="0" y="154628"/>
                      <a:pt x="0" y="150019"/>
                    </a:cubicBezTo>
                    <a:cubicBezTo>
                      <a:pt x="0" y="145410"/>
                      <a:pt x="2687" y="141223"/>
                      <a:pt x="6877" y="139303"/>
                    </a:cubicBezTo>
                    <a:lnTo>
                      <a:pt x="392639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9001411" y="31908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成员汇报页与群通知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97092" y="3574256"/>
              <a:ext cx="2732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免登录汇报 · 语音/照片交付 · Webhook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9710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1000" y="5524500"/>
            <a:ext cx="11430000" cy="727234"/>
            <a:chOff x="381000" y="5524500"/>
            <a:chExt cx="11430000" cy="727234"/>
          </a:xfrm>
        </p:grpSpPr>
        <p:sp>
          <p:nvSpPr>
            <p:cNvPr id="32" name="Rectangle 32"/>
            <p:cNvSpPr/>
            <p:nvPr/>
          </p:nvSpPr>
          <p:spPr>
            <a:xfrm>
              <a:off x="381000" y="5524500"/>
              <a:ext cx="11430000" cy="647700"/>
            </a:xfrm>
            <a:prstGeom prst="roundRect">
              <a:avLst>
                <a:gd name="adj" fmla="val 588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1038" y="5748338"/>
              <a:ext cx="200026" cy="200026"/>
              <a:chOff x="681038" y="574833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14388" y="5803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81038" y="57483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66688"/>
                    </a:lnTo>
                    <a:cubicBezTo>
                      <a:pt x="200026" y="185100"/>
                      <a:pt x="185100" y="200026"/>
                      <a:pt x="166688" y="200026"/>
                    </a:cubicBezTo>
                    <a:lnTo>
                      <a:pt x="33338" y="200026"/>
                    </a:lnTo>
                    <a:cubicBezTo>
                      <a:pt x="14926" y="200026"/>
                      <a:pt x="0" y="185100"/>
                      <a:pt x="0" y="16668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1038" y="5827314"/>
                <a:ext cx="144463" cy="6548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65486">
                    <a:moveTo>
                      <a:pt x="0" y="65486"/>
                    </a:moveTo>
                    <a:lnTo>
                      <a:pt x="55563" y="9923"/>
                    </a:lnTo>
                    <a:cubicBezTo>
                      <a:pt x="65875" y="0"/>
                      <a:pt x="78588" y="0"/>
                      <a:pt x="88900" y="9923"/>
                    </a:cubicBezTo>
                    <a:lnTo>
                      <a:pt x="144463" y="6548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03275" y="5849539"/>
                <a:ext cx="77788" cy="43261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43261">
                    <a:moveTo>
                      <a:pt x="0" y="21036"/>
                    </a:moveTo>
                    <a:lnTo>
                      <a:pt x="11113" y="9923"/>
                    </a:lnTo>
                    <a:cubicBezTo>
                      <a:pt x="21425" y="0"/>
                      <a:pt x="34138" y="0"/>
                      <a:pt x="44450" y="9923"/>
                    </a:cubicBezTo>
                    <a:lnTo>
                      <a:pt x="77788" y="4326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654" y="57569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提交前操作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2035" y="6031706"/>
              <a:ext cx="8416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本页占位框为矢量图形，请在 PowerPoint 中直接以真实运行截图替换 / 覆盖；建议使用昇腾 A3 环境录屏或本地实测截图。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6085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工程验证：379 项测试通过 + 昇腾 A3 实测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81000" y="1619250"/>
            <a:ext cx="4572000" cy="2381250"/>
            <a:chOff x="381000" y="1619250"/>
            <a:chExt cx="457200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457200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9704" y="18516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工程完整度不是口头承诺，而是可以复核的证据。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322" y="2225992"/>
              <a:ext cx="6936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7880" y="2295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项自动化测试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263556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全部通过（pytest · 无需密钥）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1432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23900" y="3403600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6142" y="3416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健康检查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704" y="373761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/api/health → {"engine":"comni","status":"ok"}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4191000"/>
            <a:ext cx="4572000" cy="1714500"/>
            <a:chOff x="381000" y="4191000"/>
            <a:chExt cx="4572000" cy="1714500"/>
          </a:xfrm>
        </p:grpSpPr>
        <p:sp>
          <p:nvSpPr>
            <p:cNvPr id="17" name="Rectangle 17"/>
            <p:cNvSpPr/>
            <p:nvPr/>
          </p:nvSpPr>
          <p:spPr>
            <a:xfrm>
              <a:off x="381000" y="4191000"/>
              <a:ext cx="4572000" cy="1714500"/>
            </a:xfrm>
            <a:prstGeom prst="roundRect">
              <a:avLst>
                <a:gd name="adj" fmla="val 2222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654050" y="4479163"/>
              <a:ext cx="253999" cy="169087"/>
            </a:xfrm>
            <a:custGeom>
              <a:avLst/>
              <a:gdLst/>
              <a:ahLst/>
              <a:cxnLst/>
              <a:rect l="l" t="t" r="r" b="b"/>
              <a:pathLst>
                <a:path w="253999" h="169087">
                  <a:moveTo>
                    <a:pt x="59144" y="169037"/>
                  </a:moveTo>
                  <a:cubicBezTo>
                    <a:pt x="26479" y="169037"/>
                    <a:pt x="0" y="143548"/>
                    <a:pt x="0" y="112103"/>
                  </a:cubicBezTo>
                  <a:cubicBezTo>
                    <a:pt x="0" y="80670"/>
                    <a:pt x="26479" y="55181"/>
                    <a:pt x="59144" y="55181"/>
                  </a:cubicBezTo>
                  <a:cubicBezTo>
                    <a:pt x="64135" y="32804"/>
                    <a:pt x="81927" y="14541"/>
                    <a:pt x="105816" y="7264"/>
                  </a:cubicBezTo>
                  <a:cubicBezTo>
                    <a:pt x="129692" y="0"/>
                    <a:pt x="156057" y="4813"/>
                    <a:pt x="174955" y="19964"/>
                  </a:cubicBezTo>
                  <a:cubicBezTo>
                    <a:pt x="193852" y="35077"/>
                    <a:pt x="202412" y="58153"/>
                    <a:pt x="197434" y="80530"/>
                  </a:cubicBezTo>
                  <a:lnTo>
                    <a:pt x="210007" y="80530"/>
                  </a:lnTo>
                  <a:cubicBezTo>
                    <a:pt x="234302" y="80530"/>
                    <a:pt x="253999" y="100342"/>
                    <a:pt x="253999" y="124803"/>
                  </a:cubicBezTo>
                  <a:cubicBezTo>
                    <a:pt x="253999" y="149275"/>
                    <a:pt x="234302" y="169087"/>
                    <a:pt x="209994" y="169087"/>
                  </a:cubicBezTo>
                  <a:lnTo>
                    <a:pt x="59144" y="16908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78230" y="448627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 API 实测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554" y="4918710"/>
              <a:ext cx="3034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语音转写、图片理解、TTS 朗读均正常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2554" y="5223510"/>
              <a:ext cx="2257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音频理解自动“先转写再理解”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316" y="5544502"/>
              <a:ext cx="2044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ModelBest Realtime API · 免费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0" y="1619250"/>
            <a:ext cx="6477000" cy="438150"/>
            <a:chOff x="5334000" y="1619250"/>
            <a:chExt cx="6477000" cy="438150"/>
          </a:xfrm>
        </p:grpSpPr>
        <p:sp>
          <p:nvSpPr>
            <p:cNvPr id="24" name="Rectangle 24"/>
            <p:cNvSpPr/>
            <p:nvPr/>
          </p:nvSpPr>
          <p:spPr>
            <a:xfrm>
              <a:off x="5334000" y="1619250"/>
              <a:ext cx="2286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18404" y="1775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0" y="1619250"/>
              <a:ext cx="1905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04404" y="1775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实测延迟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525000" y="1619250"/>
              <a:ext cx="2286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09404" y="1775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0" y="2057400"/>
            <a:ext cx="6477000" cy="590550"/>
            <a:chOff x="5334000" y="2057400"/>
            <a:chExt cx="6477000" cy="590550"/>
          </a:xfrm>
        </p:grpSpPr>
        <p:sp>
          <p:nvSpPr>
            <p:cNvPr id="31" name="Rectangle 31"/>
            <p:cNvSpPr/>
            <p:nvPr/>
          </p:nvSpPr>
          <p:spPr>
            <a:xfrm>
              <a:off x="5334000" y="20574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1840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文本对话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0" y="20574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04404" y="228981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2s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0" y="20574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709785" y="2297906"/>
              <a:ext cx="1482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· llama-omni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0" y="2647950"/>
            <a:ext cx="6477000" cy="590550"/>
            <a:chOff x="5334000" y="2647950"/>
            <a:chExt cx="6477000" cy="590550"/>
          </a:xfrm>
        </p:grpSpPr>
        <p:sp>
          <p:nvSpPr>
            <p:cNvPr id="38" name="Rectangle 38"/>
            <p:cNvSpPr/>
            <p:nvPr/>
          </p:nvSpPr>
          <p:spPr>
            <a:xfrm>
              <a:off x="5334000" y="26479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18404" y="2880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语音理解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0" y="2647950"/>
              <a:ext cx="1905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04404" y="288036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8s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25000" y="26479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09785" y="2888456"/>
              <a:ext cx="1373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· 直接听懂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0" y="3238500"/>
            <a:ext cx="6477000" cy="590550"/>
            <a:chOff x="5334000" y="3238500"/>
            <a:chExt cx="6477000" cy="590550"/>
          </a:xfrm>
        </p:grpSpPr>
        <p:sp>
          <p:nvSpPr>
            <p:cNvPr id="45" name="Rectangle 45"/>
            <p:cNvSpPr/>
            <p:nvPr/>
          </p:nvSpPr>
          <p:spPr>
            <a:xfrm>
              <a:off x="5334000" y="32385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18404" y="3470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图片理解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20000" y="32385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04404" y="347091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7s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525000" y="32385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709785" y="34790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含无文字流程图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334000" y="3829050"/>
            <a:ext cx="6477000" cy="590550"/>
            <a:chOff x="5334000" y="3829050"/>
            <a:chExt cx="6477000" cy="590550"/>
          </a:xfrm>
        </p:grpSpPr>
        <p:sp>
          <p:nvSpPr>
            <p:cNvPr id="52" name="Rectangle 52"/>
            <p:cNvSpPr/>
            <p:nvPr/>
          </p:nvSpPr>
          <p:spPr>
            <a:xfrm>
              <a:off x="5334000" y="38290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18404" y="406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答辩录像分析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0" y="3829050"/>
              <a:ext cx="1905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04404" y="406146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4s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525000" y="38290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09785" y="406955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 帧表情分析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0" y="4419600"/>
            <a:ext cx="6477000" cy="590550"/>
            <a:chOff x="5334000" y="4419600"/>
            <a:chExt cx="6477000" cy="590550"/>
          </a:xfrm>
        </p:grpSpPr>
        <p:sp>
          <p:nvSpPr>
            <p:cNvPr id="59" name="Rectangle 59"/>
            <p:cNvSpPr/>
            <p:nvPr/>
          </p:nvSpPr>
          <p:spPr>
            <a:xfrm>
              <a:off x="5334000" y="44196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18404" y="4652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会议视频边看边听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0" y="44196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04404" y="46520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16s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525000" y="44196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09785" y="466010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 帧 + 音频理解 · 端到端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328666" y="5239702"/>
            <a:ext cx="4364545" cy="700659"/>
            <a:chOff x="5328666" y="5239702"/>
            <a:chExt cx="4364545" cy="700659"/>
          </a:xfrm>
        </p:grpSpPr>
        <p:sp>
          <p:nvSpPr>
            <p:cNvPr id="66" name="TextBox 66"/>
            <p:cNvSpPr txBox="1"/>
            <p:nvPr/>
          </p:nvSpPr>
          <p:spPr>
            <a:xfrm>
              <a:off x="5328666" y="5239702"/>
              <a:ext cx="4364545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数据来源：docs/项目说明.md 第 8 节与 README（2026-08-24 记录）；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测试数于 2026-08-27 复核为 379 passed；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环境：910C / CANN 9.1.0-beta.1 / llama.cpp-omni / F16。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8" name="TextBox 68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3080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统一昇腾环境复现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81000" y="1619250"/>
            <a:ext cx="5334000" cy="438150"/>
            <a:chOff x="381000" y="1619250"/>
            <a:chExt cx="5334000" cy="4381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2095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5404" y="177546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1619250"/>
              <a:ext cx="3238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60904" y="177546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 / 配置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057400"/>
            <a:ext cx="5334000" cy="590550"/>
            <a:chOff x="381000" y="2057400"/>
            <a:chExt cx="5334000" cy="590550"/>
          </a:xfrm>
        </p:grpSpPr>
        <p:sp>
          <p:nvSpPr>
            <p:cNvPr id="12" name="Rectangle 12"/>
            <p:cNvSpPr/>
            <p:nvPr/>
          </p:nvSpPr>
          <p:spPr>
            <a:xfrm>
              <a:off x="381000" y="2057400"/>
              <a:ext cx="20955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540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应用环境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2057400"/>
              <a:ext cx="32385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60904" y="2289810"/>
              <a:ext cx="1047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3.11+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1000" y="2647950"/>
            <a:ext cx="5334000" cy="742950"/>
            <a:chOff x="381000" y="2647950"/>
            <a:chExt cx="5334000" cy="742950"/>
          </a:xfrm>
        </p:grpSpPr>
        <p:sp>
          <p:nvSpPr>
            <p:cNvPr id="17" name="Rectangle 17"/>
            <p:cNvSpPr/>
            <p:nvPr/>
          </p:nvSpPr>
          <p:spPr>
            <a:xfrm>
              <a:off x="381000" y="2647950"/>
              <a:ext cx="2095500" cy="742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5404" y="2899410"/>
              <a:ext cx="592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A3 环境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76500" y="2647950"/>
              <a:ext cx="3238500" cy="7429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60904" y="2880360"/>
              <a:ext cx="24582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Ascend 910C · CANN 9.1.0-beta.1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3.12.13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000" y="3390900"/>
            <a:ext cx="5334000" cy="590550"/>
            <a:chOff x="381000" y="3390900"/>
            <a:chExt cx="5334000" cy="590550"/>
          </a:xfrm>
        </p:grpSpPr>
        <p:sp>
          <p:nvSpPr>
            <p:cNvPr id="22" name="Rectangle 22"/>
            <p:cNvSpPr/>
            <p:nvPr/>
          </p:nvSpPr>
          <p:spPr>
            <a:xfrm>
              <a:off x="381000" y="3390900"/>
              <a:ext cx="20955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3623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76500" y="3390900"/>
              <a:ext cx="32385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60904" y="3623310"/>
              <a:ext cx="2384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MiniCPM-o-4_5-F16（约 16G）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81000" y="3981450"/>
            <a:ext cx="5334000" cy="742950"/>
            <a:chOff x="381000" y="3981450"/>
            <a:chExt cx="5334000" cy="742950"/>
          </a:xfrm>
        </p:grpSpPr>
        <p:sp>
          <p:nvSpPr>
            <p:cNvPr id="27" name="Rectangle 27"/>
            <p:cNvSpPr/>
            <p:nvPr/>
          </p:nvSpPr>
          <p:spPr>
            <a:xfrm>
              <a:off x="381000" y="3981450"/>
              <a:ext cx="2095500" cy="742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4232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推理服务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76500" y="3981450"/>
              <a:ext cx="3238500" cy="7429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60904" y="4213860"/>
              <a:ext cx="19019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llama.cpp-omni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（-DGGML_CANN=ON 编译）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4724400"/>
            <a:ext cx="5334000" cy="1238250"/>
            <a:chOff x="381000" y="4724400"/>
            <a:chExt cx="53340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381000" y="4724400"/>
              <a:ext cx="5334000" cy="1238250"/>
            </a:xfrm>
            <a:prstGeom prst="roundRect">
              <a:avLst>
                <a:gd name="adj" fmla="val 307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8301" y="4950619"/>
              <a:ext cx="232508" cy="214312"/>
              <a:chOff x="648301" y="4950619"/>
              <a:chExt cx="232508" cy="21431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8301" y="49506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7244" y="51173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59942" y="4978718"/>
              <a:ext cx="1950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版本固定 · 链路可验证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" y="5364956"/>
              <a:ext cx="329006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统一昇腾环境（CANN + 910C + llama.cpp-omni）下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启动、复现、验证均有记录，评审可对照核验。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619250"/>
            <a:ext cx="5715000" cy="2971800"/>
            <a:chOff x="6096000" y="1619250"/>
            <a:chExt cx="5715000" cy="2971800"/>
          </a:xfrm>
        </p:grpSpPr>
        <p:sp>
          <p:nvSpPr>
            <p:cNvPr id="39" name="Rectangle 39"/>
            <p:cNvSpPr/>
            <p:nvPr/>
          </p:nvSpPr>
          <p:spPr>
            <a:xfrm>
              <a:off x="6096000" y="16192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3942" y="17973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1 · 安装依赖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4704" y="2156460"/>
              <a:ext cx="247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pip install -r requirements.txt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400800" y="25908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0" y="26479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93942" y="2826068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2 · 配置后端（二选一）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5085" y="3193256"/>
              <a:ext cx="419328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云端：MAP_REALTIME_API_KEY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本地：ASCEND_OMNI_WS_URL=ws://127.0.0.1:28099/backend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0" y="36766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93942" y="38547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3 · 启动与验证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4704" y="4213860"/>
              <a:ext cx="4115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-m app.main（默认 http://127.0.0.1:8000）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0" y="4629150"/>
            <a:ext cx="5715000" cy="1238250"/>
            <a:chOff x="6096000" y="4629150"/>
            <a:chExt cx="5715000" cy="1238250"/>
          </a:xfrm>
        </p:grpSpPr>
        <p:sp>
          <p:nvSpPr>
            <p:cNvPr id="50" name="Rectangle 50"/>
            <p:cNvSpPr/>
            <p:nvPr/>
          </p:nvSpPr>
          <p:spPr>
            <a:xfrm>
              <a:off x="6096000" y="4629150"/>
              <a:ext cx="5715000" cy="1238250"/>
            </a:xfrm>
            <a:prstGeom prst="roundRect">
              <a:avLst>
                <a:gd name="adj" fmla="val 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98419" y="4867275"/>
              <a:ext cx="214312" cy="190500"/>
            </a:xfrm>
            <a:custGeom>
              <a:avLst/>
              <a:gdLst/>
              <a:ahLst/>
              <a:cxnLst/>
              <a:rect l="l" t="t" r="r" b="b"/>
              <a:pathLst>
                <a:path w="214312" h="190500">
                  <a:moveTo>
                    <a:pt x="0" y="95250"/>
                  </a:moveTo>
                  <a:lnTo>
                    <a:pt x="47625" y="95250"/>
                  </a:lnTo>
                  <a:lnTo>
                    <a:pt x="83344" y="190500"/>
                  </a:lnTo>
                  <a:lnTo>
                    <a:pt x="130969" y="0"/>
                  </a:lnTo>
                  <a:lnTo>
                    <a:pt x="166688" y="95250"/>
                  </a:lnTo>
                  <a:lnTo>
                    <a:pt x="214312" y="95250"/>
                  </a:lnTo>
                </a:path>
              </a:pathLst>
            </a:custGeom>
            <a:noFill/>
            <a:ln w="23812">
              <a:solidFill>
                <a:srgbClr val="FFFFF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93992" y="4883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验证入口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56985" y="5269706"/>
              <a:ext cx="415061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/api/health 健康检查 · /api/realtime/status（local | map）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scripts/preflight_demo.py 演示前一键预检（含暖机）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合规安全与已知边界（如实说明）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81000" y="1619250"/>
            <a:ext cx="5619750" cy="4095750"/>
            <a:chOff x="381000" y="1619250"/>
            <a:chExt cx="5619750" cy="40957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619750" cy="4095750"/>
            </a:xfrm>
            <a:prstGeom prst="roundRect">
              <a:avLst>
                <a:gd name="adj" fmla="val 93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619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2001" y="2009775"/>
              <a:ext cx="310011" cy="285751"/>
              <a:chOff x="712001" y="2009775"/>
              <a:chExt cx="31001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12001" y="20097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23925" y="22320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29106" y="2053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合规与安全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2768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523" y="2719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模型合规可控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3021806"/>
              <a:ext cx="4833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合规模式下全链路仅调用 MiniCPM-o 4.5，不创建任何其他模型客户端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3530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6523" y="3481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密钥安全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3783806"/>
              <a:ext cx="2353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Key 仅存 .env，不进入版本库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4292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523" y="4243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操作可审计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4545806"/>
              <a:ext cx="3189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多用户 ACL、会话登录、操作审计与版本回滚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466" y="5144452"/>
              <a:ext cx="4391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APP_MODEL_MODE=minicpm · APP_ALLOW_EXTERNAL_MODELS=0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91250" y="1619250"/>
            <a:ext cx="5619750" cy="4095750"/>
            <a:chOff x="6191250" y="1619250"/>
            <a:chExt cx="5619750" cy="4095750"/>
          </a:xfrm>
        </p:grpSpPr>
        <p:sp>
          <p:nvSpPr>
            <p:cNvPr id="24" name="Rectangle 24"/>
            <p:cNvSpPr/>
            <p:nvPr/>
          </p:nvSpPr>
          <p:spPr>
            <a:xfrm>
              <a:off x="6191250" y="1619250"/>
              <a:ext cx="5619750" cy="4095750"/>
            </a:xfrm>
            <a:prstGeom prst="roundRect">
              <a:avLst>
                <a:gd name="adj" fmla="val 93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1619250"/>
              <a:ext cx="5619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43675" y="2009775"/>
              <a:ext cx="285751" cy="285751"/>
              <a:chOff x="6543675" y="2009775"/>
              <a:chExt cx="285751" cy="2857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543675" y="20097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6550" y="208915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86550" y="2216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039356" y="20535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已知边界（如实说明）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9954" y="2747010"/>
              <a:ext cx="5159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8B 模型推理能力有限，演示主打感知与流程闭环，不做高难度推理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9954" y="3261360"/>
              <a:ext cx="4144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910C 本地 TTS 有已知算子问题，语音播报走云端 API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9954" y="3775710"/>
              <a:ext cx="3372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云端音频表现为转写，已通过适配层统一行为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954" y="4290060"/>
              <a:ext cx="43903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llama-omni-server 仅支持单活跃会话，演示前需预检暖机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0716" y="49349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边界如实标注，确保演示可预期、可复现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1038" y="6015038"/>
            <a:ext cx="6511480" cy="281368"/>
            <a:chOff x="681038" y="6015038"/>
            <a:chExt cx="6511480" cy="281368"/>
          </a:xfrm>
        </p:grpSpPr>
        <p:grpSp>
          <p:nvGrpSpPr>
            <p:cNvPr id="40" name="Group 40"/>
            <p:cNvGrpSpPr/>
            <p:nvPr/>
          </p:nvGrpSpPr>
          <p:grpSpPr>
            <a:xfrm>
              <a:off x="681038" y="6015038"/>
              <a:ext cx="200026" cy="200025"/>
              <a:chOff x="681038" y="601503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81038" y="60150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0776" y="60594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55492" y="61706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654" y="60617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工程态度：能力边界如实标注，不夸大模型能力，确保评审现场演示可预期、可复现。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419100"/>
            <a:ext cx="11430000" cy="990600"/>
            <a:chOff x="381000" y="419100"/>
            <a:chExt cx="11430000" cy="990600"/>
          </a:xfrm>
        </p:grpSpPr>
        <p:sp>
          <p:nvSpPr>
            <p:cNvPr id="2" name="Rectangle 2"/>
            <p:cNvSpPr/>
            <p:nvPr/>
          </p:nvSpPr>
          <p:spPr>
            <a:xfrm>
              <a:off x="381000" y="419100"/>
              <a:ext cx="11430000" cy="990600"/>
            </a:xfrm>
            <a:prstGeom prst="roundRect">
              <a:avLst>
                <a:gd name="adj" fmla="val 384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180" y="695325"/>
              <a:ext cx="73590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MiniCPM-o 4.5 从“聊天机器人”变成真实协作流程的入口——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拍照立项、说话排期、确认分工、语音/照片汇报、群通知，全链路由全模态能力驱动。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1000" y="1676400"/>
            <a:ext cx="2724150" cy="1489234"/>
            <a:chOff x="381000" y="1676400"/>
            <a:chExt cx="2724150" cy="1489234"/>
          </a:xfrm>
        </p:grpSpPr>
        <p:sp>
          <p:nvSpPr>
            <p:cNvPr id="5" name="Rectangle 5"/>
            <p:cNvSpPr/>
            <p:nvPr/>
          </p:nvSpPr>
          <p:spPr>
            <a:xfrm>
              <a:off x="38100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50081" y="1939925"/>
              <a:ext cx="229394" cy="215901"/>
            </a:xfrm>
            <a:custGeom>
              <a:avLst/>
              <a:gdLst/>
              <a:ahLst/>
              <a:cxnLst/>
              <a:rect l="l" t="t" r="r" b="b"/>
              <a:pathLst>
                <a:path w="229394" h="215901">
                  <a:moveTo>
                    <a:pt x="175419" y="188913"/>
                  </a:moveTo>
                  <a:cubicBezTo>
                    <a:pt x="190324" y="188913"/>
                    <a:pt x="202407" y="200996"/>
                    <a:pt x="202407" y="215901"/>
                  </a:cubicBezTo>
                  <a:cubicBezTo>
                    <a:pt x="202407" y="200996"/>
                    <a:pt x="214489" y="188913"/>
                    <a:pt x="229394" y="188913"/>
                  </a:cubicBezTo>
                  <a:cubicBezTo>
                    <a:pt x="214489" y="188913"/>
                    <a:pt x="202407" y="176830"/>
                    <a:pt x="202407" y="161925"/>
                  </a:cubicBezTo>
                  <a:cubicBezTo>
                    <a:pt x="202407" y="176830"/>
                    <a:pt x="190324" y="188913"/>
                    <a:pt x="175419" y="188913"/>
                  </a:cubicBezTo>
                  <a:moveTo>
                    <a:pt x="175419" y="26988"/>
                  </a:moveTo>
                  <a:cubicBezTo>
                    <a:pt x="190324" y="26988"/>
                    <a:pt x="202407" y="39070"/>
                    <a:pt x="202407" y="53975"/>
                  </a:cubicBezTo>
                  <a:cubicBezTo>
                    <a:pt x="202407" y="39070"/>
                    <a:pt x="214489" y="26988"/>
                    <a:pt x="229394" y="26988"/>
                  </a:cubicBezTo>
                  <a:cubicBezTo>
                    <a:pt x="214489" y="26988"/>
                    <a:pt x="202407" y="14905"/>
                    <a:pt x="202407" y="0"/>
                  </a:cubicBezTo>
                  <a:cubicBezTo>
                    <a:pt x="202407" y="14905"/>
                    <a:pt x="190324" y="26988"/>
                    <a:pt x="175419" y="26988"/>
                  </a:cubicBezTo>
                  <a:moveTo>
                    <a:pt x="80963" y="188913"/>
                  </a:moveTo>
                  <a:cubicBezTo>
                    <a:pt x="80963" y="144198"/>
                    <a:pt x="117211" y="107950"/>
                    <a:pt x="161925" y="107950"/>
                  </a:cubicBezTo>
                  <a:cubicBezTo>
                    <a:pt x="117211" y="107950"/>
                    <a:pt x="80963" y="71702"/>
                    <a:pt x="80963" y="26988"/>
                  </a:cubicBezTo>
                  <a:cubicBezTo>
                    <a:pt x="80963" y="71702"/>
                    <a:pt x="44714" y="107950"/>
                    <a:pt x="0" y="107950"/>
                  </a:cubicBezTo>
                  <a:cubicBezTo>
                    <a:pt x="44714" y="107950"/>
                    <a:pt x="80963" y="144198"/>
                    <a:pt x="80963" y="188913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198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全模态入口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3885" y="2736056"/>
              <a:ext cx="228727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五种模态第一次进入真实协作流程，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而不是停在聊天框里。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95650" y="1676400"/>
            <a:ext cx="2724150" cy="1489234"/>
            <a:chOff x="3295650" y="1676400"/>
            <a:chExt cx="2724150" cy="1489234"/>
          </a:xfrm>
        </p:grpSpPr>
        <p:sp>
          <p:nvSpPr>
            <p:cNvPr id="10" name="Rectangle 10"/>
            <p:cNvSpPr/>
            <p:nvPr/>
          </p:nvSpPr>
          <p:spPr>
            <a:xfrm>
              <a:off x="329565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578225" y="1939925"/>
              <a:ext cx="215901" cy="215901"/>
              <a:chOff x="3578225" y="1939925"/>
              <a:chExt cx="215901" cy="21590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578225" y="19939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605213" y="19399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605213" y="20478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659188" y="20748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86175" y="19399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686175" y="21288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740151" y="19534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767138" y="19399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767138" y="20073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51663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确定性正确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2736056"/>
              <a:ext cx="2429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LLM 负责创造，算法负责正确，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计划结果可复现、不受模型波动影响。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10300" y="1676400"/>
            <a:ext cx="2724150" cy="1489234"/>
            <a:chOff x="6210300" y="1676400"/>
            <a:chExt cx="2724150" cy="1489234"/>
          </a:xfrm>
        </p:grpSpPr>
        <p:sp>
          <p:nvSpPr>
            <p:cNvPr id="24" name="Rectangle 24"/>
            <p:cNvSpPr/>
            <p:nvPr/>
          </p:nvSpPr>
          <p:spPr>
            <a:xfrm>
              <a:off x="621030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479381" y="1926431"/>
              <a:ext cx="242888" cy="242888"/>
              <a:chOff x="6479381" y="19264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46850" y="199390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9381" y="19264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41307" y="2088357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0" y="0"/>
                    </a:moveTo>
                    <a:lnTo>
                      <a:pt x="45204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15140" y="2088357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45204" y="0"/>
                    </a:moveTo>
                    <a:lnTo>
                      <a:pt x="0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15140" y="1962190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0" y="0"/>
                    </a:moveTo>
                    <a:lnTo>
                      <a:pt x="45204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41307" y="1962190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45204" y="0"/>
                    </a:moveTo>
                    <a:lnTo>
                      <a:pt x="0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431280" y="2409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完整闭环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3185" y="2736056"/>
              <a:ext cx="2429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从计划到执行、汇报、触达环环相扣，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任何环节失败都有确定性兜底。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24950" y="1676400"/>
            <a:ext cx="2686050" cy="1489234"/>
            <a:chOff x="9124950" y="1676400"/>
            <a:chExt cx="2686050" cy="1489234"/>
          </a:xfrm>
        </p:grpSpPr>
        <p:sp>
          <p:nvSpPr>
            <p:cNvPr id="35" name="Rectangle 35"/>
            <p:cNvSpPr/>
            <p:nvPr/>
          </p:nvSpPr>
          <p:spPr>
            <a:xfrm>
              <a:off x="9124950" y="1676400"/>
              <a:ext cx="26860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394031" y="1926431"/>
              <a:ext cx="242889" cy="242889"/>
              <a:chOff x="9394031" y="1926431"/>
              <a:chExt cx="242889" cy="24288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421019" y="1953419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2" y="0"/>
                      <a:pt x="188913" y="6041"/>
                      <a:pt x="188913" y="13494"/>
                    </a:cubicBezTo>
                    <a:lnTo>
                      <a:pt x="188913" y="175419"/>
                    </a:lnTo>
                    <a:cubicBezTo>
                      <a:pt x="188913" y="182872"/>
                      <a:pt x="182872" y="188913"/>
                      <a:pt x="175419" y="188913"/>
                    </a:cubicBezTo>
                    <a:lnTo>
                      <a:pt x="13494" y="188913"/>
                    </a:lnTo>
                    <a:cubicBezTo>
                      <a:pt x="6041" y="188913"/>
                      <a:pt x="0" y="182872"/>
                      <a:pt x="0" y="175419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474994" y="200739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0"/>
                    </a:moveTo>
                    <a:lnTo>
                      <a:pt x="80963" y="0"/>
                    </a:lnTo>
                    <a:lnTo>
                      <a:pt x="80963" y="80963"/>
                    </a:lnTo>
                    <a:lnTo>
                      <a:pt x="0" y="80963"/>
                    </a:ln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394031" y="20208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94031" y="20748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88488" y="19264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542463" y="19264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09932" y="20208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609932" y="20748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542463" y="21423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88488" y="21423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34593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昇腾可复现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47835" y="2736056"/>
              <a:ext cx="23868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昇腾 A3 本地与云端双后端统一适配，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统一昇腾环境可以复现。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71856" y="3387090"/>
            <a:ext cx="527152" cy="352044"/>
            <a:chOff x="371856" y="3387090"/>
            <a:chExt cx="527152" cy="352044"/>
          </a:xfrm>
        </p:grpSpPr>
        <p:sp>
          <p:nvSpPr>
            <p:cNvPr id="50" name="TextBox 50"/>
            <p:cNvSpPr txBox="1"/>
            <p:nvPr/>
          </p:nvSpPr>
          <p:spPr>
            <a:xfrm>
              <a:off x="371856" y="3387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展望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81000" y="3771900"/>
            <a:ext cx="3676650" cy="1428750"/>
            <a:chOff x="381000" y="3771900"/>
            <a:chExt cx="3676650" cy="1428750"/>
          </a:xfrm>
        </p:grpSpPr>
        <p:sp>
          <p:nvSpPr>
            <p:cNvPr id="52" name="Rectangle 52"/>
            <p:cNvSpPr/>
            <p:nvPr/>
          </p:nvSpPr>
          <p:spPr>
            <a:xfrm>
              <a:off x="381000" y="3771900"/>
              <a:ext cx="367665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9131" y="4081463"/>
              <a:ext cx="242889" cy="161925"/>
              <a:chOff x="669131" y="4081463"/>
              <a:chExt cx="242889" cy="1619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1057" y="4102636"/>
                <a:ext cx="80963" cy="11957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578">
                    <a:moveTo>
                      <a:pt x="0" y="32801"/>
                    </a:moveTo>
                    <a:lnTo>
                      <a:pt x="61437" y="2090"/>
                    </a:lnTo>
                    <a:cubicBezTo>
                      <a:pt x="65619" y="0"/>
                      <a:pt x="70584" y="224"/>
                      <a:pt x="74561" y="2681"/>
                    </a:cubicBezTo>
                    <a:cubicBezTo>
                      <a:pt x="78538" y="5138"/>
                      <a:pt x="80960" y="9478"/>
                      <a:pt x="80963" y="14153"/>
                    </a:cubicBezTo>
                    <a:lnTo>
                      <a:pt x="80963" y="105425"/>
                    </a:lnTo>
                    <a:cubicBezTo>
                      <a:pt x="80960" y="110100"/>
                      <a:pt x="78538" y="114440"/>
                      <a:pt x="74561" y="116897"/>
                    </a:cubicBezTo>
                    <a:cubicBezTo>
                      <a:pt x="70584" y="119354"/>
                      <a:pt x="65619" y="119578"/>
                      <a:pt x="61437" y="117488"/>
                    </a:cubicBezTo>
                    <a:lnTo>
                      <a:pt x="0" y="86777"/>
                    </a:lnTo>
                    <a:lnTo>
                      <a:pt x="0" y="3280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9131" y="4081463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116330" y="408622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实时语音 / 视频双工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935" y="4564856"/>
              <a:ext cx="183210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接入云端 mode=audio/video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全双工实时对话体验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248150" y="3771900"/>
            <a:ext cx="3676650" cy="1428750"/>
            <a:chOff x="4248150" y="3771900"/>
            <a:chExt cx="3676650" cy="1428750"/>
          </a:xfrm>
        </p:grpSpPr>
        <p:sp>
          <p:nvSpPr>
            <p:cNvPr id="59" name="Rectangle 59"/>
            <p:cNvSpPr/>
            <p:nvPr/>
          </p:nvSpPr>
          <p:spPr>
            <a:xfrm>
              <a:off x="4248150" y="3771900"/>
              <a:ext cx="367665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4531952" y="4040981"/>
              <a:ext cx="247218" cy="247218"/>
              <a:chOff x="4531952" y="4040981"/>
              <a:chExt cx="247218" cy="247218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4630738" y="4040981"/>
                <a:ext cx="148432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148432">
                    <a:moveTo>
                      <a:pt x="0" y="148432"/>
                    </a:moveTo>
                    <a:lnTo>
                      <a:pt x="148432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531952" y="4040981"/>
                <a:ext cx="247218" cy="247218"/>
              </a:xfrm>
              <a:custGeom>
                <a:avLst/>
                <a:gdLst/>
                <a:ahLst/>
                <a:cxnLst/>
                <a:rect l="l" t="t" r="r" b="b"/>
                <a:pathLst>
                  <a:path w="247218" h="247218">
                    <a:moveTo>
                      <a:pt x="247218" y="0"/>
                    </a:moveTo>
                    <a:lnTo>
                      <a:pt x="159508" y="242888"/>
                    </a:lnTo>
                    <a:cubicBezTo>
                      <a:pt x="158299" y="245526"/>
                      <a:pt x="155663" y="247218"/>
                      <a:pt x="152761" y="247218"/>
                    </a:cubicBezTo>
                    <a:cubicBezTo>
                      <a:pt x="149859" y="247218"/>
                      <a:pt x="147223" y="245526"/>
                      <a:pt x="146014" y="242888"/>
                    </a:cubicBezTo>
                    <a:lnTo>
                      <a:pt x="98786" y="148432"/>
                    </a:lnTo>
                    <a:lnTo>
                      <a:pt x="4330" y="101203"/>
                    </a:lnTo>
                    <a:cubicBezTo>
                      <a:pt x="1692" y="99994"/>
                      <a:pt x="0" y="97359"/>
                      <a:pt x="0" y="94456"/>
                    </a:cubicBezTo>
                    <a:cubicBezTo>
                      <a:pt x="0" y="91554"/>
                      <a:pt x="1692" y="88919"/>
                      <a:pt x="4330" y="87710"/>
                    </a:cubicBezTo>
                    <a:lnTo>
                      <a:pt x="24721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4983480" y="40862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企业应用消息定向推送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490085" y="4564856"/>
              <a:ext cx="201701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企业微信“应用消息”精准触达，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通知更个性、更及时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115300" y="3771900"/>
            <a:ext cx="3695700" cy="1428750"/>
            <a:chOff x="8115300" y="3771900"/>
            <a:chExt cx="3695700" cy="1428750"/>
          </a:xfrm>
        </p:grpSpPr>
        <p:sp>
          <p:nvSpPr>
            <p:cNvPr id="66" name="Rectangle 66"/>
            <p:cNvSpPr/>
            <p:nvPr/>
          </p:nvSpPr>
          <p:spPr>
            <a:xfrm>
              <a:off x="8115300" y="3771900"/>
              <a:ext cx="369570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416925" y="4040981"/>
              <a:ext cx="215901" cy="242888"/>
              <a:chOff x="8416925" y="4040981"/>
              <a:chExt cx="215901" cy="242888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416925" y="40409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416925" y="40814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416925" y="41624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850630" y="40862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场景模板与知识库沉淀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57235" y="4564856"/>
              <a:ext cx="28562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课程、赛事、企业项目等场景模板持续积累，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工时估算与分工建议越用越准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74904" y="5600700"/>
            <a:ext cx="11436096" cy="790956"/>
            <a:chOff x="374904" y="5600700"/>
            <a:chExt cx="11436096" cy="790956"/>
          </a:xfrm>
        </p:grpSpPr>
        <p:sp>
          <p:nvSpPr>
            <p:cNvPr id="74" name="Line 74"/>
            <p:cNvSpPr/>
            <p:nvPr/>
          </p:nvSpPr>
          <p:spPr>
            <a:xfrm>
              <a:off x="381000" y="56007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74904" y="5852160"/>
              <a:ext cx="5668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v7.1 · 2026-08 · 华为昇腾创新应用赛道 · OpenBMB / 面壁智能 × 华为昇腾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74904" y="6156960"/>
              <a:ext cx="5726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一个把 MiniCPM-o 4.5 变成真实协作流程入口的完整、可复现、可落地闭环。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8" name="TextBox 78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scend_collab_ppt">
  <a:themeElements>
    <a:clrScheme name="ascend_collab_ppt">
      <a:dk1>
        <a:srgbClr val="1E293B"/>
      </a:dk1>
      <a:lt1>
        <a:srgbClr val="FFFFFF"/>
      </a:lt1>
      <a:dk2>
        <a:srgbClr val="1F497D"/>
      </a:dk2>
      <a:lt2>
        <a:srgbClr val="F2F5FA"/>
      </a:lt2>
      <a:accent1>
        <a:srgbClr val="375A86"/>
      </a:accent1>
      <a:accent2>
        <a:srgbClr val="C9A227"/>
      </a:accent2>
      <a:accent3>
        <a:srgbClr val="7B9DC4"/>
      </a:accent3>
      <a:accent4>
        <a:srgbClr val="375A86"/>
      </a:accent4>
      <a:accent5>
        <a:srgbClr val="DCE6F0"/>
      </a:accent5>
      <a:accent6>
        <a:srgbClr val="64748B"/>
      </a:accent6>
      <a:hlink>
        <a:srgbClr val="C9A227"/>
      </a:hlink>
      <a:folHlink>
        <a:srgbClr val="7B9DC4"/>
      </a:folHlink>
    </a:clrScheme>
    <a:fontScheme name="ascend_collab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cend_collab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scend_collab_ppt">
  <a:themeElements>
    <a:clrScheme name="ascend_collab_ppt">
      <a:dk1>
        <a:srgbClr val="1E293B"/>
      </a:dk1>
      <a:lt1>
        <a:srgbClr val="FFFFFF"/>
      </a:lt1>
      <a:dk2>
        <a:srgbClr val="1F497D"/>
      </a:dk2>
      <a:lt2>
        <a:srgbClr val="F2F5FA"/>
      </a:lt2>
      <a:accent1>
        <a:srgbClr val="375A86"/>
      </a:accent1>
      <a:accent2>
        <a:srgbClr val="C9A227"/>
      </a:accent2>
      <a:accent3>
        <a:srgbClr val="7B9DC4"/>
      </a:accent3>
      <a:accent4>
        <a:srgbClr val="375A86"/>
      </a:accent4>
      <a:accent5>
        <a:srgbClr val="DCE6F0"/>
      </a:accent5>
      <a:accent6>
        <a:srgbClr val="64748B"/>
      </a:accent6>
      <a:hlink>
        <a:srgbClr val="C9A227"/>
      </a:hlink>
      <a:folHlink>
        <a:srgbClr val="7B9DC4"/>
      </a:folHlink>
    </a:clrScheme>
    <a:fontScheme name="ascend_collab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cend_collab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2026-08-27T08:11:30Z</dcterms:created>
  <dcterms:modified xsi:type="dcterms:W3CDTF">2026-08-27T08:11:30Z</dcterms:modified>
  <cp:category/>
  <cp:contentStatus/>
</cp:coreProperties>
</file>