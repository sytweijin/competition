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这是「协作分工智能体 · 昇腾全模态版」的参赛封面，面向华为昇腾创新应用赛道。本作品基于 MiniCPM-o 4.5 全模态模型，把多模态大模型变成真实协作流程的入口：别人给你一张静态分工表，我们给你一张可编辑的活协作图。拍照立项、说话排期、确认分工、语音与照片汇报、群通知，全链路由 MiniCPM-o 4.5 驱动；版本为 v7.1，提交于 2026 年 8 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本文档共 29 页，按六个部分组织。第一部分是项目概览，包括定位、背景与痛点、解决思路；第二部分介绍系统架构与核心机制，包括总体架构、计划引擎、全模态链路与协作闭环；第三部分详解核心功能，覆盖功能总览、计划引擎、CPM 排期、动态协作与汇报触达；第四部分是四个创新点；第五部分是应用落地与工程验证，包括应用场景、运行效果、工程验证、昇腾复现与合规边界；第六部分为总结与展望。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项目一览页把评委最关心的三个要点前置：功能、创新与应用。用户只需输入项目要求、团队成员与截止日，系统就会自动完成任务拆解、CPM 关键路径排期、技能匹配分工与报告生成，并以 MiniCPM-o 4.5 的全模态能力驱动完整协作闭环，支持随时调整与即时重算。功能上，系统提供五种模态输入、计划引擎、动态协作与汇报触达；创新上，多模态从聊天进入真实流程，LLM 负责创造、确定性算法负责正确，任何环节失败都有兜底；应用上，覆盖学生团队、课程设计、社团与中小型企业项目组，支持小型与大型两种项目模式，可接入企业微信、飞书、钉钉群通知，并可在昇腾 A3 本地或云端双后端复现。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项目要解决的真实问题。团队项目从立项到交付，计划、成员与进度始终在变，而传统规划工具与通用大模型都停留在生成一份静态结果。四大痛点包括：静态计划表，规划工具只在开始时生成一张分工表，项目一变就过时；大模型未进入流程，多模态能力常被当作聊天机器人附加功能；汇报成本高，成员更新状态成本高，负责人反复追问进度；会议内容难沉淀，录音、录像与白板照片需要人工二次整理才能变成任务。结果是计划一变就过时，团队反复对齐、进度不透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解决方案的整体逻辑：以全模态能力驱动五步协作闭环。第一步拍照立项，拍照或录音描述需求，白板、截图与手绘直接进入拆解；第二步说话排期，语音补充项目要求，自动生成任务草案；第三步确认分工，人工调整草案、拖拽分工、即时重算；第四步成员汇报，语音或照片交付，负责人确认完成；第五步群通知触达，状态变更自动推送，并提供今日播报。两条设计原则是：LLM 负责创造性拆解，确定性算法负责正确性保证；每个 Agent 失败都有确定性兜底，主链路永不中断，演示不依赖模型持续在线。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这是第二章章节页，说明系统如何运转、计划为何可信。本章包含四部分内容：总体架构采用工作台到 FastAPI 后端再到昇腾 A3 与云端双后端的结构；计划引擎采用 LLM 创造与算法正确相结合的确定性机制；全模态接入通过统一适配层打通文本、语音、图片、视频与 TTS；协作闭环覆盖计划、执行、汇报与通知触达四个环节。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本页是系统总体架构图。前端层包括 Web 工作台与成员轻量汇报页，工作台承载文本、语音、拍照、录像、TTS、甘特图、导出与提醒，汇报页通过 token 链接免登录、只看自己的任务。后端层是 FastAPI，按业务域组织为计划引擎、多模态适配 omni_chat、媒体分析与协作闭环四个模块。模型层通过 WebSocket 连接昇腾 A3 本地的 llama.cpp-omni 与 MiniCPM-o-4_5-F16，或 ModelBest 云端的 MiniCPM-o-4.5-Realtime API。双后端可一键切换：配置 ASCEND_OMNI_WS_URL 即走本地，注释掉走云端；/api/realtime/status 返回 local 或 map 直观确认当前链路。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本页介绍计划引擎的确定性正确性保证机制。主链路分为五步：任务拆解、结构化校验、技能匹配分工、CPM 关键路径排期与报告生成。LLM 负责创造性工作，包括任务拆解、工时建议、报告表达与批判性审查建议；确定性算法负责正确性工作，包括 CPM 关键路径与浮动计算、技能匹配评分、负载均衡、依赖校验，以及跳过周末与成员不可用日的日期约束。设计上，拆解、分工、排期、审查任一环节的 LLM 失败都会自动切换到确定性规则实现，因此演示不依赖模型持续在线。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本页说明五种模态如何统一接入。文本通过 SSE 流式对话并提供方案快照；语音支持麦克风对话、需求输入与语音汇报；图片支持拍照需求、白板、截图与扫描 PDF 的理解，且无文字流程图也能理解；视频支持会议录像与答辩录像的边看边听；TTS 提供语音回复与今日播报。五种模态汇入 omni_chat 统一适配层，再分发到昇腾 A3 本地与 ModelBest 云端两个后端：本地能直接听，云端 turn-based 音频先转写再理解，行为经适配层统一。实测昇腾 A3 语音理解约八秒，云端音频自动先转写再理解，详见第 26 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本页展示协作闭环：计划生成后成员执行，成员通过语音、照片或文本汇报反馈，负责人确认完成，状态变更自动通过 Webhook 推送到企业微信、飞书或钉钉，并提供今日播报；每一次状态变更都回到即时重算，让计划随现实持续运转，而不是一次生成、永久过时。四项关键机制包括：token 免登录，成员只看自己的任务、手机即用；语音与照片汇报，语音上报状态与工时、拍照交付；Webhook 群通知自动推送；今日播报用云端 TTS 朗读今日待办要点。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这是第三章章节页，说明五大能力模块如何围绕计划引擎展开。本章依次介绍功能总览矩阵、计划引擎的拆解与工时与匹配与均衡、CPM 关键路径排期、动态协作与版本管理、成员汇报与群通知，以及全模态交互能力矩阵。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本页给出五大能力模块的全景。计划引擎支持小型与大型双模式，包含拆解、工时、CPM 排期、技能匹配、负载均衡、报告与批判性审查；动态协作提供可编辑草案、拖拽分工、即时重算、成员管理与版本快照对比回滚，并支持大型项目分阶段认领；全模态交互覆盖文本、语音、图片、视频与 TTS 五种模态；汇报与通知包括轻量汇报页、语音与照片汇报、负责人确认、群通知与今日播报；工程能力包括六种格式导出、知识库问答、鉴权审计与演示前预检。模块关系上，计划引擎是核心，动态协作保证计划实时更新，全模态交互是入口，汇报与通知是闭环出口，工程能力保障可运行、可复现、可审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本页详解计划引擎的四项机制。任务拆解方面，小型项目直接拆解分工，大型项目按大模块、骨干认领、子任务、志愿者招募分阶段推进，LLM 结合知识库工时校准生成一到八项弹性子任务，失败自动切换确定性兜底。工时估算方面，系统检索结构化工时案例库并结合用户反馈学习，实际偏差自动沉淀回知识库，越用越准。技能匹配方面，支持中文、近义词与中英文匹配，划分负责人、主要协助、辅助协助三层角色并给出匹配度评分。负载均衡方面，基于成员可用工时与阶段负载自动均衡，均衡后重算评分并说明理由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本页介绍 CPM 关键路径排期。算法首先从截止日倒排各任务起止日期，然后计算关键路径与浮动，识别影响整体进度的任务并输出风险提示；排期尊重资源日历，跳过周末与成员不可用日；同时支持手动固定日期，计划可人工微调。右侧甘特示意展示了任务条、里程碑、依赖连线与以金色高亮的关键路径，图中为示意绘制，真实运行界面见第 25 页截图占位。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动态协作与版本管理能力。可编辑草案支持增删改、拆分与合并任务；看板支持拖拽分工并一键恢复自动分工；切换任务状态、成员变动或工时调整后系统自动重算排期与分工；成员管理可增删成员、调整工时、角色与不可用日期并自动重排。版本管理方面，保存即生成版本快照，支持相似任务版本树、差异对比与分支回滚，每一步调整都可追溯、可恢复。大型项目模式按大模块拆解、骨干认领、子任务拆解、志愿者招募与认领多阶段连续推进，骨干认领包含负责人与技能、工时、不可用日期信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本页展示汇报触达的四步流程。第一步生成 token 链接，成员免登录、只看自己的任务；第二步语音或照片汇报，语音上报状态、工时与备注，拍照交付物；第三步负责人确认完成，变更进入计划并触发重算；第四步群通知与今日播报，状态变更自动推送企业微信、飞书、钉钉 Webhook，并由云端 TTS 播报今日待办。关键机制包括全程免登录、自动触达与今日播报：token 绑定方案与成员，无需注册，手机即可完成；状态变更自动推送，无需人工转发；今日播报让团队节奏一目了然。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本页是五种模态的能力矩阵。文本提供 SSE 流式对话与带方案快照的 AI 建议抽屉，对应接口 /api/realtime/chat；语音提供麦克风对话、需求输入与语音汇报，对应 /api/realtime/voice-chat；图片支持拍照需求、白板、截图与扫描 PDF 理解，对应 /api/analyze-files；视频支持会议录像边看边听与答辩录像表现观察，对应 /api/realtime/meeting；TTS 提供语音回复与今日播报，对应 /api/realtime/tts。每种模态都有对应接口与真实协作动作，全模态能力落进工作流而非停留在演示。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四章章节页，提出四个创新点，分别回答四个关键问题：全模态如何从聊天进入真实协作流程、计划结果如何保证正确、系统如何做到完整闭环并全环节兜底、昇腾本地与云端如何统一适配并满足合规要求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本页说明创新点一：把多模态模型变成协作流程的入口。传统用法中，多模态能力是聊天机器人附加功能，只能单点问答、单点 OCR 或转写，结果不进入业务流程。本项目把五种模态接入真实工作流：拍照立项，白板、截图与手绘直接进文件分析，无文字流程图也能理解；说话排期，录音进需求材料或直接对话，会议录音与录像边看边听整理任务；答辩直连，评委语音或视频点评追问，答辩录像附逐帧表现观察；语音回复与今日播报，TTS 把计划说给成员听。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本页说明创新点二：确定性正确性保证。LLM 负责创造，承担任务拆解、工时建议、报告表达与批判性审查建议；确定性算法负责正确，承担 CPM 关键路径与浮动计算、技能匹配评分、负载均衡、依赖校验与日期约束。这样设计是因为计划结果直接影响团队执行，不能依赖模型输出的偶然正确；AI 负责想得开，算法负责算得准。任何 LLM 环节失败都会切换到确定性规则兜底，演示不依赖模型持续在线。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本页说明创新点三：完整协作闭环与全环节兜底。系统覆盖计划生成、成员执行、汇报反馈、通知触达的完整闭环，并通过 Webhook 群通知与今日播报完成触达。四个确定性兜底包括：LLM 拆解失败时使用确定性拆解与弹性子任务规则；分工失败时使用规则分工与评分兜底；排期失败时使用算法排期兜底且日期约束仍生效；断网或模型离线时，本地保留确定性任务拆解与导出能力，主链路仍可演示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本页说明创新点四：昇腾本地与云端双后端统一适配。本地后端使用昇腾 A3 的 Ascend 910C 与 llama.cpp-omni 运行 MiniCPM-o-4_5-F16，是评审期主力；云端使用 ModelBest 的 MiniCPM-o-4.5-Realtime API，免费且用于开发期兜底。两者通过同一套 WebSocket 协议一键切换，omni_chat 适配层统一行为：本地能直接听，云端先转写再理解，/api/realtime/status 返回 local 或 map 一键确认。合规方面，当 APP_MODEL_MODE 为 minicpm 且 APP_ALLOW_EXTERNAL_MODELS 为 0 时，全链路仅调用 MiniCPM-o 4.5，不创建任何其他模型客户端；API Key 仅存于 .env，不进入版本库。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这是第五章章节页，主题是应用落地与工程验证。本章依次展示应用场景与落地形态、运行效果截图占位、379 项测试通过与昇腾 A3 实测、统一昇腾环境复现，以及合规安全与已知边界。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应用场景。学生团队与课程设计场景使用小型项目模式扁平协作，拍照白板、语音需求直接进拆解，成员免登录汇报；社团与活动组织场景支持成员管理、任务认领与自动群通知；比赛与冲刺团队场景利用快速排期、负载均衡与今日播报控制节奏。面向企业，小型项目模式适合成员已确定、组织关系简单的项目，通知可直接推送到企业微信、钉钉、飞书工作群，融入既有协作工具；大型项目模式适合跨部门、外包协同等成员与分工动态变化的复杂项目，按模块、骨干、子任务、志愿者分层推进。落地形态包括 Web 工作台、免登录汇报页、企业微信与飞书与钉钉群通知、多格式导出与只读分享。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本页是运行效果展示页，预留三个截图占位框：工作台首页、任务草案与甘特图、成员汇报页与群通知。占位框为矢量图形，提交前请在 PowerPoint 中直接以真实运行截图替换或覆盖，建议使用昇腾 A3 环境录屏或本地实测截图。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本页给出工程验证证据。自动化测试共 379 项全部通过，使用 pytest 且无需配置密钥；健康检查 /api/health 返回 engine 为 comni、status 为 ok。昇腾 A3 实测指标包括：文本对话约两秒、语音理解约八秒、图片理解约七秒且含无文字流程图、答辩录像四帧表情分析约四秒、会议视频边看边听端到端约十六秒。云端 API 实测语音转写、图片理解与 TTS 朗读均正常，音频理解自动先转写再理解。测试与实测数据来源为项目说明文档第八节与 README，测试数于 2026 年 8 月 27 日复核为 379 项通过，A3 环境为 910C、CANN 9.1.0-beta.1、llama.cpp-omni 与 F16 模型。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本页说明统一昇腾环境复现步骤。应用环境为 Python 3.11 及以上；A3 环境为 Ascend 910C、CANN 9.1.0-beta.1 与 Python 3.12.13；模型为 MiniCPM-o-4_5-F16，约 16G；推理服务为以 GGML_CANN 编译的 llama.cpp-omni。复现分三步：安装依赖、配置后端二选一（云端填 MAP_REALTIME_API_KEY，本地填 ASCEND_OMNI_WS_URL 指向 28099 端口）、启动应用并访问本机 8000 端口。验证入口包括 /api/health 健康检查、/api/realtime/status 返回 local 或 map，以及演示前一键预检脚本，脚本包含暖机步骤。版本固定、链路可验证，评审可对照核验。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本页说明合规安全与已知边界。合规与安全方面：模型合规可控，合规模式下全链路仅调用 MiniCPM-o 4.5，不创建任何其他模型客户端；密钥安全，API Key 仅存 .env 不进入版本库；操作可审计，提供多用户 ACL、会话登录、操作审计与版本回滚。已知边界如实说明：8B 模型推理能力有限，演示主打感知与流程闭环，不做高难度推理；910C 本地 TTS 有已知算子问题，语音播报走云端 API；云端音频表现为转写，已通过适配层统一行为；llama-omni-server 仅支持单活跃会话，演示前需预检暖机。工程态度是能力边界如实标注，不夸大模型能力，确保评审现场演示可预期、可复现。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总结页重申核心价值：把 MiniCPM-o 4.5 从聊天机器人变成真实协作流程的入口，拍照立项、说话排期、确认分工、语音与照片汇报、群通知，全链路由全模态能力驱动。四个关键词分别是全模态入口、确定性正确、完整闭环与昇腾可复现。展望方向包括：接入云端全双工实时语音与视频对话体验；企业微信应用消息定向推送，通知更个性更及时；课程、赛事、企业项目等场景模板与知识库经验持续沉淀，工时估算与分工建议越用越准。作品版本为 v7.1，提交于 2026 年 8 月，面向华为昇腾创新应用赛道。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scend_collab_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scend_collab_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3314700" cy="6858000"/>
            <a:chOff x="0" y="0"/>
            <a:chExt cx="33147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3238500" cy="6858000"/>
            </a:xfrm>
            <a:prstGeom prst="rect">
              <a:avLst/>
            </a:prstGeom>
            <a:solidFill>
              <a:srgbClr val="375A86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238500" y="0"/>
              <a:ext cx="762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25780" y="9810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225" dirty="0">
                  <a:solidFill>
                    <a:srgbClr val="E8F1FA"/>
                  </a:solidFill>
                  <a:latin typeface="+mn-lt"/>
                  <a:ea typeface="+mn-ea"/>
                  <a:cs typeface="+mn-cs"/>
                </a:rPr>
                <a:t>华为昇腾创新应用赛道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7304" y="1356360"/>
              <a:ext cx="24386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D3EC"/>
                  </a:solidFill>
                  <a:latin typeface="+mn-lt"/>
                  <a:ea typeface="+mn-ea"/>
                  <a:cs typeface="+mn-cs"/>
                </a:rPr>
                <a:t>OpenBMB / 面壁智能 × 华为昇腾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6690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6542" y="560736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1FA"/>
                  </a:solidFill>
                  <a:latin typeface="+mn-lt"/>
                  <a:ea typeface="+mn-ea"/>
                  <a:cs typeface="+mn-cs"/>
                </a:rPr>
                <a:t>v7.1 · 2026-08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8066" y="59826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BD3EC"/>
                  </a:solidFill>
                  <a:latin typeface="+mn-lt"/>
                  <a:ea typeface="+mn-ea"/>
                  <a:cs typeface="+mn-cs"/>
                </a:rPr>
                <a:t>创新应用赛道 · 参赛作品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67912" y="1859280"/>
            <a:ext cx="3598621" cy="1331595"/>
            <a:chOff x="3867912" y="1859280"/>
            <a:chExt cx="3598621" cy="1331595"/>
          </a:xfrm>
        </p:grpSpPr>
        <p:sp>
          <p:nvSpPr>
            <p:cNvPr id="10" name="TextBox 10"/>
            <p:cNvSpPr txBox="1"/>
            <p:nvPr/>
          </p:nvSpPr>
          <p:spPr>
            <a:xfrm>
              <a:off x="3867912" y="1859280"/>
              <a:ext cx="35986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协作分工智能体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67912" y="2468880"/>
              <a:ext cx="30897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昇腾全模态版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86200" y="314325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78580" y="3571875"/>
            <a:ext cx="5158740" cy="1017270"/>
            <a:chOff x="3878580" y="3571875"/>
            <a:chExt cx="5158740" cy="1017270"/>
          </a:xfrm>
        </p:grpSpPr>
        <p:sp>
          <p:nvSpPr>
            <p:cNvPr id="14" name="TextBox 14"/>
            <p:cNvSpPr txBox="1"/>
            <p:nvPr/>
          </p:nvSpPr>
          <p:spPr>
            <a:xfrm>
              <a:off x="3878580" y="3571875"/>
              <a:ext cx="5158740" cy="1017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别人给你一张静态分工表；我们给你一张可编辑的活协作图。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拍照立项、说话排期、确认分工、语音/照片汇报、群通知，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全链路由 MiniCPM-o 4.5 全模态能力驱动。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86200" y="5143500"/>
            <a:ext cx="6324600" cy="381000"/>
            <a:chOff x="3886200" y="5143500"/>
            <a:chExt cx="6324600" cy="381000"/>
          </a:xfrm>
        </p:grpSpPr>
        <p:sp>
          <p:nvSpPr>
            <p:cNvPr id="16" name="Rectangle 16"/>
            <p:cNvSpPr/>
            <p:nvPr/>
          </p:nvSpPr>
          <p:spPr>
            <a:xfrm>
              <a:off x="3886200" y="5143500"/>
              <a:ext cx="1866900" cy="381000"/>
            </a:xfrm>
            <a:prstGeom prst="roundRect">
              <a:avLst>
                <a:gd name="adj" fmla="val 10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94404" y="5261610"/>
              <a:ext cx="1523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基于 MiniCPM-o 4.5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5143500"/>
              <a:ext cx="1866900" cy="381000"/>
            </a:xfrm>
            <a:prstGeom prst="roundRect">
              <a:avLst>
                <a:gd name="adj" fmla="val 10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3704" y="5261610"/>
              <a:ext cx="124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全模态模型 · 8B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24800" y="5143500"/>
              <a:ext cx="2286000" cy="381000"/>
            </a:xfrm>
            <a:prstGeom prst="roundRect">
              <a:avLst>
                <a:gd name="adj" fmla="val 10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3004" y="5261610"/>
              <a:ext cx="1642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昇腾 A3 · 云端双后端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355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内容结构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70332" y="1863090"/>
            <a:ext cx="5630418" cy="2909316"/>
            <a:chOff x="370332" y="1863090"/>
            <a:chExt cx="5630418" cy="2909316"/>
          </a:xfrm>
        </p:grpSpPr>
        <p:grpSp>
          <p:nvGrpSpPr>
            <p:cNvPr id="11" name="Group 11"/>
            <p:cNvGrpSpPr/>
            <p:nvPr/>
          </p:nvGrpSpPr>
          <p:grpSpPr>
            <a:xfrm>
              <a:off x="370332" y="1863090"/>
              <a:ext cx="5630418" cy="775335"/>
              <a:chOff x="370332" y="1863090"/>
              <a:chExt cx="5630418" cy="77533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370332" y="18878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3856" y="18630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项目概览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6904" y="2194560"/>
                <a:ext cx="32296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定位、背景与痛点、解决思路（P03–P05）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381000" y="262890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70332" y="2910840"/>
              <a:ext cx="5630418" cy="775335"/>
              <a:chOff x="370332" y="2910840"/>
              <a:chExt cx="5630418" cy="77533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70332" y="2935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3856" y="291084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系统架构与核心机制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904" y="3242310"/>
                <a:ext cx="44244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总体架构、计划引擎、全模态链路、协作闭环（P06–P10）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81000" y="367665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70332" y="3958590"/>
              <a:ext cx="5630418" cy="813816"/>
              <a:chOff x="370332" y="3958590"/>
              <a:chExt cx="5630418" cy="81381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370332" y="39833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3856" y="395859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核心功能详解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6904" y="4290060"/>
                <a:ext cx="30830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功能总览、计划引擎、CPM 排期、动态协作、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汇报触达（P11–P17）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381000" y="4724400"/>
                <a:ext cx="561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19750" h="9525">
                    <a:moveTo>
                      <a:pt x="0" y="0"/>
                    </a:moveTo>
                    <a:lnTo>
                      <a:pt x="561975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6275832" y="1863090"/>
            <a:ext cx="5535168" cy="2870835"/>
            <a:chOff x="6275832" y="1863090"/>
            <a:chExt cx="5535168" cy="2870835"/>
          </a:xfrm>
        </p:grpSpPr>
        <p:grpSp>
          <p:nvGrpSpPr>
            <p:cNvPr id="27" name="Group 27"/>
            <p:cNvGrpSpPr/>
            <p:nvPr/>
          </p:nvGrpSpPr>
          <p:grpSpPr>
            <a:xfrm>
              <a:off x="6275832" y="1863090"/>
              <a:ext cx="5535168" cy="813816"/>
              <a:chOff x="6275832" y="1863090"/>
              <a:chExt cx="5535168" cy="81381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275832" y="18878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39356" y="1863090"/>
                <a:ext cx="781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创新点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42404" y="2194560"/>
                <a:ext cx="26029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全模态进流程、确定性保证、完整闭环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与兜底、昇腾双后端（P18–P22）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6286500" y="26289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6275832" y="2910840"/>
              <a:ext cx="5535168" cy="813816"/>
              <a:chOff x="6275832" y="2910840"/>
              <a:chExt cx="5535168" cy="813816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275832" y="29356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039356" y="291084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应用落地与工程验证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42404" y="3242310"/>
                <a:ext cx="30601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应用场景、运行效果、工程验证、昇腾复现、</a:t>
                </a:r>
                <a:br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合规与边界（P23–P28）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6286500" y="367665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275832" y="3958590"/>
              <a:ext cx="5535168" cy="775335"/>
              <a:chOff x="6275832" y="3958590"/>
              <a:chExt cx="5535168" cy="775335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275832" y="398335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9356" y="395859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总结与展望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42404" y="4290060"/>
                <a:ext cx="25127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核心价值收束与未来方向（P29）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286500" y="47244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1033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项目一览：功能 · 创新 · 应用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81000" y="1562100"/>
            <a:ext cx="11430000" cy="838200"/>
            <a:chOff x="381000" y="1562100"/>
            <a:chExt cx="11430000" cy="83820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14300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180" y="1743075"/>
              <a:ext cx="97688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输入「项目要求 + 团队成员 + 截止日」，系统自动完成 任务拆解 → CPM 关键路径排期 → 技能匹配分工 → 报告生成；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并以 MiniCPM-o 4.5 全模态能力驱动完整协作闭环，支持随时调整、即时重算。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" y="2686050"/>
            <a:ext cx="3681679" cy="2819400"/>
            <a:chOff x="381000" y="2686050"/>
            <a:chExt cx="3681679" cy="2819400"/>
          </a:xfrm>
        </p:grpSpPr>
        <p:sp>
          <p:nvSpPr>
            <p:cNvPr id="10" name="Rectangle 10"/>
            <p:cNvSpPr/>
            <p:nvPr/>
          </p:nvSpPr>
          <p:spPr>
            <a:xfrm>
              <a:off x="381000" y="2686050"/>
              <a:ext cx="3676650" cy="2819400"/>
            </a:xfrm>
            <a:prstGeom prst="roundRect">
              <a:avLst>
                <a:gd name="adj" fmla="val 135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2686050"/>
              <a:ext cx="3676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27075" y="3057525"/>
              <a:ext cx="222250" cy="285751"/>
              <a:chOff x="727075" y="3057525"/>
              <a:chExt cx="222250" cy="2857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27075" y="3089275"/>
                <a:ext cx="222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1">
                    <a:moveTo>
                      <a:pt x="6350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  <a:lnTo>
                      <a:pt x="0" y="222250"/>
                    </a:lnTo>
                    <a:cubicBezTo>
                      <a:pt x="0" y="239786"/>
                      <a:pt x="14215" y="254001"/>
                      <a:pt x="31750" y="254001"/>
                    </a:cubicBezTo>
                    <a:lnTo>
                      <a:pt x="190500" y="254001"/>
                    </a:lnTo>
                    <a:cubicBezTo>
                      <a:pt x="208035" y="254001"/>
                      <a:pt x="222250" y="239786"/>
                      <a:pt x="222250" y="222250"/>
                    </a:cubicBezTo>
                    <a:lnTo>
                      <a:pt x="222250" y="31750"/>
                    </a:lnTo>
                    <a:cubicBezTo>
                      <a:pt x="222250" y="14215"/>
                      <a:pt x="208035" y="0"/>
                      <a:pt x="190500" y="0"/>
                    </a:cubicBez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0575" y="30575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cubicBezTo>
                      <a:pt x="95250" y="49285"/>
                      <a:pt x="81035" y="63500"/>
                      <a:pt x="63500" y="63500"/>
                    </a:cubicBezTo>
                    <a:lnTo>
                      <a:pt x="31750" y="63500"/>
                    </a:lnTo>
                    <a:cubicBezTo>
                      <a:pt x="14215" y="63500"/>
                      <a:pt x="0" y="4928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0575" y="3200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4075" y="32004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0575" y="32639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54075" y="3263901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191006" y="3101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604" y="3718560"/>
              <a:ext cx="3256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全模态：文本 / 语音 / 图片 / 视频 / TTS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604" y="4042410"/>
              <a:ext cx="2799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计划引擎：拆解 · 排期 · 分工 · 报告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604" y="4366260"/>
              <a:ext cx="26133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动态协作：编辑 · 拖拽 · 即时重算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604" y="4690110"/>
              <a:ext cx="3421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汇报触达：免登录汇报页 · 群通知 · 今日播报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604" y="50901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五种模态 × 完整协作链路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48150" y="2686050"/>
            <a:ext cx="3676650" cy="2819400"/>
            <a:chOff x="4248150" y="2686050"/>
            <a:chExt cx="3676650" cy="2819400"/>
          </a:xfrm>
        </p:grpSpPr>
        <p:sp>
          <p:nvSpPr>
            <p:cNvPr id="26" name="Rectangle 26"/>
            <p:cNvSpPr/>
            <p:nvPr/>
          </p:nvSpPr>
          <p:spPr>
            <a:xfrm>
              <a:off x="4248150" y="2686050"/>
              <a:ext cx="3676650" cy="2819400"/>
            </a:xfrm>
            <a:prstGeom prst="roundRect">
              <a:avLst>
                <a:gd name="adj" fmla="val 135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48150" y="2686050"/>
              <a:ext cx="36766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68857" y="3057525"/>
              <a:ext cx="272955" cy="284004"/>
              <a:chOff x="4568857" y="3057525"/>
              <a:chExt cx="272955" cy="28400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10100" y="30575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05350" y="320040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568857" y="320040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058156" y="3101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8754" y="3718560"/>
              <a:ext cx="258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多模态从“聊天”进入真实协作流程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8754" y="4042410"/>
              <a:ext cx="2923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 × 确定性算法负责正确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08754" y="4366260"/>
              <a:ext cx="3372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任何环节失败都有兜底，演示不依赖模型在线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08754" y="4690110"/>
              <a:ext cx="2058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完整闭环，而非单点 Demo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08754" y="5090160"/>
              <a:ext cx="2717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四个评审要点逐页展开（P18–P22）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15300" y="2686050"/>
            <a:ext cx="3695700" cy="2819400"/>
            <a:chOff x="8115300" y="2686050"/>
            <a:chExt cx="3695700" cy="2819400"/>
          </a:xfrm>
        </p:grpSpPr>
        <p:sp>
          <p:nvSpPr>
            <p:cNvPr id="39" name="Rectangle 39"/>
            <p:cNvSpPr/>
            <p:nvPr/>
          </p:nvSpPr>
          <p:spPr>
            <a:xfrm>
              <a:off x="8115300" y="2686050"/>
              <a:ext cx="3695700" cy="2819400"/>
            </a:xfrm>
            <a:prstGeom prst="roundRect">
              <a:avLst>
                <a:gd name="adj" fmla="val 135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15300" y="2686050"/>
              <a:ext cx="36957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40486" y="3073400"/>
              <a:ext cx="259015" cy="259014"/>
              <a:chOff x="8440486" y="3073400"/>
              <a:chExt cx="259015" cy="25901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445500" y="3073400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142875"/>
                    </a:moveTo>
                    <a:cubicBezTo>
                      <a:pt x="58264" y="149800"/>
                      <a:pt x="104201" y="195736"/>
                      <a:pt x="111125" y="254001"/>
                    </a:cubicBezTo>
                    <a:cubicBezTo>
                      <a:pt x="139654" y="237553"/>
                      <a:pt x="157663" y="207537"/>
                      <a:pt x="158750" y="174625"/>
                    </a:cubicBezTo>
                    <a:cubicBezTo>
                      <a:pt x="213262" y="155449"/>
                      <a:pt x="250854" y="105325"/>
                      <a:pt x="254001" y="47625"/>
                    </a:cubicBezTo>
                    <a:cubicBezTo>
                      <a:pt x="254001" y="21322"/>
                      <a:pt x="232678" y="0"/>
                      <a:pt x="206375" y="0"/>
                    </a:cubicBezTo>
                    <a:cubicBezTo>
                      <a:pt x="148675" y="3146"/>
                      <a:pt x="98551" y="40739"/>
                      <a:pt x="79375" y="95250"/>
                    </a:cubicBezTo>
                    <a:cubicBezTo>
                      <a:pt x="46463" y="96337"/>
                      <a:pt x="16447" y="11434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40486" y="3232150"/>
                <a:ext cx="100264" cy="100264"/>
              </a:xfrm>
              <a:custGeom>
                <a:avLst/>
                <a:gdLst/>
                <a:ahLst/>
                <a:cxnLst/>
                <a:rect l="l" t="t" r="r" b="b"/>
                <a:pathLst>
                  <a:path w="100264" h="100264">
                    <a:moveTo>
                      <a:pt x="52639" y="0"/>
                    </a:moveTo>
                    <a:cubicBezTo>
                      <a:pt x="18840" y="19081"/>
                      <a:pt x="0" y="56762"/>
                      <a:pt x="5014" y="95250"/>
                    </a:cubicBezTo>
                    <a:cubicBezTo>
                      <a:pt x="43502" y="100264"/>
                      <a:pt x="81183" y="81424"/>
                      <a:pt x="100264" y="4762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04250" y="31369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925306" y="3101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5904" y="3718560"/>
              <a:ext cx="2799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 / 课程 / 社团 / 中小企业项目组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5904" y="4042410"/>
              <a:ext cx="1781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 / 大型项目双模式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5904" y="4366260"/>
              <a:ext cx="2290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企业微信 / 飞书 / 钉钉群通知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5904" y="4690110"/>
              <a:ext cx="2650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本地或云端双后端可复现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75904" y="5090160"/>
              <a:ext cx="200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从课堂到团队协作（P24）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81000" y="5753100"/>
            <a:ext cx="11430000" cy="495300"/>
            <a:chOff x="381000" y="5753100"/>
            <a:chExt cx="11430000" cy="495300"/>
          </a:xfrm>
        </p:grpSpPr>
        <p:sp>
          <p:nvSpPr>
            <p:cNvPr id="52" name="Rectangle 52"/>
            <p:cNvSpPr/>
            <p:nvPr/>
          </p:nvSpPr>
          <p:spPr>
            <a:xfrm>
              <a:off x="381000" y="575310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83419" y="5884069"/>
              <a:ext cx="214312" cy="214312"/>
              <a:chOff x="683419" y="5884069"/>
              <a:chExt cx="214312" cy="21431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42950" y="5943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83419" y="58840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6294" y="60269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14970" y="60269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4970" y="59156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26294" y="59156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79754" y="5928360"/>
              <a:ext cx="8068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设计原则：LLM 负责创造性拆解，确定性算法负责正确性保证；每个 Agent 失败都有兜底，主链路永不中断。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9352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背景与痛点：为什么需要“活”的协作规划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81000" y="1714500"/>
            <a:ext cx="4381500" cy="4191000"/>
            <a:chOff x="381000" y="1714500"/>
            <a:chExt cx="4381500" cy="4191000"/>
          </a:xfrm>
        </p:grpSpPr>
        <p:sp>
          <p:nvSpPr>
            <p:cNvPr id="7" name="Rectangle 7"/>
            <p:cNvSpPr/>
            <p:nvPr/>
          </p:nvSpPr>
          <p:spPr>
            <a:xfrm>
              <a:off x="381000" y="1714500"/>
              <a:ext cx="4381500" cy="4191000"/>
            </a:xfrm>
            <a:prstGeom prst="roundRect">
              <a:avLst>
                <a:gd name="adj" fmla="val 909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2053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问题普遍存在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657475"/>
              <a:ext cx="2701290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团队项目从立项到交付，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计划、成员与进度始终在变；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传统规划工具与通用大模型，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都停留在“生成一份静态结果”。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400050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23900" y="4305300"/>
              <a:ext cx="228599" cy="228599"/>
              <a:chOff x="723900" y="4305300"/>
              <a:chExt cx="228599" cy="22859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3900" y="43053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8200" y="43688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4703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17854" y="434721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结果：计划一变就过时，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团队反复对齐、进度不透明。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43500" y="1714500"/>
            <a:ext cx="3238500" cy="2000250"/>
            <a:chOff x="5143500" y="1714500"/>
            <a:chExt cx="3238500" cy="2000250"/>
          </a:xfrm>
        </p:grpSpPr>
        <p:sp>
          <p:nvSpPr>
            <p:cNvPr id="17" name="Rectangle 17"/>
            <p:cNvSpPr/>
            <p:nvPr/>
          </p:nvSpPr>
          <p:spPr>
            <a:xfrm>
              <a:off x="5143500" y="171450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37632" y="19259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661275" y="1990725"/>
              <a:ext cx="222250" cy="285751"/>
              <a:chOff x="7661275" y="1990725"/>
              <a:chExt cx="222250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04150" y="19907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661275" y="199072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90500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1"/>
                    </a:lnTo>
                    <a:cubicBezTo>
                      <a:pt x="222250" y="271536"/>
                      <a:pt x="208035" y="285751"/>
                      <a:pt x="190500" y="28575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24775" y="20859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24775" y="21494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724775" y="2212976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440680" y="25431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静态计划表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42204" y="2918460"/>
              <a:ext cx="2907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规划工具只在开始时生成一张静态分工表，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项目一变就过时，没有持续更新的机制。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0" y="1714500"/>
            <a:ext cx="3238500" cy="2000250"/>
            <a:chOff x="8572500" y="1714500"/>
            <a:chExt cx="32385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8572500" y="171450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66632" y="19259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1042269" y="1994297"/>
              <a:ext cx="316929" cy="280940"/>
            </a:xfrm>
            <a:custGeom>
              <a:avLst/>
              <a:gdLst/>
              <a:ahLst/>
              <a:cxnLst/>
              <a:rect l="l" t="t" r="r" b="b"/>
              <a:pathLst>
                <a:path w="316929" h="280940">
                  <a:moveTo>
                    <a:pt x="16256" y="266304"/>
                  </a:moveTo>
                  <a:lnTo>
                    <a:pt x="36894" y="204391"/>
                  </a:lnTo>
                  <a:cubicBezTo>
                    <a:pt x="0" y="149829"/>
                    <a:pt x="14256" y="79423"/>
                    <a:pt x="70231" y="39703"/>
                  </a:cubicBezTo>
                  <a:cubicBezTo>
                    <a:pt x="126207" y="0"/>
                    <a:pt x="206598" y="3254"/>
                    <a:pt x="258271" y="47323"/>
                  </a:cubicBezTo>
                  <a:cubicBezTo>
                    <a:pt x="309944" y="91408"/>
                    <a:pt x="316929" y="162671"/>
                    <a:pt x="274606" y="214027"/>
                  </a:cubicBezTo>
                  <a:cubicBezTo>
                    <a:pt x="232283" y="265383"/>
                    <a:pt x="153718" y="280940"/>
                    <a:pt x="90869" y="250429"/>
                  </a:cubicBezTo>
                  <a:lnTo>
                    <a:pt x="16256" y="266304"/>
                  </a:lnTo>
                </a:path>
              </a:pathLst>
            </a:custGeom>
            <a:noFill/>
            <a:ln w="31750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69680" y="25431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大模型未进入流程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71204" y="2918460"/>
              <a:ext cx="24658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多模态大模型常被当作“聊天机器人”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附加功能，没有进入真实协作流程。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43500" y="3943350"/>
            <a:ext cx="3238500" cy="2000250"/>
            <a:chOff x="5143500" y="3943350"/>
            <a:chExt cx="32385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5143500" y="394335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37632" y="4154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7637463" y="4243388"/>
              <a:ext cx="261937" cy="230188"/>
              <a:chOff x="7637463" y="4243388"/>
              <a:chExt cx="261937" cy="2301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637463" y="42433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637463" y="433863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637463" y="4433888"/>
                <a:ext cx="63500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8">
                    <a:moveTo>
                      <a:pt x="0" y="15875"/>
                    </a:moveTo>
                    <a:lnTo>
                      <a:pt x="23813" y="39688"/>
                    </a:ln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56525" y="42672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56525" y="43624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56525" y="4457701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440680" y="47720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汇报成本高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42204" y="5147310"/>
              <a:ext cx="2298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成员更新任务状态成本高，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负责人反复追问进度，信息滞后。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572500" y="3943350"/>
            <a:ext cx="3238500" cy="2000250"/>
            <a:chOff x="8572500" y="3943350"/>
            <a:chExt cx="3238500" cy="2000250"/>
          </a:xfrm>
        </p:grpSpPr>
        <p:sp>
          <p:nvSpPr>
            <p:cNvPr id="46" name="Rectangle 46"/>
            <p:cNvSpPr/>
            <p:nvPr/>
          </p:nvSpPr>
          <p:spPr>
            <a:xfrm>
              <a:off x="8572500" y="3943350"/>
              <a:ext cx="32385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66632" y="4154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1058525" y="4267200"/>
              <a:ext cx="285750" cy="190500"/>
              <a:chOff x="11058525" y="4267200"/>
              <a:chExt cx="285750" cy="1905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1249025" y="4292110"/>
                <a:ext cx="95250" cy="14068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680">
                    <a:moveTo>
                      <a:pt x="0" y="38590"/>
                    </a:moveTo>
                    <a:lnTo>
                      <a:pt x="72279" y="2458"/>
                    </a:lnTo>
                    <a:cubicBezTo>
                      <a:pt x="77199" y="0"/>
                      <a:pt x="83040" y="263"/>
                      <a:pt x="87719" y="3154"/>
                    </a:cubicBezTo>
                    <a:cubicBezTo>
                      <a:pt x="92398" y="6044"/>
                      <a:pt x="95247" y="11151"/>
                      <a:pt x="95250" y="16651"/>
                    </a:cubicBezTo>
                    <a:lnTo>
                      <a:pt x="95250" y="124029"/>
                    </a:lnTo>
                    <a:cubicBezTo>
                      <a:pt x="95247" y="129529"/>
                      <a:pt x="92398" y="134636"/>
                      <a:pt x="87719" y="137526"/>
                    </a:cubicBezTo>
                    <a:cubicBezTo>
                      <a:pt x="83040" y="140417"/>
                      <a:pt x="77199" y="140680"/>
                      <a:pt x="72279" y="138222"/>
                    </a:cubicBezTo>
                    <a:lnTo>
                      <a:pt x="0" y="102090"/>
                    </a:lnTo>
                    <a:lnTo>
                      <a:pt x="0" y="3859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058525" y="42672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869680" y="47720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会议内容难沉淀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71204" y="514731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会议录音、录像、白板照片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需人二次整理才能变成任务。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4" name="TextBox 5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项目概览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2787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解决思路：以全模态能力驱动完整协作闭环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73380" y="1647825"/>
            <a:ext cx="5199288" cy="293370"/>
            <a:chOff x="373380" y="1647825"/>
            <a:chExt cx="519928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373380" y="1647825"/>
              <a:ext cx="5199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五步闭环：计划生成 → 成员执行 → 汇报反馈 → 通知触达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076450"/>
            <a:ext cx="2057400" cy="1619250"/>
            <a:chOff x="381000" y="2076450"/>
            <a:chExt cx="2057400" cy="1619250"/>
          </a:xfrm>
        </p:grpSpPr>
        <p:sp>
          <p:nvSpPr>
            <p:cNvPr id="9" name="Rectangle 9"/>
            <p:cNvSpPr/>
            <p:nvPr/>
          </p:nvSpPr>
          <p:spPr>
            <a:xfrm>
              <a:off x="38100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27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652462" y="2609850"/>
              <a:ext cx="257175" cy="228600"/>
              <a:chOff x="652462" y="2609850"/>
              <a:chExt cx="257175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52462" y="2609850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28575" y="42862"/>
                    </a:moveTo>
                    <a:lnTo>
                      <a:pt x="42862" y="42862"/>
                    </a:lnTo>
                    <a:cubicBezTo>
                      <a:pt x="58644" y="42862"/>
                      <a:pt x="71438" y="30069"/>
                      <a:pt x="71438" y="14288"/>
                    </a:cubicBezTo>
                    <a:cubicBezTo>
                      <a:pt x="71438" y="6397"/>
                      <a:pt x="77834" y="0"/>
                      <a:pt x="85725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ubicBezTo>
                      <a:pt x="185738" y="30069"/>
                      <a:pt x="198531" y="42862"/>
                      <a:pt x="214312" y="42862"/>
                    </a:cubicBezTo>
                    <a:lnTo>
                      <a:pt x="228600" y="42862"/>
                    </a:lnTo>
                    <a:cubicBezTo>
                      <a:pt x="244382" y="42862"/>
                      <a:pt x="257175" y="55656"/>
                      <a:pt x="257175" y="71438"/>
                    </a:cubicBezTo>
                    <a:lnTo>
                      <a:pt x="257175" y="200025"/>
                    </a:lnTo>
                    <a:cubicBezTo>
                      <a:pt x="257175" y="215807"/>
                      <a:pt x="244382" y="228600"/>
                      <a:pt x="228600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71438"/>
                    </a:lnTo>
                    <a:cubicBezTo>
                      <a:pt x="0" y="55656"/>
                      <a:pt x="12793" y="42862"/>
                      <a:pt x="28575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8188" y="26955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60274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3277552"/>
              <a:ext cx="17442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 / 录音描述需求，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白板、截图、手绘直接进拆解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38400" y="2886075"/>
            <a:ext cx="266700" cy="1"/>
            <a:chOff x="2438400" y="2886075"/>
            <a:chExt cx="266700" cy="1"/>
          </a:xfrm>
        </p:grpSpPr>
        <p:sp>
          <p:nvSpPr>
            <p:cNvPr id="17" name="Line 17"/>
            <p:cNvSpPr/>
            <p:nvPr/>
          </p:nvSpPr>
          <p:spPr>
            <a:xfrm>
              <a:off x="243840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724150" y="2076450"/>
            <a:ext cx="2057400" cy="1619250"/>
            <a:chOff x="2724150" y="2076450"/>
            <a:chExt cx="2057400" cy="1619250"/>
          </a:xfrm>
        </p:grpSpPr>
        <p:sp>
          <p:nvSpPr>
            <p:cNvPr id="19" name="Rectangle 19"/>
            <p:cNvSpPr/>
            <p:nvPr/>
          </p:nvSpPr>
          <p:spPr>
            <a:xfrm>
              <a:off x="272415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4589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024188" y="2581275"/>
              <a:ext cx="200025" cy="280988"/>
              <a:chOff x="3024188" y="2581275"/>
              <a:chExt cx="200025" cy="2809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081338" y="258127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024188" y="269557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067050" y="285273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124200" y="27955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94589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47416" y="327755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语音补充项目要求，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自动生成任务草案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81550" y="2886075"/>
            <a:ext cx="266700" cy="1"/>
            <a:chOff x="4781550" y="2886075"/>
            <a:chExt cx="266700" cy="1"/>
          </a:xfrm>
        </p:grpSpPr>
        <p:sp>
          <p:nvSpPr>
            <p:cNvPr id="29" name="Line 29"/>
            <p:cNvSpPr/>
            <p:nvPr/>
          </p:nvSpPr>
          <p:spPr>
            <a:xfrm>
              <a:off x="478155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067300" y="2076450"/>
            <a:ext cx="2057400" cy="1619250"/>
            <a:chOff x="5067300" y="2076450"/>
            <a:chExt cx="2057400" cy="1619250"/>
          </a:xfrm>
        </p:grpSpPr>
        <p:sp>
          <p:nvSpPr>
            <p:cNvPr id="31" name="Rectangle 31"/>
            <p:cNvSpPr/>
            <p:nvPr/>
          </p:nvSpPr>
          <p:spPr>
            <a:xfrm>
              <a:off x="506730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90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67338" y="26527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904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确认分工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90566" y="327755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人工调整草案，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拖拽分工、即时重算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24700" y="2886075"/>
            <a:ext cx="266700" cy="1"/>
            <a:chOff x="7124700" y="2886075"/>
            <a:chExt cx="266700" cy="1"/>
          </a:xfrm>
        </p:grpSpPr>
        <p:sp>
          <p:nvSpPr>
            <p:cNvPr id="37" name="Line 37"/>
            <p:cNvSpPr/>
            <p:nvPr/>
          </p:nvSpPr>
          <p:spPr>
            <a:xfrm>
              <a:off x="712470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7410450" y="2076450"/>
            <a:ext cx="2057400" cy="1619250"/>
            <a:chOff x="7410450" y="2076450"/>
            <a:chExt cx="2057400" cy="1619250"/>
          </a:xfrm>
        </p:grpSpPr>
        <p:sp>
          <p:nvSpPr>
            <p:cNvPr id="39" name="Rectangle 39"/>
            <p:cNvSpPr/>
            <p:nvPr/>
          </p:nvSpPr>
          <p:spPr>
            <a:xfrm>
              <a:off x="741045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3219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7689056" y="2616994"/>
              <a:ext cx="235744" cy="207169"/>
              <a:chOff x="7689056" y="2616994"/>
              <a:chExt cx="235744" cy="207169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89056" y="2616994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89056" y="2702719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89056" y="2788444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96212" y="2638425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96212" y="2724150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96212" y="2809875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32192" y="2997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33716" y="3277552"/>
              <a:ext cx="109747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照片交付，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负责人确认完成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467850" y="2886075"/>
            <a:ext cx="266700" cy="1"/>
            <a:chOff x="9467850" y="2886075"/>
            <a:chExt cx="266700" cy="1"/>
          </a:xfrm>
        </p:grpSpPr>
        <p:sp>
          <p:nvSpPr>
            <p:cNvPr id="51" name="Line 51"/>
            <p:cNvSpPr/>
            <p:nvPr/>
          </p:nvSpPr>
          <p:spPr>
            <a:xfrm>
              <a:off x="9467850" y="2886075"/>
              <a:ext cx="2667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9753600" y="2076450"/>
            <a:ext cx="2057400" cy="1619250"/>
            <a:chOff x="9753600" y="2076450"/>
            <a:chExt cx="2057400" cy="1619250"/>
          </a:xfrm>
        </p:grpSpPr>
        <p:sp>
          <p:nvSpPr>
            <p:cNvPr id="53" name="Rectangle 53"/>
            <p:cNvSpPr/>
            <p:nvPr/>
          </p:nvSpPr>
          <p:spPr>
            <a:xfrm>
              <a:off x="9753600" y="2076450"/>
              <a:ext cx="2057400" cy="1619250"/>
            </a:xfrm>
            <a:prstGeom prst="roundRect">
              <a:avLst>
                <a:gd name="adj" fmla="val 2353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75342" y="2235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0020478" y="2595562"/>
              <a:ext cx="261759" cy="261759"/>
              <a:chOff x="10020478" y="2595562"/>
              <a:chExt cx="261759" cy="26175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0125075" y="259556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020478" y="259556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975342" y="2997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群通知触达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76866" y="327755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状态变更自动推送，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33500" y="3695700"/>
            <a:ext cx="9791700" cy="400050"/>
            <a:chOff x="1333500" y="3695700"/>
            <a:chExt cx="9791700" cy="400050"/>
          </a:xfrm>
        </p:grpSpPr>
        <p:sp>
          <p:nvSpPr>
            <p:cNvPr id="61" name="Freeform 61"/>
            <p:cNvSpPr/>
            <p:nvPr/>
          </p:nvSpPr>
          <p:spPr>
            <a:xfrm>
              <a:off x="1333500" y="3695700"/>
              <a:ext cx="9791700" cy="400050"/>
            </a:xfrm>
            <a:custGeom>
              <a:avLst/>
              <a:gdLst/>
              <a:ahLst/>
              <a:cxnLst/>
              <a:rect l="l" t="t" r="r" b="b"/>
              <a:pathLst>
                <a:path w="9791700" h="400050">
                  <a:moveTo>
                    <a:pt x="9791700" y="0"/>
                  </a:moveTo>
                  <a:cubicBezTo>
                    <a:pt x="9791700" y="400050"/>
                    <a:pt x="0" y="4000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381000" y="4476750"/>
            <a:ext cx="5619750" cy="1133856"/>
            <a:chOff x="381000" y="4476750"/>
            <a:chExt cx="5619750" cy="1133856"/>
          </a:xfrm>
        </p:grpSpPr>
        <p:sp>
          <p:nvSpPr>
            <p:cNvPr id="63" name="Rectangle 63"/>
            <p:cNvSpPr/>
            <p:nvPr/>
          </p:nvSpPr>
          <p:spPr>
            <a:xfrm>
              <a:off x="381000" y="4476750"/>
              <a:ext cx="5619750" cy="1047750"/>
            </a:xfrm>
            <a:prstGeom prst="roundRect">
              <a:avLst>
                <a:gd name="adj" fmla="val 3636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04850" y="4781550"/>
              <a:ext cx="228600" cy="228600"/>
              <a:chOff x="704850" y="4781550"/>
              <a:chExt cx="228600" cy="2286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04850" y="4838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33425" y="47815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33425" y="48958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90575" y="4924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9150" y="47815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9150" y="49815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6300" y="47958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04875" y="478155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04875" y="485298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55192" y="4769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1604" y="5128260"/>
              <a:ext cx="33878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负责创造性拆解，确定性算法负责正确性保证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（CPM、评分、均衡、依赖校验）。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191250" y="4476750"/>
            <a:ext cx="5619750" cy="1133856"/>
            <a:chOff x="6191250" y="4476750"/>
            <a:chExt cx="5619750" cy="1133856"/>
          </a:xfrm>
        </p:grpSpPr>
        <p:sp>
          <p:nvSpPr>
            <p:cNvPr id="77" name="Rectangle 77"/>
            <p:cNvSpPr/>
            <p:nvPr/>
          </p:nvSpPr>
          <p:spPr>
            <a:xfrm>
              <a:off x="6191250" y="4476750"/>
              <a:ext cx="5619750" cy="1047750"/>
            </a:xfrm>
            <a:prstGeom prst="roundRect">
              <a:avLst>
                <a:gd name="adj" fmla="val 3636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500812" y="4767262"/>
              <a:ext cx="257175" cy="257175"/>
              <a:chOff x="6500812" y="4767262"/>
              <a:chExt cx="257175" cy="25717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572250" y="48387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500812" y="47672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672262" y="4938712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0" y="0"/>
                    </a:moveTo>
                    <a:lnTo>
                      <a:pt x="47863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538674" y="4938712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47863" y="0"/>
                    </a:moveTo>
                    <a:lnTo>
                      <a:pt x="0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538674" y="4805124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0" y="0"/>
                    </a:moveTo>
                    <a:lnTo>
                      <a:pt x="47863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672262" y="4805124"/>
                <a:ext cx="47863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47863" h="47863">
                    <a:moveTo>
                      <a:pt x="47863" y="0"/>
                    </a:moveTo>
                    <a:lnTo>
                      <a:pt x="0" y="4786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965442" y="4769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设计原则二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51854" y="5128260"/>
              <a:ext cx="3060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 Agent 失败都有确定性兜底，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主链路永不中断；演示不依赖模型持续在线。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8" name="TextBox 8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5266011" cy="1015365"/>
            <a:chOff x="747522" y="1851660"/>
            <a:chExt cx="526601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222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02 / 系统架构与核心机制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52660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系统如何运转，计划为何可信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04862" y="3567112"/>
            <a:ext cx="6350318" cy="2050733"/>
            <a:chOff x="804862" y="3567112"/>
            <a:chExt cx="6350318" cy="2050733"/>
          </a:xfrm>
        </p:grpSpPr>
        <p:grpSp>
          <p:nvGrpSpPr>
            <p:cNvPr id="15" name="Group 15"/>
            <p:cNvGrpSpPr/>
            <p:nvPr/>
          </p:nvGrpSpPr>
          <p:grpSpPr>
            <a:xfrm>
              <a:off x="804862" y="3567112"/>
              <a:ext cx="257175" cy="271463"/>
              <a:chOff x="804862" y="3567112"/>
              <a:chExt cx="257175" cy="27146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7725" y="3567112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3450" y="35671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4875" y="3567112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725" y="3652838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4862" y="38100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2025" y="3810000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4875" y="3781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33450" y="3738562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25880" y="3609975"/>
              <a:ext cx="5398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总体架构：工作台 → FastAPI 后端 → 昇腾 A3 / 云端双后端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19150" y="4152900"/>
              <a:ext cx="228600" cy="228600"/>
              <a:chOff x="819150" y="4152900"/>
              <a:chExt cx="228600" cy="228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4210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7725" y="41529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47725" y="42672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04875" y="42957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33450" y="41529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33450" y="43529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90600" y="41671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19175" y="415290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19175" y="422433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25880" y="4181475"/>
              <a:ext cx="434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计划引擎：LLM 创造 × 算法正确的确定性机制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04862" y="472440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25880" y="4752975"/>
              <a:ext cx="5829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全模态接入：统一适配层打通文本 / 语音 / 图片 / 视频 / TTS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8606" y="5295341"/>
              <a:ext cx="243432" cy="229718"/>
              <a:chOff x="818606" y="5295341"/>
              <a:chExt cx="243432" cy="22971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18606" y="5295341"/>
                <a:ext cx="243432" cy="229718"/>
              </a:xfrm>
              <a:custGeom>
                <a:avLst/>
                <a:gdLst/>
                <a:ahLst/>
                <a:cxnLst/>
                <a:rect l="l" t="t" r="r" b="b"/>
                <a:pathLst>
                  <a:path w="243432" h="229718">
                    <a:moveTo>
                      <a:pt x="10517" y="1045"/>
                    </a:moveTo>
                    <a:lnTo>
                      <a:pt x="243432" y="114859"/>
                    </a:lnTo>
                    <a:lnTo>
                      <a:pt x="10517" y="228673"/>
                    </a:lnTo>
                    <a:cubicBezTo>
                      <a:pt x="7798" y="229718"/>
                      <a:pt x="4717" y="229019"/>
                      <a:pt x="2716" y="226902"/>
                    </a:cubicBezTo>
                    <a:cubicBezTo>
                      <a:pt x="663" y="224735"/>
                      <a:pt x="0" y="221599"/>
                      <a:pt x="1002" y="218787"/>
                    </a:cubicBezTo>
                    <a:lnTo>
                      <a:pt x="36263" y="114859"/>
                    </a:lnTo>
                    <a:lnTo>
                      <a:pt x="1002" y="10932"/>
                    </a:lnTo>
                    <a:cubicBezTo>
                      <a:pt x="0" y="8120"/>
                      <a:pt x="663" y="4983"/>
                      <a:pt x="2716" y="2817"/>
                    </a:cubicBezTo>
                    <a:cubicBezTo>
                      <a:pt x="4717" y="700"/>
                      <a:pt x="7798" y="0"/>
                      <a:pt x="10517" y="104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4869" y="5410200"/>
                <a:ext cx="2071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7169" h="9525">
                    <a:moveTo>
                      <a:pt x="0" y="0"/>
                    </a:moveTo>
                    <a:lnTo>
                      <a:pt x="207169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25880" y="5324475"/>
              <a:ext cx="374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协作闭环：计划 → 执行 → 汇报 → 通知触达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P06–P10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06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393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总体架构：工作台 → 后端服务 → 昇腾双后端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81000" y="1562100"/>
            <a:ext cx="11430000" cy="1123950"/>
            <a:chOff x="381000" y="1562100"/>
            <a:chExt cx="11430000" cy="11239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1430000" cy="1123950"/>
            </a:xfrm>
            <a:prstGeom prst="roundRect">
              <a:avLst>
                <a:gd name="adj" fmla="val 339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0842" y="1721168"/>
              <a:ext cx="3406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前端层 · Web 工作台 + 成员轻量汇报页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2057400"/>
              <a:ext cx="5334000" cy="4191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4004" y="2204085"/>
              <a:ext cx="5183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工作台：文本 / 语音 / 拍照 / 录像 / TTS / 甘特图 / 导出 / 提醒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34100" y="2057400"/>
              <a:ext cx="5410200" cy="4191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80404" y="2204085"/>
              <a:ext cx="410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成员轻量汇报页：token 链接 · 免登录 · 只看自己的任务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0" y="2686050"/>
            <a:ext cx="1" cy="285750"/>
            <a:chOff x="6096000" y="2686050"/>
            <a:chExt cx="1" cy="285750"/>
          </a:xfrm>
        </p:grpSpPr>
        <p:sp>
          <p:nvSpPr>
            <p:cNvPr id="14" name="Line 14"/>
            <p:cNvSpPr/>
            <p:nvPr/>
          </p:nvSpPr>
          <p:spPr>
            <a:xfrm>
              <a:off x="6096000" y="268605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81000" y="2990850"/>
            <a:ext cx="11430000" cy="1600200"/>
            <a:chOff x="381000" y="2990850"/>
            <a:chExt cx="11430000" cy="1600200"/>
          </a:xfrm>
        </p:grpSpPr>
        <p:sp>
          <p:nvSpPr>
            <p:cNvPr id="16" name="Rectangle 16"/>
            <p:cNvSpPr/>
            <p:nvPr/>
          </p:nvSpPr>
          <p:spPr>
            <a:xfrm>
              <a:off x="381000" y="2990850"/>
              <a:ext cx="11430000" cy="1600200"/>
            </a:xfrm>
            <a:prstGeom prst="roundRect">
              <a:avLst>
                <a:gd name="adj" fmla="val 238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842" y="3149918"/>
              <a:ext cx="229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后端层 · FastAPI（/api）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770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00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766" y="3887152"/>
              <a:ext cx="111747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→ 校验 → 分工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→ CPM 排期 → 报告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4805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94354" y="3623310"/>
              <a:ext cx="1742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多模态适配 omni_chat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95116" y="3887152"/>
              <a:ext cx="136417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本地直听 / 云端先转写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再理解 · 长音频分片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3467100"/>
              <a:ext cx="26860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9470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媒体分析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5466" y="3887152"/>
              <a:ext cx="122415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PyAV 抽帧/抽音频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图片理解 · 扫描 PDF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48750" y="3467100"/>
              <a:ext cx="2495550" cy="914400"/>
            </a:xfrm>
            <a:prstGeom prst="roundRect">
              <a:avLst>
                <a:gd name="adj" fmla="val 312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95054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协作闭环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95816" y="3887152"/>
              <a:ext cx="154419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 token · 负责人确认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即时重算 · Webhook 通知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0" y="4591050"/>
            <a:ext cx="1" cy="285750"/>
            <a:chOff x="6096000" y="4591050"/>
            <a:chExt cx="1" cy="285750"/>
          </a:xfrm>
        </p:grpSpPr>
        <p:sp>
          <p:nvSpPr>
            <p:cNvPr id="31" name="Line 31"/>
            <p:cNvSpPr/>
            <p:nvPr/>
          </p:nvSpPr>
          <p:spPr>
            <a:xfrm>
              <a:off x="6096000" y="459105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0842" y="4997768"/>
            <a:ext cx="10903458" cy="717232"/>
            <a:chOff x="640842" y="4997768"/>
            <a:chExt cx="10903458" cy="717232"/>
          </a:xfrm>
        </p:grpSpPr>
        <p:sp>
          <p:nvSpPr>
            <p:cNvPr id="33" name="TextBox 33"/>
            <p:cNvSpPr txBox="1"/>
            <p:nvPr/>
          </p:nvSpPr>
          <p:spPr>
            <a:xfrm>
              <a:off x="640842" y="4997768"/>
              <a:ext cx="1810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模型层 · WebSocket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" y="5257800"/>
              <a:ext cx="5334000" cy="457200"/>
            </a:xfrm>
            <a:prstGeom prst="roundRect">
              <a:avLst>
                <a:gd name="adj" fmla="val 6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4004" y="5414010"/>
              <a:ext cx="4317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昇腾 A3（910C）· llama.cpp-omni · MiniCPM-o-4_5-F16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34100" y="5257800"/>
              <a:ext cx="5410200" cy="457200"/>
            </a:xfrm>
            <a:prstGeom prst="roundRect">
              <a:avLst>
                <a:gd name="adj" fmla="val 625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404" y="5414010"/>
              <a:ext cx="4309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ModelBest 云端 Realtime API · MiniCPM-o-4.5-Realtime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92150" y="6080760"/>
            <a:ext cx="10596728" cy="234696"/>
            <a:chOff x="692150" y="6080760"/>
            <a:chExt cx="10596728" cy="234696"/>
          </a:xfrm>
        </p:grpSpPr>
        <p:grpSp>
          <p:nvGrpSpPr>
            <p:cNvPr id="43" name="Group 43"/>
            <p:cNvGrpSpPr/>
            <p:nvPr/>
          </p:nvGrpSpPr>
          <p:grpSpPr>
            <a:xfrm>
              <a:off x="692150" y="6108700"/>
              <a:ext cx="187326" cy="88900"/>
              <a:chOff x="692150" y="6108700"/>
              <a:chExt cx="187326" cy="88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2150" y="61642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1050" y="61087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9951" y="610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150" y="61087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22604" y="6080760"/>
              <a:ext cx="10266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双后端一键切换：ASCEND_OMNI_WS_URL 指向 A3 即走本地，注释掉走云端；/api/realtime/status 返回 backend: local | map 直观确认。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9391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计划引擎：LLM 创造 × 算法正确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1714500"/>
            <a:ext cx="11430000" cy="609600"/>
            <a:chOff x="381000" y="1714500"/>
            <a:chExt cx="11430000" cy="609600"/>
          </a:xfrm>
        </p:grpSpPr>
        <p:sp>
          <p:nvSpPr>
            <p:cNvPr id="7" name="Rectangle 7"/>
            <p:cNvSpPr/>
            <p:nvPr/>
          </p:nvSpPr>
          <p:spPr>
            <a:xfrm>
              <a:off x="3810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85788" y="187325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8304" y="194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4384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7432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932991" y="1862138"/>
              <a:ext cx="217008" cy="200025"/>
              <a:chOff x="2932991" y="1862138"/>
              <a:chExt cx="217008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932991" y="186213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081338" y="20177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3270504" y="19469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结构化校验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8006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054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310188" y="1862138"/>
              <a:ext cx="200026" cy="200026"/>
              <a:chOff x="5310188" y="186213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399088" y="19510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354638" y="19065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310188" y="1862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32704" y="19469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技能匹配分工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1628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67600" y="1714500"/>
              <a:ext cx="2057400" cy="609600"/>
            </a:xfrm>
            <a:prstGeom prst="roundRect">
              <a:avLst>
                <a:gd name="adj" fmla="val 468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672388" y="1906588"/>
              <a:ext cx="200025" cy="111125"/>
              <a:chOff x="7672388" y="1906588"/>
              <a:chExt cx="200025" cy="1111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683500" y="1917700"/>
                <a:ext cx="177801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8900">
                    <a:moveTo>
                      <a:pt x="0" y="88900"/>
                    </a:moveTo>
                    <a:lnTo>
                      <a:pt x="66675" y="11113"/>
                    </a:lnTo>
                    <a:lnTo>
                      <a:pt x="122238" y="66675"/>
                    </a:ln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94625" y="1973263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39063" y="191770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672388" y="1995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850188" y="19065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994904" y="1946910"/>
              <a:ext cx="147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关键路径排期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525000" y="2019300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829800" y="1714500"/>
              <a:ext cx="1981200" cy="609600"/>
            </a:xfrm>
            <a:prstGeom prst="roundRect">
              <a:avLst>
                <a:gd name="adj" fmla="val 4688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056813" y="1862138"/>
              <a:ext cx="155575" cy="200026"/>
              <a:chOff x="10056813" y="1862138"/>
              <a:chExt cx="155575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156825" y="18621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56813" y="18621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101263" y="19288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101263" y="19732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101263" y="20177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357104" y="194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报告生成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81000" y="2857500"/>
            <a:ext cx="5619750" cy="2381250"/>
            <a:chOff x="381000" y="2857500"/>
            <a:chExt cx="5619750" cy="2381250"/>
          </a:xfrm>
        </p:grpSpPr>
        <p:sp>
          <p:nvSpPr>
            <p:cNvPr id="42" name="Rectangle 42"/>
            <p:cNvSpPr/>
            <p:nvPr/>
          </p:nvSpPr>
          <p:spPr>
            <a:xfrm>
              <a:off x="381000" y="285750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1000" y="2857500"/>
              <a:ext cx="5619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28662" y="321945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91768" y="3231832"/>
              <a:ext cx="1532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9704" y="3775710"/>
              <a:ext cx="2872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任务拆解（LLM + 知识库工时校准）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9704" y="4099560"/>
              <a:ext cx="159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工时建议、报告表达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9704" y="4423410"/>
              <a:ext cx="2416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批判性审查建议（Reflection）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0466" y="4839652"/>
              <a:ext cx="29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负责“想得开”——理解需求、生成弹性方案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191250" y="2857500"/>
            <a:ext cx="5619750" cy="2381250"/>
            <a:chOff x="6191250" y="2857500"/>
            <a:chExt cx="56197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6191250" y="2857500"/>
              <a:ext cx="56197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191250" y="2857500"/>
              <a:ext cx="5619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553200" y="3219450"/>
              <a:ext cx="228600" cy="228600"/>
              <a:chOff x="6553200" y="3219450"/>
              <a:chExt cx="228600" cy="2286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53200" y="32766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1775" y="32194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81775" y="33337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38925" y="3362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67500" y="3219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67500" y="34194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24650" y="32337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53225" y="321945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53225" y="329088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002018" y="323183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确定性算法负责正确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9954" y="3775710"/>
              <a:ext cx="2044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关键路径与浮动计算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89954" y="40995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技能匹配评分、负载均衡、依赖校验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89954" y="442341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日期约束：跳过周末与成员不可用日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90716" y="4839652"/>
              <a:ext cx="3290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算法负责“算得准”——结果可复现、不受模型波动影响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381000" y="5486400"/>
            <a:ext cx="11430000" cy="695706"/>
            <a:chOff x="381000" y="5486400"/>
            <a:chExt cx="11430000" cy="695706"/>
          </a:xfrm>
        </p:grpSpPr>
        <p:sp>
          <p:nvSpPr>
            <p:cNvPr id="69" name="Rectangle 69"/>
            <p:cNvSpPr/>
            <p:nvPr/>
          </p:nvSpPr>
          <p:spPr>
            <a:xfrm>
              <a:off x="381000" y="5486400"/>
              <a:ext cx="11430000" cy="628650"/>
            </a:xfrm>
            <a:prstGeom prst="roundRect">
              <a:avLst>
                <a:gd name="adj" fmla="val 6061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83419" y="5693569"/>
              <a:ext cx="214312" cy="214312"/>
              <a:chOff x="683419" y="5693569"/>
              <a:chExt cx="214312" cy="214312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42950" y="57531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83419" y="56935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6294" y="58364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14970" y="5836444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14970" y="57251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0" y="0"/>
                    </a:moveTo>
                    <a:lnTo>
                      <a:pt x="39886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6294" y="5725120"/>
                <a:ext cx="39886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39886" h="39886">
                    <a:moveTo>
                      <a:pt x="39886" y="0"/>
                    </a:moveTo>
                    <a:lnTo>
                      <a:pt x="0" y="3988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79754" y="56997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全环节兜底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79754" y="5947410"/>
              <a:ext cx="7846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 / 分工 / 排期 / 审查任一环节 LLM 失败，自动切换到确定性规则实现；演示不依赖模型持续在线。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0" name="TextBox 80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15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全模态接入：统一适配层打通五种交互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81000" y="1619250"/>
            <a:ext cx="4362450" cy="3730561"/>
            <a:chOff x="381000" y="1619250"/>
            <a:chExt cx="4362450" cy="3730561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11981" y="1806575"/>
              <a:ext cx="242888" cy="229394"/>
              <a:chOff x="611981" y="1806575"/>
              <a:chExt cx="242888" cy="22939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79450" y="187404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79450" y="1928019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11981" y="180657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202407" y="0"/>
                    </a:move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148432"/>
                    </a:lnTo>
                    <a:cubicBezTo>
                      <a:pt x="242888" y="170789"/>
                      <a:pt x="224764" y="188913"/>
                      <a:pt x="202407" y="188913"/>
                    </a:cubicBezTo>
                    <a:lnTo>
                      <a:pt x="134938" y="188913"/>
                    </a:lnTo>
                    <a:lnTo>
                      <a:pt x="67469" y="229394"/>
                    </a:lnTo>
                    <a:lnTo>
                      <a:pt x="67469" y="188913"/>
                    </a:lnTo>
                    <a:lnTo>
                      <a:pt x="40481" y="188913"/>
                    </a:lnTo>
                    <a:cubicBezTo>
                      <a:pt x="18124" y="188913"/>
                      <a:pt x="0" y="170789"/>
                      <a:pt x="0" y="148432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21842" y="1816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096452"/>
              <a:ext cx="1668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SSE 流式对话 · 方案快照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933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" y="2381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38969" y="2541588"/>
              <a:ext cx="188913" cy="265906"/>
              <a:chOff x="638969" y="2541588"/>
              <a:chExt cx="188913" cy="2659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92944" y="2541588"/>
                <a:ext cx="80963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48432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9" y="0"/>
                      <a:pt x="80963" y="18124"/>
                      <a:pt x="80963" y="40481"/>
                    </a:cubicBezTo>
                    <a:lnTo>
                      <a:pt x="80963" y="107950"/>
                    </a:lnTo>
                    <a:cubicBezTo>
                      <a:pt x="80963" y="130307"/>
                      <a:pt x="62839" y="148432"/>
                      <a:pt x="40481" y="148432"/>
                    </a:cubicBezTo>
                    <a:cubicBezTo>
                      <a:pt x="18124" y="148432"/>
                      <a:pt x="0" y="130307"/>
                      <a:pt x="0" y="107950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38969" y="2649538"/>
                <a:ext cx="188913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4456">
                    <a:moveTo>
                      <a:pt x="0" y="0"/>
                    </a:moveTo>
                    <a:cubicBezTo>
                      <a:pt x="0" y="52167"/>
                      <a:pt x="42290" y="94456"/>
                      <a:pt x="94456" y="94456"/>
                    </a:cubicBezTo>
                    <a:cubicBezTo>
                      <a:pt x="146623" y="94456"/>
                      <a:pt x="188913" y="52167"/>
                      <a:pt x="188913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79450" y="2797969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33425" y="274399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21842" y="2578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6166" y="285845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对话 / 需求输入 / 语音汇报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000500" y="2695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1000" y="3143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11981" y="3330575"/>
              <a:ext cx="242888" cy="215901"/>
              <a:chOff x="611981" y="3330575"/>
              <a:chExt cx="242888" cy="2159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11981" y="3330575"/>
                <a:ext cx="242888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1">
                    <a:moveTo>
                      <a:pt x="26988" y="40481"/>
                    </a:moveTo>
                    <a:lnTo>
                      <a:pt x="40481" y="40481"/>
                    </a:lnTo>
                    <a:cubicBezTo>
                      <a:pt x="55386" y="40481"/>
                      <a:pt x="67469" y="28399"/>
                      <a:pt x="67469" y="13494"/>
                    </a:cubicBezTo>
                    <a:cubicBezTo>
                      <a:pt x="67469" y="6041"/>
                      <a:pt x="73510" y="0"/>
                      <a:pt x="80963" y="0"/>
                    </a:cubicBezTo>
                    <a:lnTo>
                      <a:pt x="161925" y="0"/>
                    </a:lnTo>
                    <a:cubicBezTo>
                      <a:pt x="169378" y="0"/>
                      <a:pt x="175419" y="6041"/>
                      <a:pt x="175419" y="13494"/>
                    </a:cubicBezTo>
                    <a:cubicBezTo>
                      <a:pt x="175419" y="28399"/>
                      <a:pt x="187502" y="40481"/>
                      <a:pt x="202407" y="40481"/>
                    </a:cubicBezTo>
                    <a:lnTo>
                      <a:pt x="215901" y="40481"/>
                    </a:lnTo>
                    <a:cubicBezTo>
                      <a:pt x="230805" y="40481"/>
                      <a:pt x="242888" y="52564"/>
                      <a:pt x="242888" y="67469"/>
                    </a:cubicBezTo>
                    <a:lnTo>
                      <a:pt x="242888" y="188913"/>
                    </a:lnTo>
                    <a:cubicBezTo>
                      <a:pt x="242888" y="203818"/>
                      <a:pt x="230805" y="215901"/>
                      <a:pt x="215901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67469"/>
                    </a:lnTo>
                    <a:cubicBezTo>
                      <a:pt x="0" y="52564"/>
                      <a:pt x="12083" y="40481"/>
                      <a:pt x="26988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944" y="3411538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2184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6166" y="3620452"/>
              <a:ext cx="2011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 / 白板 / 截图 / 扫描 PDF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000500" y="3457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000" y="3905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11981" y="4119563"/>
              <a:ext cx="242889" cy="161925"/>
              <a:chOff x="611981" y="4119563"/>
              <a:chExt cx="242889" cy="1619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73907" y="414073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11981" y="411956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21842" y="4102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166" y="43824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会议录像 / 答辩录像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000500" y="4219575"/>
              <a:ext cx="7429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1000" y="4667250"/>
              <a:ext cx="3619500" cy="628650"/>
            </a:xfrm>
            <a:prstGeom prst="roundRect">
              <a:avLst>
                <a:gd name="adj" fmla="val 454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11981" y="4854339"/>
              <a:ext cx="243471" cy="216373"/>
              <a:chOff x="611981" y="4854339"/>
              <a:chExt cx="243471" cy="21637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73907" y="4908550"/>
                <a:ext cx="269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107950">
                    <a:moveTo>
                      <a:pt x="0" y="0"/>
                    </a:moveTo>
                    <a:cubicBezTo>
                      <a:pt x="16989" y="12742"/>
                      <a:pt x="26988" y="32739"/>
                      <a:pt x="26988" y="53975"/>
                    </a:cubicBezTo>
                    <a:cubicBezTo>
                      <a:pt x="26988" y="75211"/>
                      <a:pt x="16989" y="95208"/>
                      <a:pt x="0" y="10795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0340" y="4868069"/>
                <a:ext cx="45112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45112" h="188913">
                    <a:moveTo>
                      <a:pt x="0" y="0"/>
                    </a:moveTo>
                    <a:cubicBezTo>
                      <a:pt x="28531" y="23057"/>
                      <a:pt x="45112" y="57774"/>
                      <a:pt x="45112" y="94456"/>
                    </a:cubicBezTo>
                    <a:cubicBezTo>
                      <a:pt x="45112" y="131139"/>
                      <a:pt x="28531" y="165856"/>
                      <a:pt x="0" y="188913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1981" y="4854339"/>
                <a:ext cx="108841" cy="216373"/>
              </a:xfrm>
              <a:custGeom>
                <a:avLst/>
                <a:gdLst/>
                <a:ahLst/>
                <a:cxnLst/>
                <a:rect l="l" t="t" r="r" b="b"/>
                <a:pathLst>
                  <a:path w="108841" h="216373">
                    <a:moveTo>
                      <a:pt x="40481" y="148668"/>
                    </a:moveTo>
                    <a:lnTo>
                      <a:pt x="13494" y="148668"/>
                    </a:lnTo>
                    <a:cubicBezTo>
                      <a:pt x="6041" y="148668"/>
                      <a:pt x="0" y="142627"/>
                      <a:pt x="0" y="135174"/>
                    </a:cubicBezTo>
                    <a:lnTo>
                      <a:pt x="0" y="81199"/>
                    </a:lnTo>
                    <a:cubicBezTo>
                      <a:pt x="0" y="73747"/>
                      <a:pt x="6041" y="67705"/>
                      <a:pt x="13494" y="67705"/>
                    </a:cubicBezTo>
                    <a:lnTo>
                      <a:pt x="40481" y="67705"/>
                    </a:lnTo>
                    <a:lnTo>
                      <a:pt x="87710" y="6983"/>
                    </a:lnTo>
                    <a:cubicBezTo>
                      <a:pt x="90146" y="2250"/>
                      <a:pt x="95670" y="0"/>
                      <a:pt x="100721" y="1684"/>
                    </a:cubicBezTo>
                    <a:cubicBezTo>
                      <a:pt x="105772" y="3367"/>
                      <a:pt x="108841" y="8481"/>
                      <a:pt x="107950" y="13730"/>
                    </a:cubicBezTo>
                    <a:lnTo>
                      <a:pt x="107950" y="202643"/>
                    </a:lnTo>
                    <a:cubicBezTo>
                      <a:pt x="108841" y="207892"/>
                      <a:pt x="105772" y="213006"/>
                      <a:pt x="100721" y="214690"/>
                    </a:cubicBezTo>
                    <a:cubicBezTo>
                      <a:pt x="95670" y="216373"/>
                      <a:pt x="90146" y="214123"/>
                      <a:pt x="87710" y="209390"/>
                    </a:cubicBezTo>
                    <a:lnTo>
                      <a:pt x="40481" y="14866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21842" y="48644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6166" y="514445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语音回复 / 今日播报（云端）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62500" y="2286000"/>
            <a:ext cx="3619500" cy="1809750"/>
            <a:chOff x="4762500" y="2286000"/>
            <a:chExt cx="3619500" cy="1809750"/>
          </a:xfrm>
        </p:grpSpPr>
        <p:sp>
          <p:nvSpPr>
            <p:cNvPr id="46" name="Rectangle 46"/>
            <p:cNvSpPr/>
            <p:nvPr/>
          </p:nvSpPr>
          <p:spPr>
            <a:xfrm>
              <a:off x="4762500" y="2286000"/>
              <a:ext cx="3619500" cy="1809750"/>
            </a:xfrm>
            <a:prstGeom prst="roundRect">
              <a:avLst>
                <a:gd name="adj" fmla="val 210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130800" y="2647950"/>
              <a:ext cx="254001" cy="190500"/>
              <a:chOff x="5130800" y="2647950"/>
              <a:chExt cx="254001" cy="1905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5130800" y="2647950"/>
                <a:ext cx="254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1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130800" y="2774950"/>
                <a:ext cx="25400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5630418" y="2660332"/>
              <a:ext cx="19292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omni_chat 适配层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61204" y="3089910"/>
              <a:ext cx="1856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统一接入 MiniCPM-o 4.5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61204" y="3375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统一行为 · 长音频分片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61966" y="36776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本地直听 / 云端先转写再理解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382000" y="2095500"/>
            <a:ext cx="3429000" cy="1047750"/>
            <a:chOff x="8382000" y="2095500"/>
            <a:chExt cx="3429000" cy="1047750"/>
          </a:xfrm>
        </p:grpSpPr>
        <p:sp>
          <p:nvSpPr>
            <p:cNvPr id="55" name="Rectangle 55"/>
            <p:cNvSpPr/>
            <p:nvPr/>
          </p:nvSpPr>
          <p:spPr>
            <a:xfrm>
              <a:off x="8763000" y="2095500"/>
              <a:ext cx="3048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029700" y="2343150"/>
              <a:ext cx="228599" cy="228599"/>
              <a:chOff x="9029700" y="2343150"/>
              <a:chExt cx="228599" cy="228599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055100" y="23685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105900" y="24193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029700" y="2432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029700" y="2482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118600" y="2343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169400" y="2343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2899" y="2432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232899" y="2482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169400" y="25463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118600" y="25463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441942" y="2387918"/>
              <a:ext cx="1162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86266" y="27060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llama-omni · 能直接听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86266" y="2915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实听实答，低延迟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8382000" y="2857500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8382000" y="3429000"/>
            <a:ext cx="3429000" cy="1047750"/>
            <a:chOff x="8382000" y="3429000"/>
            <a:chExt cx="3429000" cy="1047750"/>
          </a:xfrm>
        </p:grpSpPr>
        <p:sp>
          <p:nvSpPr>
            <p:cNvPr id="72" name="Rectangle 72"/>
            <p:cNvSpPr/>
            <p:nvPr/>
          </p:nvSpPr>
          <p:spPr>
            <a:xfrm>
              <a:off x="8763000" y="3429000"/>
              <a:ext cx="3048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017000" y="3698113"/>
              <a:ext cx="253999" cy="169087"/>
            </a:xfrm>
            <a:custGeom>
              <a:avLst/>
              <a:gdLst/>
              <a:ahLst/>
              <a:cxnLst/>
              <a:rect l="l" t="t" r="r" b="b"/>
              <a:pathLst>
                <a:path w="253999" h="169087">
                  <a:moveTo>
                    <a:pt x="59144" y="169037"/>
                  </a:moveTo>
                  <a:cubicBezTo>
                    <a:pt x="26479" y="169037"/>
                    <a:pt x="0" y="143548"/>
                    <a:pt x="0" y="112103"/>
                  </a:cubicBezTo>
                  <a:cubicBezTo>
                    <a:pt x="0" y="80670"/>
                    <a:pt x="26479" y="55181"/>
                    <a:pt x="59144" y="55181"/>
                  </a:cubicBezTo>
                  <a:cubicBezTo>
                    <a:pt x="64135" y="32804"/>
                    <a:pt x="81927" y="14541"/>
                    <a:pt x="105816" y="7264"/>
                  </a:cubicBezTo>
                  <a:cubicBezTo>
                    <a:pt x="129692" y="0"/>
                    <a:pt x="156057" y="4813"/>
                    <a:pt x="174955" y="19964"/>
                  </a:cubicBezTo>
                  <a:cubicBezTo>
                    <a:pt x="193852" y="35077"/>
                    <a:pt x="202412" y="58153"/>
                    <a:pt x="197434" y="80530"/>
                  </a:cubicBezTo>
                  <a:lnTo>
                    <a:pt x="210007" y="80530"/>
                  </a:lnTo>
                  <a:cubicBezTo>
                    <a:pt x="234302" y="80530"/>
                    <a:pt x="253999" y="100342"/>
                    <a:pt x="253999" y="124803"/>
                  </a:cubicBezTo>
                  <a:cubicBezTo>
                    <a:pt x="253999" y="149275"/>
                    <a:pt x="234302" y="169087"/>
                    <a:pt x="209994" y="169087"/>
                  </a:cubicBezTo>
                  <a:lnTo>
                    <a:pt x="59144" y="16908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41942" y="3721418"/>
              <a:ext cx="140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ModelBest 云端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86266" y="4039552"/>
              <a:ext cx="179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turn-based · 先转写再理解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86266" y="4249102"/>
              <a:ext cx="1481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开发期兜底 · 免费 API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8382000" y="4095750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381000" y="5676900"/>
            <a:ext cx="11430000" cy="495300"/>
            <a:chOff x="381000" y="5676900"/>
            <a:chExt cx="11430000" cy="495300"/>
          </a:xfrm>
        </p:grpSpPr>
        <p:sp>
          <p:nvSpPr>
            <p:cNvPr id="79" name="Rectangle 79"/>
            <p:cNvSpPr/>
            <p:nvPr/>
          </p:nvSpPr>
          <p:spPr>
            <a:xfrm>
              <a:off x="381000" y="567690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0" name="Freeform 80"/>
            <p:cNvSpPr/>
            <p:nvPr/>
          </p:nvSpPr>
          <p:spPr>
            <a:xfrm>
              <a:off x="681038" y="5835650"/>
              <a:ext cx="200026" cy="177801"/>
            </a:xfrm>
            <a:custGeom>
              <a:avLst/>
              <a:gdLst/>
              <a:ahLst/>
              <a:cxnLst/>
              <a:rect l="l" t="t" r="r" b="b"/>
              <a:pathLst>
                <a:path w="200026" h="177801">
                  <a:moveTo>
                    <a:pt x="0" y="88900"/>
                  </a:moveTo>
                  <a:lnTo>
                    <a:pt x="44450" y="88900"/>
                  </a:lnTo>
                  <a:lnTo>
                    <a:pt x="77788" y="177801"/>
                  </a:lnTo>
                  <a:lnTo>
                    <a:pt x="122238" y="0"/>
                  </a:lnTo>
                  <a:lnTo>
                    <a:pt x="155575" y="88900"/>
                  </a:lnTo>
                  <a:lnTo>
                    <a:pt x="200026" y="8890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41654" y="5871210"/>
              <a:ext cx="7748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实测：昇腾 A3 语音理解约 8s；云端音频自动“先转写再理解”，与本地行为经适配层统一（详见 P26）。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83" name="TextBox 8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系统架构与核心机制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协作闭环：从计划到执行再到触达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809750"/>
            <a:ext cx="1905000" cy="1047750"/>
            <a:chOff x="381000" y="1809750"/>
            <a:chExt cx="1905000" cy="1047750"/>
          </a:xfrm>
        </p:grpSpPr>
        <p:sp>
          <p:nvSpPr>
            <p:cNvPr id="7" name="Rectangle 7"/>
            <p:cNvSpPr/>
            <p:nvPr/>
          </p:nvSpPr>
          <p:spPr>
            <a:xfrm>
              <a:off x="3810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31031" y="1997869"/>
              <a:ext cx="166688" cy="214312"/>
              <a:chOff x="631031" y="1997869"/>
              <a:chExt cx="166688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1031" y="202168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78656" y="199786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78656" y="210502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456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66" y="23822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· 排期 · 分工 · 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166" y="2591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确认后进入执行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86000" y="2428875"/>
            <a:ext cx="304800" cy="1"/>
            <a:chOff x="2286000" y="2428875"/>
            <a:chExt cx="304800" cy="1"/>
          </a:xfrm>
        </p:grpSpPr>
        <p:sp>
          <p:nvSpPr>
            <p:cNvPr id="16" name="Line 16"/>
            <p:cNvSpPr/>
            <p:nvPr/>
          </p:nvSpPr>
          <p:spPr>
            <a:xfrm>
              <a:off x="2286000" y="242887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590800" y="1809750"/>
            <a:ext cx="1905000" cy="1047750"/>
            <a:chOff x="2590800" y="1809750"/>
            <a:chExt cx="1905000" cy="1047750"/>
          </a:xfrm>
        </p:grpSpPr>
        <p:sp>
          <p:nvSpPr>
            <p:cNvPr id="18" name="Rectangle 18"/>
            <p:cNvSpPr/>
            <p:nvPr/>
          </p:nvSpPr>
          <p:spPr>
            <a:xfrm>
              <a:off x="25908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817019" y="1997869"/>
              <a:ext cx="214312" cy="214313"/>
              <a:chOff x="2817019" y="1997869"/>
              <a:chExt cx="214312" cy="2143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840831" y="19978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817019" y="21407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71800" y="19994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995612" y="21425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1554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75966" y="23822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按分工推进任务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75966" y="2591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状态随时更新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00" y="2428875"/>
            <a:ext cx="304800" cy="1"/>
            <a:chOff x="4495800" y="2428875"/>
            <a:chExt cx="304800" cy="1"/>
          </a:xfrm>
        </p:grpSpPr>
        <p:sp>
          <p:nvSpPr>
            <p:cNvPr id="28" name="Line 28"/>
            <p:cNvSpPr/>
            <p:nvPr/>
          </p:nvSpPr>
          <p:spPr>
            <a:xfrm>
              <a:off x="4495800" y="242887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800600" y="1809750"/>
            <a:ext cx="1905000" cy="1047750"/>
            <a:chOff x="4800600" y="1809750"/>
            <a:chExt cx="1905000" cy="1047750"/>
          </a:xfrm>
        </p:grpSpPr>
        <p:sp>
          <p:nvSpPr>
            <p:cNvPr id="30" name="Rectangle 30"/>
            <p:cNvSpPr/>
            <p:nvPr/>
          </p:nvSpPr>
          <p:spPr>
            <a:xfrm>
              <a:off x="4800600" y="180975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032772" y="2015728"/>
              <a:ext cx="196453" cy="172641"/>
              <a:chOff x="5032772" y="2015728"/>
              <a:chExt cx="196453" cy="17264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032772" y="201572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032772" y="208716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032772" y="215860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122069" y="203358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122069" y="210502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122069" y="217646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5365242" y="2025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汇报反馈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5766" y="23822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 / 文本汇报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85766" y="2591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交付物直传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48350" y="2857500"/>
            <a:ext cx="1" cy="400050"/>
            <a:chOff x="5848350" y="2857500"/>
            <a:chExt cx="1" cy="400050"/>
          </a:xfrm>
        </p:grpSpPr>
        <p:sp>
          <p:nvSpPr>
            <p:cNvPr id="42" name="Line 42"/>
            <p:cNvSpPr/>
            <p:nvPr/>
          </p:nvSpPr>
          <p:spPr>
            <a:xfrm>
              <a:off x="5848350" y="2857500"/>
              <a:ext cx="1" cy="4000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4800600" y="3276600"/>
            <a:ext cx="1905000" cy="1047750"/>
            <a:chOff x="4800600" y="3276600"/>
            <a:chExt cx="1905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48006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050631" y="3464719"/>
              <a:ext cx="166688" cy="214312"/>
              <a:chOff x="5050631" y="3464719"/>
              <a:chExt cx="16668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050631" y="34885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098256" y="34647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098256" y="3571875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65242" y="3492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85766" y="38490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确认完成，变更进入计划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14850" y="3895725"/>
            <a:ext cx="285750" cy="1"/>
            <a:chOff x="4514850" y="3895725"/>
            <a:chExt cx="285750" cy="1"/>
          </a:xfrm>
        </p:grpSpPr>
        <p:sp>
          <p:nvSpPr>
            <p:cNvPr id="52" name="Line 52"/>
            <p:cNvSpPr/>
            <p:nvPr/>
          </p:nvSpPr>
          <p:spPr>
            <a:xfrm flipH="1">
              <a:off x="4514850" y="3895725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2590800" y="3276600"/>
            <a:ext cx="1998383" cy="1047750"/>
            <a:chOff x="2590800" y="3276600"/>
            <a:chExt cx="1998383" cy="1047750"/>
          </a:xfrm>
        </p:grpSpPr>
        <p:sp>
          <p:nvSpPr>
            <p:cNvPr id="54" name="Rectangle 54"/>
            <p:cNvSpPr/>
            <p:nvPr/>
          </p:nvSpPr>
          <p:spPr>
            <a:xfrm>
              <a:off x="25908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2813198" y="3464719"/>
              <a:ext cx="218133" cy="218133"/>
              <a:chOff x="2813198" y="3464719"/>
              <a:chExt cx="218133" cy="21813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2900362" y="3464719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0" y="130969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813198" y="3464719"/>
                <a:ext cx="218133" cy="218133"/>
              </a:xfrm>
              <a:custGeom>
                <a:avLst/>
                <a:gdLst/>
                <a:ahLst/>
                <a:cxnLst/>
                <a:rect l="l" t="t" r="r" b="b"/>
                <a:pathLst>
                  <a:path w="218133" h="218133">
                    <a:moveTo>
                      <a:pt x="218133" y="0"/>
                    </a:moveTo>
                    <a:lnTo>
                      <a:pt x="140742" y="214312"/>
                    </a:lnTo>
                    <a:cubicBezTo>
                      <a:pt x="139675" y="216640"/>
                      <a:pt x="137350" y="218133"/>
                      <a:pt x="134789" y="218133"/>
                    </a:cubicBezTo>
                    <a:cubicBezTo>
                      <a:pt x="132228" y="218133"/>
                      <a:pt x="129903" y="216640"/>
                      <a:pt x="128836" y="214312"/>
                    </a:cubicBezTo>
                    <a:lnTo>
                      <a:pt x="87164" y="130969"/>
                    </a:lnTo>
                    <a:lnTo>
                      <a:pt x="3820" y="89297"/>
                    </a:lnTo>
                    <a:cubicBezTo>
                      <a:pt x="1493" y="88230"/>
                      <a:pt x="0" y="85904"/>
                      <a:pt x="0" y="83344"/>
                    </a:cubicBezTo>
                    <a:cubicBezTo>
                      <a:pt x="0" y="80783"/>
                      <a:pt x="1493" y="78457"/>
                      <a:pt x="3820" y="77391"/>
                    </a:cubicBezTo>
                    <a:lnTo>
                      <a:pt x="218133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1554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通知触达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775966" y="3849052"/>
              <a:ext cx="1813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企微 / 飞书 / 钉钉 Webhook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75966" y="40586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305050" y="3895725"/>
            <a:ext cx="285750" cy="1"/>
            <a:chOff x="2305050" y="3895725"/>
            <a:chExt cx="285750" cy="1"/>
          </a:xfrm>
        </p:grpSpPr>
        <p:sp>
          <p:nvSpPr>
            <p:cNvPr id="62" name="Line 62"/>
            <p:cNvSpPr/>
            <p:nvPr/>
          </p:nvSpPr>
          <p:spPr>
            <a:xfrm flipH="1">
              <a:off x="2305050" y="3895725"/>
              <a:ext cx="2857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381000" y="3276600"/>
            <a:ext cx="1905000" cy="1047750"/>
            <a:chOff x="381000" y="3276600"/>
            <a:chExt cx="1905000" cy="1047750"/>
          </a:xfrm>
        </p:grpSpPr>
        <p:sp>
          <p:nvSpPr>
            <p:cNvPr id="64" name="Rectangle 64"/>
            <p:cNvSpPr/>
            <p:nvPr/>
          </p:nvSpPr>
          <p:spPr>
            <a:xfrm>
              <a:off x="381000" y="3276600"/>
              <a:ext cx="1905000" cy="1047750"/>
            </a:xfrm>
            <a:prstGeom prst="roundRect">
              <a:avLst>
                <a:gd name="adj" fmla="val 2727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19125" y="3472031"/>
              <a:ext cx="190500" cy="199688"/>
              <a:chOff x="619125" y="3472031"/>
              <a:chExt cx="190500" cy="19968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19125" y="347203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19125" y="358378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9456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66166" y="38490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 / 成员 / 工时变化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6166" y="40586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自动重排，计划保持最新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28750" y="2876550"/>
            <a:ext cx="1" cy="400050"/>
            <a:chOff x="1428750" y="2876550"/>
            <a:chExt cx="1" cy="400050"/>
          </a:xfrm>
        </p:grpSpPr>
        <p:sp>
          <p:nvSpPr>
            <p:cNvPr id="72" name="Line 72"/>
            <p:cNvSpPr/>
            <p:nvPr/>
          </p:nvSpPr>
          <p:spPr>
            <a:xfrm flipV="1">
              <a:off x="1428750" y="2876550"/>
              <a:ext cx="1" cy="4000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7239000" y="1905000"/>
            <a:ext cx="4381500" cy="1057656"/>
            <a:chOff x="7239000" y="1905000"/>
            <a:chExt cx="4381500" cy="1057656"/>
          </a:xfrm>
        </p:grpSpPr>
        <p:sp>
          <p:nvSpPr>
            <p:cNvPr id="74" name="Rectangle 74"/>
            <p:cNvSpPr/>
            <p:nvPr/>
          </p:nvSpPr>
          <p:spPr>
            <a:xfrm>
              <a:off x="7239000" y="1905000"/>
              <a:ext cx="4381500" cy="104775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98842" y="2140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计划随现实持续运转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99604" y="248031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每一次状态变更都回到“即时重算”，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499604" y="2727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计划永远不是一次生成、永久过时。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381000" y="4705350"/>
            <a:ext cx="2724150" cy="1428750"/>
            <a:chOff x="381000" y="4705350"/>
            <a:chExt cx="2724150" cy="1428750"/>
          </a:xfrm>
        </p:grpSpPr>
        <p:sp>
          <p:nvSpPr>
            <p:cNvPr id="79" name="Rectangle 79"/>
            <p:cNvSpPr/>
            <p:nvPr/>
          </p:nvSpPr>
          <p:spPr>
            <a:xfrm>
              <a:off x="38100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638173" y="4937658"/>
              <a:ext cx="196302" cy="202110"/>
              <a:chOff x="638173" y="4937658"/>
              <a:chExt cx="196302" cy="20211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97706" y="500300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1519" y="4937658"/>
                <a:ext cx="112956" cy="112974"/>
              </a:xfrm>
              <a:custGeom>
                <a:avLst/>
                <a:gdLst/>
                <a:ahLst/>
                <a:cxnLst/>
                <a:rect l="l" t="t" r="r" b="b"/>
                <a:pathLst>
                  <a:path w="112956" h="112974">
                    <a:moveTo>
                      <a:pt x="0" y="29630"/>
                    </a:moveTo>
                    <a:lnTo>
                      <a:pt x="5513" y="23248"/>
                    </a:lnTo>
                    <a:cubicBezTo>
                      <a:pt x="28764" y="0"/>
                      <a:pt x="66459" y="3"/>
                      <a:pt x="89708" y="23254"/>
                    </a:cubicBezTo>
                    <a:cubicBezTo>
                      <a:pt x="112956" y="46506"/>
                      <a:pt x="112953" y="84201"/>
                      <a:pt x="89702" y="107449"/>
                    </a:cubicBezTo>
                    <a:lnTo>
                      <a:pt x="83344" y="112974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38173" y="5026819"/>
                <a:ext cx="107158" cy="112949"/>
              </a:xfrm>
              <a:custGeom>
                <a:avLst/>
                <a:gdLst/>
                <a:ahLst/>
                <a:cxnLst/>
                <a:rect l="l" t="t" r="r" b="b"/>
                <a:pathLst>
                  <a:path w="107158" h="112949">
                    <a:moveTo>
                      <a:pt x="107158" y="83344"/>
                    </a:moveTo>
                    <a:lnTo>
                      <a:pt x="102431" y="89702"/>
                    </a:lnTo>
                    <a:cubicBezTo>
                      <a:pt x="78922" y="112949"/>
                      <a:pt x="41084" y="112949"/>
                      <a:pt x="17575" y="89702"/>
                    </a:cubicBezTo>
                    <a:cubicBezTo>
                      <a:pt x="6329" y="78581"/>
                      <a:pt x="0" y="63423"/>
                      <a:pt x="0" y="47607"/>
                    </a:cubicBezTo>
                    <a:cubicBezTo>
                      <a:pt x="0" y="31791"/>
                      <a:pt x="6329" y="16633"/>
                      <a:pt x="17575" y="5513"/>
                    </a:cubicBezTo>
                    <a:lnTo>
                      <a:pt x="23814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983742" y="4959668"/>
              <a:ext cx="1168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免登录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85216" y="5373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成员只看自己的任务，手机即用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295650" y="4705350"/>
            <a:ext cx="2724150" cy="1428750"/>
            <a:chOff x="3295650" y="4705350"/>
            <a:chExt cx="2724150" cy="1428750"/>
          </a:xfrm>
        </p:grpSpPr>
        <p:sp>
          <p:nvSpPr>
            <p:cNvPr id="87" name="Rectangle 87"/>
            <p:cNvSpPr/>
            <p:nvPr/>
          </p:nvSpPr>
          <p:spPr>
            <a:xfrm>
              <a:off x="329565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3552825" y="4943475"/>
              <a:ext cx="190500" cy="190500"/>
              <a:chOff x="3552825" y="4943475"/>
              <a:chExt cx="190500" cy="1905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3552825" y="50506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3683794" y="50506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3552825" y="4943475"/>
                <a:ext cx="19050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0969">
                    <a:moveTo>
                      <a:pt x="0" y="130969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3096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3898392" y="49596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499866" y="53730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语音上报状态与工时，拍照交付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210300" y="4705350"/>
            <a:ext cx="2724150" cy="1428750"/>
            <a:chOff x="6210300" y="4705350"/>
            <a:chExt cx="2724150" cy="1428750"/>
          </a:xfrm>
        </p:grpSpPr>
        <p:sp>
          <p:nvSpPr>
            <p:cNvPr id="95" name="Rectangle 95"/>
            <p:cNvSpPr/>
            <p:nvPr/>
          </p:nvSpPr>
          <p:spPr>
            <a:xfrm>
              <a:off x="6210300" y="4705350"/>
              <a:ext cx="27241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6467021" y="4943009"/>
              <a:ext cx="202861" cy="191432"/>
              <a:chOff x="6467021" y="4943009"/>
              <a:chExt cx="202861" cy="191432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467021" y="4943009"/>
                <a:ext cx="202860" cy="191432"/>
              </a:xfrm>
              <a:custGeom>
                <a:avLst/>
                <a:gdLst/>
                <a:ahLst/>
                <a:cxnLst/>
                <a:rect l="l" t="t" r="r" b="b"/>
                <a:pathLst>
                  <a:path w="202860" h="191432">
                    <a:moveTo>
                      <a:pt x="8764" y="871"/>
                    </a:moveTo>
                    <a:lnTo>
                      <a:pt x="202860" y="95716"/>
                    </a:lnTo>
                    <a:lnTo>
                      <a:pt x="8764" y="190561"/>
                    </a:lnTo>
                    <a:cubicBezTo>
                      <a:pt x="6498" y="191432"/>
                      <a:pt x="3931" y="190849"/>
                      <a:pt x="2263" y="189085"/>
                    </a:cubicBezTo>
                    <a:cubicBezTo>
                      <a:pt x="552" y="187279"/>
                      <a:pt x="0" y="184666"/>
                      <a:pt x="835" y="182322"/>
                    </a:cubicBezTo>
                    <a:lnTo>
                      <a:pt x="30219" y="95716"/>
                    </a:lnTo>
                    <a:lnTo>
                      <a:pt x="835" y="9110"/>
                    </a:lnTo>
                    <a:cubicBezTo>
                      <a:pt x="0" y="6767"/>
                      <a:pt x="552" y="4153"/>
                      <a:pt x="2263" y="2347"/>
                    </a:cubicBezTo>
                    <a:cubicBezTo>
                      <a:pt x="3931" y="583"/>
                      <a:pt x="6498" y="0"/>
                      <a:pt x="8764" y="871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497241" y="5038725"/>
                <a:ext cx="17264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2641" h="9525">
                    <a:moveTo>
                      <a:pt x="0" y="0"/>
                    </a:moveTo>
                    <a:lnTo>
                      <a:pt x="172641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6813042" y="4959668"/>
              <a:ext cx="1427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Webhook 群通知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414516" y="53730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状态变更自动推送到工作群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124950" y="4705350"/>
            <a:ext cx="2686050" cy="1428750"/>
            <a:chOff x="9124950" y="4705350"/>
            <a:chExt cx="2686050" cy="1428750"/>
          </a:xfrm>
        </p:grpSpPr>
        <p:sp>
          <p:nvSpPr>
            <p:cNvPr id="102" name="Rectangle 102"/>
            <p:cNvSpPr/>
            <p:nvPr/>
          </p:nvSpPr>
          <p:spPr>
            <a:xfrm>
              <a:off x="9124950" y="4705350"/>
              <a:ext cx="2686050" cy="1428750"/>
            </a:xfrm>
            <a:prstGeom prst="roundRect">
              <a:avLst>
                <a:gd name="adj" fmla="val 2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9370219" y="4931569"/>
              <a:ext cx="226219" cy="226219"/>
              <a:chOff x="9370219" y="4931569"/>
              <a:chExt cx="226219" cy="226219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9370219" y="4955381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04715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66688" y="0"/>
                    </a:lnTo>
                    <a:cubicBezTo>
                      <a:pt x="179839" y="0"/>
                      <a:pt x="190500" y="10661"/>
                      <a:pt x="190500" y="23812"/>
                    </a:cubicBezTo>
                    <a:lnTo>
                      <a:pt x="190500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9548812" y="5062538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47625"/>
                    </a:lnTo>
                    <a:lnTo>
                      <a:pt x="47625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9501188" y="5062538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9513094" y="49315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9417844" y="4931569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9370219" y="5026819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9727692" y="4959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今日播报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329166" y="5373052"/>
              <a:ext cx="184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朗读今日待办要点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113" name="TextBox 11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6071711" cy="1015365"/>
            <a:chOff x="747522" y="1851660"/>
            <a:chExt cx="607171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1647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03 / 核心功能详解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五大能力模块，围绕计划引擎展开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00278" y="3609975"/>
            <a:ext cx="6109538" cy="2007870"/>
            <a:chOff x="800278" y="3609975"/>
            <a:chExt cx="6109538" cy="2007870"/>
          </a:xfrm>
        </p:grpSpPr>
        <p:grpSp>
          <p:nvGrpSpPr>
            <p:cNvPr id="9" name="Group 9"/>
            <p:cNvGrpSpPr/>
            <p:nvPr/>
          </p:nvGrpSpPr>
          <p:grpSpPr>
            <a:xfrm>
              <a:off x="819150" y="3609975"/>
              <a:ext cx="228600" cy="171450"/>
              <a:chOff x="819150" y="3609975"/>
              <a:chExt cx="2286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19150" y="36099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9150" y="37242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25880" y="3609975"/>
              <a:ext cx="3567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功能总览矩阵：五大模块全景（P12）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3438" y="4138612"/>
              <a:ext cx="200025" cy="257176"/>
              <a:chOff x="833438" y="4138612"/>
              <a:chExt cx="200025" cy="2571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3438" y="41671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0588" y="41386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90588" y="426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47738" y="42672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0588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47738" y="43243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25880" y="4181475"/>
              <a:ext cx="4773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计划引擎：拆解 / 工时 / 匹配 / 均衡（P13–P14）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19150" y="4718887"/>
              <a:ext cx="228600" cy="239626"/>
              <a:chOff x="819150" y="4718887"/>
              <a:chExt cx="228600" cy="2396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19150" y="4718887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9150" y="4852988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325880" y="4752975"/>
              <a:ext cx="5583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动态协作与版本管理：可编辑 · 拖拽 · 重算 · 回滚（P15）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00278" y="5281612"/>
              <a:ext cx="261759" cy="261759"/>
              <a:chOff x="800278" y="5281612"/>
              <a:chExt cx="261759" cy="26175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04875" y="52816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00278" y="528161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325880" y="5324475"/>
              <a:ext cx="5452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成员汇报与群通知：免登录 · 语音/照片 · Webhook（P16）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P11–P17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11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功能总览：五大能力模块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81000" y="1676400"/>
            <a:ext cx="2209800" cy="2381250"/>
            <a:chOff x="381000" y="1676400"/>
            <a:chExt cx="220980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76400"/>
              <a:ext cx="2209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50875" y="2022475"/>
              <a:ext cx="241299" cy="241300"/>
              <a:chOff x="650875" y="2022475"/>
              <a:chExt cx="241299" cy="2413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50875" y="20828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81037" y="202247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81037" y="214312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1362" y="217328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1525" y="202247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1525" y="223361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1849" y="203755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2012" y="202247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2012" y="209788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582930" y="2466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5216" y="287750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 / 大型双模式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5216" y="3125152"/>
              <a:ext cx="16847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 · 工时 · CPM 排期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216" y="3372802"/>
              <a:ext cx="1417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 · 负载均衡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216" y="36204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 · 批判性审查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86050" y="1676400"/>
            <a:ext cx="2209800" cy="2381250"/>
            <a:chOff x="2686050" y="1676400"/>
            <a:chExt cx="22098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268605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86050" y="1676400"/>
              <a:ext cx="2209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955925" y="2016656"/>
              <a:ext cx="241299" cy="252937"/>
              <a:chOff x="2955925" y="2016656"/>
              <a:chExt cx="241299" cy="25293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955925" y="201665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241299" y="111387"/>
                    </a:moveTo>
                    <a:cubicBezTo>
                      <a:pt x="233718" y="56832"/>
                      <a:pt x="190564" y="14097"/>
                      <a:pt x="135937" y="7049"/>
                    </a:cubicBezTo>
                    <a:cubicBezTo>
                      <a:pt x="81310" y="0"/>
                      <a:pt x="28722" y="30381"/>
                      <a:pt x="7541" y="81225"/>
                    </a:cubicBezTo>
                    <a:moveTo>
                      <a:pt x="0" y="20900"/>
                    </a:moveTo>
                    <a:lnTo>
                      <a:pt x="0" y="81225"/>
                    </a:lnTo>
                    <a:lnTo>
                      <a:pt x="60325" y="81225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955925" y="2158206"/>
                <a:ext cx="241299" cy="111387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111387">
                    <a:moveTo>
                      <a:pt x="0" y="0"/>
                    </a:moveTo>
                    <a:cubicBezTo>
                      <a:pt x="7582" y="54556"/>
                      <a:pt x="50735" y="97290"/>
                      <a:pt x="105362" y="104339"/>
                    </a:cubicBezTo>
                    <a:cubicBezTo>
                      <a:pt x="159990" y="111387"/>
                      <a:pt x="212577" y="81007"/>
                      <a:pt x="233759" y="30162"/>
                    </a:cubicBezTo>
                    <a:moveTo>
                      <a:pt x="241299" y="90487"/>
                    </a:moveTo>
                    <a:lnTo>
                      <a:pt x="241299" y="30162"/>
                    </a:lnTo>
                    <a:lnTo>
                      <a:pt x="180975" y="3016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887980" y="2466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90266" y="2877502"/>
              <a:ext cx="1558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可编辑草案 · 拖拽分工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90266" y="3125152"/>
              <a:ext cx="1417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 · 成员管理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90266" y="3372802"/>
              <a:ext cx="15799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版本快照 · 对比 · 回滚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90266" y="3620452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大型项目分阶段认领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991100" y="1676400"/>
            <a:ext cx="2209800" cy="2381250"/>
            <a:chOff x="4991100" y="1676400"/>
            <a:chExt cx="2209800" cy="2381250"/>
          </a:xfrm>
        </p:grpSpPr>
        <p:sp>
          <p:nvSpPr>
            <p:cNvPr id="36" name="Rectangle 36"/>
            <p:cNvSpPr/>
            <p:nvPr/>
          </p:nvSpPr>
          <p:spPr>
            <a:xfrm>
              <a:off x="499110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91100" y="1676400"/>
              <a:ext cx="22098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245894" y="2022475"/>
              <a:ext cx="256381" cy="241299"/>
            </a:xfrm>
            <a:custGeom>
              <a:avLst/>
              <a:gdLst/>
              <a:ahLst/>
              <a:cxnLst/>
              <a:rect l="l" t="t" r="r" b="b"/>
              <a:pathLst>
                <a:path w="256381" h="241299">
                  <a:moveTo>
                    <a:pt x="196056" y="211137"/>
                  </a:moveTo>
                  <a:cubicBezTo>
                    <a:pt x="212714" y="211137"/>
                    <a:pt x="226218" y="224641"/>
                    <a:pt x="226218" y="241299"/>
                  </a:cubicBezTo>
                  <a:cubicBezTo>
                    <a:pt x="226218" y="224641"/>
                    <a:pt x="239722" y="211137"/>
                    <a:pt x="256381" y="211137"/>
                  </a:cubicBezTo>
                  <a:cubicBezTo>
                    <a:pt x="239722" y="211137"/>
                    <a:pt x="226218" y="197633"/>
                    <a:pt x="226218" y="180975"/>
                  </a:cubicBezTo>
                  <a:cubicBezTo>
                    <a:pt x="226218" y="197633"/>
                    <a:pt x="212714" y="211137"/>
                    <a:pt x="196056" y="211137"/>
                  </a:cubicBezTo>
                  <a:moveTo>
                    <a:pt x="196056" y="30162"/>
                  </a:moveTo>
                  <a:cubicBezTo>
                    <a:pt x="212714" y="30162"/>
                    <a:pt x="226218" y="43667"/>
                    <a:pt x="226218" y="60325"/>
                  </a:cubicBezTo>
                  <a:cubicBezTo>
                    <a:pt x="226218" y="43667"/>
                    <a:pt x="239722" y="30162"/>
                    <a:pt x="256381" y="30162"/>
                  </a:cubicBezTo>
                  <a:cubicBezTo>
                    <a:pt x="239722" y="30162"/>
                    <a:pt x="226218" y="16658"/>
                    <a:pt x="226218" y="0"/>
                  </a:cubicBezTo>
                  <a:cubicBezTo>
                    <a:pt x="226218" y="16658"/>
                    <a:pt x="212714" y="30162"/>
                    <a:pt x="196056" y="30162"/>
                  </a:cubicBezTo>
                  <a:moveTo>
                    <a:pt x="90487" y="211137"/>
                  </a:moveTo>
                  <a:cubicBezTo>
                    <a:pt x="90487" y="161162"/>
                    <a:pt x="131000" y="120650"/>
                    <a:pt x="180975" y="120650"/>
                  </a:cubicBezTo>
                  <a:cubicBezTo>
                    <a:pt x="131000" y="120650"/>
                    <a:pt x="90487" y="80137"/>
                    <a:pt x="90487" y="30162"/>
                  </a:cubicBezTo>
                  <a:cubicBezTo>
                    <a:pt x="90487" y="80137"/>
                    <a:pt x="49975" y="120650"/>
                    <a:pt x="0" y="120650"/>
                  </a:cubicBezTo>
                  <a:cubicBezTo>
                    <a:pt x="49975" y="120650"/>
                    <a:pt x="90487" y="161162"/>
                    <a:pt x="90487" y="211137"/>
                  </a:cubicBezTo>
                </a:path>
              </a:pathLst>
            </a:custGeom>
            <a:noFill/>
            <a:ln w="30162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93030" y="24669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95316" y="2877502"/>
              <a:ext cx="12972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 / 语音 / 图片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95316" y="3125152"/>
              <a:ext cx="1483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 / TTS 五种模态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195316" y="337280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统一适配层接入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95316" y="3620452"/>
              <a:ext cx="11134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产品化场景表达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296150" y="1676400"/>
            <a:ext cx="2209800" cy="2381250"/>
            <a:chOff x="7296150" y="1676400"/>
            <a:chExt cx="2209800" cy="2381250"/>
          </a:xfrm>
        </p:grpSpPr>
        <p:sp>
          <p:nvSpPr>
            <p:cNvPr id="45" name="Rectangle 45"/>
            <p:cNvSpPr/>
            <p:nvPr/>
          </p:nvSpPr>
          <p:spPr>
            <a:xfrm>
              <a:off x="729615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96150" y="1676400"/>
              <a:ext cx="22098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546105" y="2007394"/>
              <a:ext cx="276301" cy="276301"/>
              <a:chOff x="7546105" y="2007394"/>
              <a:chExt cx="276301" cy="276301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656512" y="2007394"/>
                <a:ext cx="165893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165893" h="165893">
                    <a:moveTo>
                      <a:pt x="0" y="165893"/>
                    </a:moveTo>
                    <a:lnTo>
                      <a:pt x="165893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546105" y="2007394"/>
                <a:ext cx="276301" cy="276301"/>
              </a:xfrm>
              <a:custGeom>
                <a:avLst/>
                <a:gdLst/>
                <a:ahLst/>
                <a:cxnLst/>
                <a:rect l="l" t="t" r="r" b="b"/>
                <a:pathLst>
                  <a:path w="276301" h="276301">
                    <a:moveTo>
                      <a:pt x="276301" y="0"/>
                    </a:moveTo>
                    <a:lnTo>
                      <a:pt x="178273" y="271462"/>
                    </a:lnTo>
                    <a:cubicBezTo>
                      <a:pt x="176922" y="274411"/>
                      <a:pt x="173976" y="276301"/>
                      <a:pt x="170733" y="276301"/>
                    </a:cubicBezTo>
                    <a:cubicBezTo>
                      <a:pt x="167489" y="276301"/>
                      <a:pt x="164543" y="274411"/>
                      <a:pt x="163192" y="271462"/>
                    </a:cubicBezTo>
                    <a:lnTo>
                      <a:pt x="110408" y="165893"/>
                    </a:lnTo>
                    <a:lnTo>
                      <a:pt x="4839" y="113109"/>
                    </a:lnTo>
                    <a:cubicBezTo>
                      <a:pt x="1891" y="111758"/>
                      <a:pt x="0" y="108812"/>
                      <a:pt x="0" y="105569"/>
                    </a:cubicBezTo>
                    <a:cubicBezTo>
                      <a:pt x="0" y="102325"/>
                      <a:pt x="1891" y="99379"/>
                      <a:pt x="4839" y="98028"/>
                    </a:cubicBezTo>
                    <a:lnTo>
                      <a:pt x="276301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498080" y="24669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汇报与通知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00366" y="2877502"/>
              <a:ext cx="1417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轻量汇报页 · 免登录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00366" y="3125152"/>
              <a:ext cx="1134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00366" y="337280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00366" y="3620452"/>
              <a:ext cx="1276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 · 今日播报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01200" y="1676400"/>
            <a:ext cx="2209800" cy="2381250"/>
            <a:chOff x="9601200" y="1676400"/>
            <a:chExt cx="2209800" cy="2381250"/>
          </a:xfrm>
        </p:grpSpPr>
        <p:sp>
          <p:nvSpPr>
            <p:cNvPr id="56" name="Rectangle 56"/>
            <p:cNvSpPr/>
            <p:nvPr/>
          </p:nvSpPr>
          <p:spPr>
            <a:xfrm>
              <a:off x="9601200" y="1676400"/>
              <a:ext cx="2209800" cy="2381250"/>
            </a:xfrm>
            <a:prstGeom prst="roundRect">
              <a:avLst>
                <a:gd name="adj" fmla="val 1724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01200" y="1676400"/>
              <a:ext cx="22098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849373" y="2000773"/>
              <a:ext cx="284703" cy="284703"/>
              <a:chOff x="9849373" y="2000773"/>
              <a:chExt cx="284703" cy="28470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849373" y="2000773"/>
                <a:ext cx="284703" cy="284703"/>
              </a:xfrm>
              <a:custGeom>
                <a:avLst/>
                <a:gdLst/>
                <a:ahLst/>
                <a:cxnLst/>
                <a:rect l="l" t="t" r="r" b="b"/>
                <a:pathLst>
                  <a:path w="284703" h="284703">
                    <a:moveTo>
                      <a:pt x="117091" y="26483"/>
                    </a:moveTo>
                    <a:cubicBezTo>
                      <a:pt x="123515" y="0"/>
                      <a:pt x="161188" y="0"/>
                      <a:pt x="167613" y="26483"/>
                    </a:cubicBezTo>
                    <a:cubicBezTo>
                      <a:pt x="169568" y="34552"/>
                      <a:pt x="175259" y="41202"/>
                      <a:pt x="182930" y="44380"/>
                    </a:cubicBezTo>
                    <a:cubicBezTo>
                      <a:pt x="190600" y="47558"/>
                      <a:pt x="199328" y="46881"/>
                      <a:pt x="206417" y="42559"/>
                    </a:cubicBezTo>
                    <a:cubicBezTo>
                      <a:pt x="229687" y="28383"/>
                      <a:pt x="256335" y="55016"/>
                      <a:pt x="242159" y="78302"/>
                    </a:cubicBezTo>
                    <a:cubicBezTo>
                      <a:pt x="237843" y="85388"/>
                      <a:pt x="237168" y="94108"/>
                      <a:pt x="240342" y="101774"/>
                    </a:cubicBezTo>
                    <a:cubicBezTo>
                      <a:pt x="243516" y="109440"/>
                      <a:pt x="250159" y="115130"/>
                      <a:pt x="258221" y="117091"/>
                    </a:cubicBezTo>
                    <a:cubicBezTo>
                      <a:pt x="284703" y="123515"/>
                      <a:pt x="284703" y="161188"/>
                      <a:pt x="258221" y="167613"/>
                    </a:cubicBezTo>
                    <a:cubicBezTo>
                      <a:pt x="250151" y="169568"/>
                      <a:pt x="243501" y="175259"/>
                      <a:pt x="240323" y="182930"/>
                    </a:cubicBezTo>
                    <a:cubicBezTo>
                      <a:pt x="237145" y="190600"/>
                      <a:pt x="237822" y="199328"/>
                      <a:pt x="242144" y="206417"/>
                    </a:cubicBezTo>
                    <a:cubicBezTo>
                      <a:pt x="256320" y="229687"/>
                      <a:pt x="229687" y="256335"/>
                      <a:pt x="206402" y="242159"/>
                    </a:cubicBezTo>
                    <a:cubicBezTo>
                      <a:pt x="199316" y="237843"/>
                      <a:pt x="190595" y="237168"/>
                      <a:pt x="182929" y="240342"/>
                    </a:cubicBezTo>
                    <a:cubicBezTo>
                      <a:pt x="175264" y="243516"/>
                      <a:pt x="169573" y="250159"/>
                      <a:pt x="167613" y="258221"/>
                    </a:cubicBezTo>
                    <a:cubicBezTo>
                      <a:pt x="161188" y="284703"/>
                      <a:pt x="123515" y="284703"/>
                      <a:pt x="117091" y="258221"/>
                    </a:cubicBezTo>
                    <a:cubicBezTo>
                      <a:pt x="115135" y="250151"/>
                      <a:pt x="109444" y="243501"/>
                      <a:pt x="101773" y="240323"/>
                    </a:cubicBezTo>
                    <a:cubicBezTo>
                      <a:pt x="94103" y="237145"/>
                      <a:pt x="85376" y="237822"/>
                      <a:pt x="78287" y="242144"/>
                    </a:cubicBezTo>
                    <a:cubicBezTo>
                      <a:pt x="55016" y="256320"/>
                      <a:pt x="28368" y="229687"/>
                      <a:pt x="42544" y="206402"/>
                    </a:cubicBezTo>
                    <a:cubicBezTo>
                      <a:pt x="46860" y="199316"/>
                      <a:pt x="47535" y="190595"/>
                      <a:pt x="44361" y="182929"/>
                    </a:cubicBezTo>
                    <a:cubicBezTo>
                      <a:pt x="41187" y="175264"/>
                      <a:pt x="34545" y="169573"/>
                      <a:pt x="26483" y="167613"/>
                    </a:cubicBezTo>
                    <a:cubicBezTo>
                      <a:pt x="0" y="161188"/>
                      <a:pt x="0" y="123515"/>
                      <a:pt x="26483" y="117091"/>
                    </a:cubicBezTo>
                    <a:cubicBezTo>
                      <a:pt x="34552" y="115135"/>
                      <a:pt x="41202" y="109444"/>
                      <a:pt x="44380" y="101773"/>
                    </a:cubicBezTo>
                    <a:cubicBezTo>
                      <a:pt x="47558" y="94103"/>
                      <a:pt x="46881" y="85376"/>
                      <a:pt x="42559" y="78287"/>
                    </a:cubicBezTo>
                    <a:cubicBezTo>
                      <a:pt x="28383" y="55016"/>
                      <a:pt x="55016" y="28368"/>
                      <a:pt x="78302" y="42544"/>
                    </a:cubicBezTo>
                    <a:cubicBezTo>
                      <a:pt x="93383" y="51713"/>
                      <a:pt x="112928" y="43600"/>
                      <a:pt x="117091" y="26483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946481" y="2097881"/>
                <a:ext cx="90487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0487">
                    <a:moveTo>
                      <a:pt x="0" y="45244"/>
                    </a:moveTo>
                    <a:cubicBezTo>
                      <a:pt x="0" y="70231"/>
                      <a:pt x="20256" y="90487"/>
                      <a:pt x="45244" y="90487"/>
                    </a:cubicBezTo>
                    <a:cubicBezTo>
                      <a:pt x="70231" y="90487"/>
                      <a:pt x="90487" y="70231"/>
                      <a:pt x="90487" y="45244"/>
                    </a:cubicBezTo>
                    <a:cubicBezTo>
                      <a:pt x="90487" y="20256"/>
                      <a:pt x="70231" y="0"/>
                      <a:pt x="45244" y="0"/>
                    </a:cubicBezTo>
                    <a:cubicBezTo>
                      <a:pt x="20256" y="0"/>
                      <a:pt x="0" y="20256"/>
                      <a:pt x="0" y="45244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803130" y="2466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工程能力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05416" y="2877502"/>
              <a:ext cx="1374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多格式导出（6 种）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5416" y="312515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知识库问答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05416" y="3372802"/>
              <a:ext cx="830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鉴权与审计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05416" y="3620452"/>
              <a:ext cx="1254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监控与演示前预检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81000" y="4343400"/>
            <a:ext cx="11430000" cy="1714500"/>
            <a:chOff x="381000" y="4343400"/>
            <a:chExt cx="11430000" cy="1714500"/>
          </a:xfrm>
        </p:grpSpPr>
        <p:sp>
          <p:nvSpPr>
            <p:cNvPr id="67" name="Rectangle 67"/>
            <p:cNvSpPr/>
            <p:nvPr/>
          </p:nvSpPr>
          <p:spPr>
            <a:xfrm>
              <a:off x="381000" y="4343400"/>
              <a:ext cx="11430000" cy="1714500"/>
            </a:xfrm>
            <a:prstGeom prst="roundRect">
              <a:avLst>
                <a:gd name="adj" fmla="val 2222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7418" y="4584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模块关系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704" y="5013960"/>
              <a:ext cx="4180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计划引擎是核心：把需求转化为可执行、可核验的计划；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9704" y="5318760"/>
              <a:ext cx="3049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动态协作保证计划随现实变化实时更新；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9704" y="5623560"/>
              <a:ext cx="6280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全模态交互是入口，汇报与通知是闭环出口，工程能力保障可运行、可复现、可审计。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3055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计划引擎：拆解 · 工时 · 匹配 · 均衡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81000" y="1619250"/>
            <a:ext cx="5619750" cy="2190750"/>
            <a:chOff x="381000" y="1619250"/>
            <a:chExt cx="5619750" cy="21907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19138" y="1947862"/>
              <a:ext cx="200025" cy="257176"/>
              <a:chOff x="719138" y="1947862"/>
              <a:chExt cx="200025" cy="25717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19138" y="19764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76288" y="194786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76288" y="2076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3438" y="20764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6288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3438" y="21336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34618" y="1974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604" y="2480310"/>
              <a:ext cx="318973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小型项目直接拆解分工；大型项目按“大模块 →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骨干认领 → 子任务 → 志愿者招募”分阶段推进。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604" y="3051810"/>
              <a:ext cx="32506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知识库工时校准生成弹性子任务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（按规模 1–8 项）；失败自动切换确定性兜底。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91250" y="1619250"/>
            <a:ext cx="5619750" cy="2190750"/>
            <a:chOff x="6191250" y="1619250"/>
            <a:chExt cx="5619750" cy="2190750"/>
          </a:xfrm>
        </p:grpSpPr>
        <p:sp>
          <p:nvSpPr>
            <p:cNvPr id="20" name="Rectangle 20"/>
            <p:cNvSpPr/>
            <p:nvPr/>
          </p:nvSpPr>
          <p:spPr>
            <a:xfrm>
              <a:off x="6191250" y="161925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91250" y="16192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500812" y="1947862"/>
              <a:ext cx="257175" cy="257175"/>
              <a:chOff x="6500812" y="1947862"/>
              <a:chExt cx="257175" cy="2571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00812" y="19478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29400" y="2005012"/>
                <a:ext cx="4286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114300">
                    <a:moveTo>
                      <a:pt x="0" y="0"/>
                    </a:moveTo>
                    <a:lnTo>
                      <a:pt x="0" y="71438"/>
                    </a:lnTo>
                    <a:lnTo>
                      <a:pt x="42862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944868" y="1974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工时估算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1854" y="248031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结构化工时案例库检索 + 用户反馈学习。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1854" y="30137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实际偏差自动沉淀回知识库，估算越用越准。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4000500"/>
            <a:ext cx="5619750" cy="2190750"/>
            <a:chOff x="381000" y="4000500"/>
            <a:chExt cx="5619750" cy="2190750"/>
          </a:xfrm>
        </p:grpSpPr>
        <p:sp>
          <p:nvSpPr>
            <p:cNvPr id="29" name="Rectangle 29"/>
            <p:cNvSpPr/>
            <p:nvPr/>
          </p:nvSpPr>
          <p:spPr>
            <a:xfrm>
              <a:off x="381000" y="400050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1000" y="40005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90562" y="4329112"/>
              <a:ext cx="257175" cy="257175"/>
              <a:chOff x="690562" y="4329112"/>
              <a:chExt cx="257175" cy="25717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04862" y="44434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7712" y="4386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0562" y="43291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34618" y="43557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技能匹配分工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604" y="48615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 / 近义词 / 中英文技能匹配。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604" y="5394960"/>
              <a:ext cx="4260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 + 主要协助 + 辅助协助三层角色，给出匹配度评分。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4000500"/>
            <a:ext cx="5619750" cy="2190750"/>
            <a:chOff x="6191250" y="4000500"/>
            <a:chExt cx="5619750" cy="2190750"/>
          </a:xfrm>
        </p:grpSpPr>
        <p:sp>
          <p:nvSpPr>
            <p:cNvPr id="39" name="Rectangle 39"/>
            <p:cNvSpPr/>
            <p:nvPr/>
          </p:nvSpPr>
          <p:spPr>
            <a:xfrm>
              <a:off x="6191250" y="4000500"/>
              <a:ext cx="5619750" cy="2190750"/>
            </a:xfrm>
            <a:prstGeom prst="roundRect">
              <a:avLst>
                <a:gd name="adj" fmla="val 1739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191250" y="40005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515100" y="4343400"/>
              <a:ext cx="228600" cy="228600"/>
              <a:chOff x="6515100" y="4343400"/>
              <a:chExt cx="228600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15100" y="44005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43675" y="43434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43675" y="44577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00825" y="44862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29400" y="43434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29400" y="45434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86550" y="43576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15125" y="4343400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15125" y="4414838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44868" y="4355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51854" y="4861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基于成员可用工时与阶段负载自动均衡。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1854" y="53949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均衡后重算匹配评分并说明理由。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3992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关键路径排期：确定性算法保证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381000" y="1676400"/>
            <a:ext cx="5334000" cy="3515106"/>
            <a:chOff x="381000" y="1676400"/>
            <a:chExt cx="5334000" cy="3515106"/>
          </a:xfrm>
        </p:grpSpPr>
        <p:sp>
          <p:nvSpPr>
            <p:cNvPr id="7" name="Rectangle 7"/>
            <p:cNvSpPr/>
            <p:nvPr/>
          </p:nvSpPr>
          <p:spPr>
            <a:xfrm>
              <a:off x="381000" y="167640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82625" y="1926431"/>
              <a:ext cx="215901" cy="242889"/>
              <a:chOff x="682625" y="1926431"/>
              <a:chExt cx="215901" cy="24288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82625" y="1953419"/>
                <a:ext cx="215901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215901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88913" y="0"/>
                    </a:lnTo>
                    <a:cubicBezTo>
                      <a:pt x="203818" y="0"/>
                      <a:pt x="215901" y="12083"/>
                      <a:pt x="215901" y="26988"/>
                    </a:cubicBezTo>
                    <a:lnTo>
                      <a:pt x="215901" y="188913"/>
                    </a:lnTo>
                    <a:cubicBezTo>
                      <a:pt x="215901" y="203818"/>
                      <a:pt x="203818" y="215901"/>
                      <a:pt x="188913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44551" y="192643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36600" y="1926431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82625" y="2034382"/>
                <a:ext cx="2159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525">
                    <a:moveTo>
                      <a:pt x="0" y="0"/>
                    </a:move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7082" y="2088357"/>
                <a:ext cx="1349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9525">
                    <a:moveTo>
                      <a:pt x="0" y="0"/>
                    </a:move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90575" y="2088357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16330" y="1952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倒排日期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25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从截止日反向推导各任务起止时间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" y="257175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69131" y="2875756"/>
              <a:ext cx="242889" cy="134939"/>
              <a:chOff x="669131" y="2875756"/>
              <a:chExt cx="242889" cy="1349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2625" y="2889250"/>
                <a:ext cx="215901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07950">
                    <a:moveTo>
                      <a:pt x="0" y="107950"/>
                    </a:moveTo>
                    <a:lnTo>
                      <a:pt x="80963" y="13494"/>
                    </a:lnTo>
                    <a:lnTo>
                      <a:pt x="148432" y="80963"/>
                    </a:ln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7563" y="2956719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50094" y="2889250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9131" y="2983707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85032" y="2875756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16330" y="28479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关键路径与浮动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2554" y="31661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识别影响整体进度的任务，输出风险提示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1000" y="346710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69131" y="3717131"/>
              <a:ext cx="242888" cy="242889"/>
              <a:chOff x="669131" y="3717131"/>
              <a:chExt cx="242888" cy="24288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6119" y="37171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9131" y="387905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44551" y="371888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388108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116330" y="3743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资源日历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554" y="406146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跳过周末与成员不可用日，尊重真实可用性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81000" y="4362450"/>
              <a:ext cx="5334000" cy="781050"/>
            </a:xfrm>
            <a:prstGeom prst="roundRect">
              <a:avLst>
                <a:gd name="adj" fmla="val 4878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2625" y="4609713"/>
              <a:ext cx="232163" cy="232162"/>
              <a:chOff x="682625" y="4609713"/>
              <a:chExt cx="232163" cy="2321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2625" y="4666456"/>
                <a:ext cx="175419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175419">
                    <a:moveTo>
                      <a:pt x="40481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48432"/>
                    </a:lnTo>
                    <a:cubicBezTo>
                      <a:pt x="0" y="163336"/>
                      <a:pt x="12083" y="175419"/>
                      <a:pt x="26988" y="175419"/>
                    </a:cubicBezTo>
                    <a:lnTo>
                      <a:pt x="148432" y="175419"/>
                    </a:lnTo>
                    <a:cubicBezTo>
                      <a:pt x="163336" y="175419"/>
                      <a:pt x="175419" y="163336"/>
                      <a:pt x="175419" y="148432"/>
                    </a:cubicBezTo>
                    <a:lnTo>
                      <a:pt x="175419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0094" y="4609713"/>
                <a:ext cx="164694" cy="164694"/>
              </a:xfrm>
              <a:custGeom>
                <a:avLst/>
                <a:gdLst/>
                <a:ahLst/>
                <a:cxnLst/>
                <a:rect l="l" t="t" r="r" b="b"/>
                <a:pathLst>
                  <a:path w="164694" h="164694">
                    <a:moveTo>
                      <a:pt x="153627" y="51143"/>
                    </a:moveTo>
                    <a:cubicBezTo>
                      <a:pt x="164694" y="40077"/>
                      <a:pt x="164694" y="22134"/>
                      <a:pt x="153627" y="11067"/>
                    </a:cubicBezTo>
                    <a:cubicBezTo>
                      <a:pt x="142560" y="0"/>
                      <a:pt x="124617" y="0"/>
                      <a:pt x="113550" y="11067"/>
                    </a:cubicBezTo>
                    <a:lnTo>
                      <a:pt x="0" y="124212"/>
                    </a:lnTo>
                    <a:lnTo>
                      <a:pt x="0" y="164694"/>
                    </a:lnTo>
                    <a:lnTo>
                      <a:pt x="40481" y="164694"/>
                    </a:lnTo>
                    <a:lnTo>
                      <a:pt x="153627" y="5114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4551" y="463946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0" y="0"/>
                    </a:moveTo>
                    <a:lnTo>
                      <a:pt x="40481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16330" y="46386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手动固定日期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554" y="4956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计划可人工微调，算法围绕固定点重排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0" y="1676400"/>
            <a:ext cx="5715000" cy="3810000"/>
            <a:chOff x="6096000" y="1676400"/>
            <a:chExt cx="5715000" cy="3810000"/>
          </a:xfrm>
        </p:grpSpPr>
        <p:sp>
          <p:nvSpPr>
            <p:cNvPr id="42" name="Rectangle 42"/>
            <p:cNvSpPr/>
            <p:nvPr/>
          </p:nvSpPr>
          <p:spPr>
            <a:xfrm>
              <a:off x="6096000" y="1676400"/>
              <a:ext cx="5715000" cy="3810000"/>
            </a:xfrm>
            <a:prstGeom prst="roundRect">
              <a:avLst>
                <a:gd name="adj" fmla="val 1000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93180" y="1857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甘特示意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5466" y="21726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任务条 · 里程碑 · 依赖 · 关键路径（金色）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400800" y="24765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95466" y="2744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需求拆解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543800" y="2705100"/>
              <a:ext cx="142875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62166" y="3429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界面设计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72550" y="3390900"/>
              <a:ext cx="190500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62166" y="4115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后端开发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543800" y="4076700"/>
              <a:ext cx="333375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62166" y="4801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测试验收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877550" y="4762500"/>
              <a:ext cx="66675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Polygon 54"/>
            <p:cNvSpPr/>
            <p:nvPr/>
          </p:nvSpPr>
          <p:spPr>
            <a:xfrm>
              <a:off x="11468100" y="49149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291316" y="52778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258175" y="2895600"/>
              <a:ext cx="714375" cy="495300"/>
            </a:xfrm>
            <a:custGeom>
              <a:avLst/>
              <a:gdLst/>
              <a:ahLst/>
              <a:cxnLst/>
              <a:rect l="l" t="t" r="r" b="b"/>
              <a:pathLst>
                <a:path w="714375" h="495300">
                  <a:moveTo>
                    <a:pt x="0" y="0"/>
                  </a:moveTo>
                  <a:lnTo>
                    <a:pt x="714375" y="495300"/>
                  </a:lnTo>
                </a:path>
              </a:pathLst>
            </a:custGeom>
            <a:noFill/>
            <a:ln w="9525">
              <a:solidFill>
                <a:srgbClr val="A9BCD0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543800" y="3581400"/>
              <a:ext cx="1428750" cy="495300"/>
            </a:xfrm>
            <a:custGeom>
              <a:avLst/>
              <a:gdLst/>
              <a:ahLst/>
              <a:cxnLst/>
              <a:rect l="l" t="t" r="r" b="b"/>
              <a:pathLst>
                <a:path w="1428750" h="495300">
                  <a:moveTo>
                    <a:pt x="142875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A9BCD0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0877550" y="42672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A9BCD0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1544300" y="49530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0" y="0"/>
                  </a:moveTo>
                  <a:lnTo>
                    <a:pt x="152400" y="76200"/>
                  </a:lnTo>
                </a:path>
              </a:pathLst>
            </a:custGeom>
            <a:noFill/>
            <a:ln w="9525">
              <a:solidFill>
                <a:srgbClr val="A9BCD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95466" y="5182552"/>
              <a:ext cx="2437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示意绘制：运行界面见 P25 截图占位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1337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动态协作：计划随现实变化实时重算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81000" y="1619250"/>
            <a:ext cx="5619750" cy="1219200"/>
            <a:chOff x="381000" y="1619250"/>
            <a:chExt cx="5619750" cy="12192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82625" y="1866513"/>
              <a:ext cx="232163" cy="232162"/>
              <a:chOff x="682625" y="1866513"/>
              <a:chExt cx="232163" cy="2321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82625" y="1923256"/>
                <a:ext cx="175419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75419" h="175419">
                    <a:moveTo>
                      <a:pt x="40481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48432"/>
                    </a:lnTo>
                    <a:cubicBezTo>
                      <a:pt x="0" y="163336"/>
                      <a:pt x="12083" y="175419"/>
                      <a:pt x="26988" y="175419"/>
                    </a:cubicBezTo>
                    <a:lnTo>
                      <a:pt x="148432" y="175419"/>
                    </a:lnTo>
                    <a:cubicBezTo>
                      <a:pt x="163336" y="175419"/>
                      <a:pt x="175419" y="163336"/>
                      <a:pt x="175419" y="148432"/>
                    </a:cubicBezTo>
                    <a:lnTo>
                      <a:pt x="175419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0094" y="1866513"/>
                <a:ext cx="164694" cy="164694"/>
              </a:xfrm>
              <a:custGeom>
                <a:avLst/>
                <a:gdLst/>
                <a:ahLst/>
                <a:cxnLst/>
                <a:rect l="l" t="t" r="r" b="b"/>
                <a:pathLst>
                  <a:path w="164694" h="164694">
                    <a:moveTo>
                      <a:pt x="153627" y="51143"/>
                    </a:moveTo>
                    <a:cubicBezTo>
                      <a:pt x="164694" y="40077"/>
                      <a:pt x="164694" y="22134"/>
                      <a:pt x="153627" y="11067"/>
                    </a:cubicBezTo>
                    <a:cubicBezTo>
                      <a:pt x="142560" y="0"/>
                      <a:pt x="124617" y="0"/>
                      <a:pt x="113550" y="11067"/>
                    </a:cubicBezTo>
                    <a:lnTo>
                      <a:pt x="0" y="124212"/>
                    </a:lnTo>
                    <a:lnTo>
                      <a:pt x="0" y="164694"/>
                    </a:lnTo>
                    <a:lnTo>
                      <a:pt x="40481" y="164694"/>
                    </a:lnTo>
                    <a:lnTo>
                      <a:pt x="153627" y="5114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4551" y="1896269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0" y="0"/>
                    </a:moveTo>
                    <a:lnTo>
                      <a:pt x="40481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16330" y="18954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可编辑草案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2554" y="2308860"/>
              <a:ext cx="37761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增删改 / 拆分 / 合并任务与模块，确认前自由调整。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2971800"/>
            <a:ext cx="5619750" cy="1219200"/>
            <a:chOff x="381000" y="2971800"/>
            <a:chExt cx="5619750" cy="1219200"/>
          </a:xfrm>
        </p:grpSpPr>
        <p:sp>
          <p:nvSpPr>
            <p:cNvPr id="15" name="Rectangle 15"/>
            <p:cNvSpPr/>
            <p:nvPr/>
          </p:nvSpPr>
          <p:spPr>
            <a:xfrm>
              <a:off x="381000" y="297180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69131" y="3235325"/>
              <a:ext cx="242888" cy="215901"/>
              <a:chOff x="669131" y="3235325"/>
              <a:chExt cx="242888" cy="2159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71538" y="3235325"/>
                <a:ext cx="4048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80963">
                    <a:moveTo>
                      <a:pt x="0" y="0"/>
                    </a:moveTo>
                    <a:lnTo>
                      <a:pt x="40481" y="40481"/>
                    </a:lnTo>
                    <a:lnTo>
                      <a:pt x="0" y="8096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3370263"/>
                <a:ext cx="4048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80963">
                    <a:moveTo>
                      <a:pt x="0" y="80963"/>
                    </a:moveTo>
                    <a:lnTo>
                      <a:pt x="40481" y="40481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69131" y="3275806"/>
                <a:ext cx="24288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34938">
                    <a:moveTo>
                      <a:pt x="0" y="0"/>
                    </a:moveTo>
                    <a:lnTo>
                      <a:pt x="40481" y="0"/>
                    </a:lnTo>
                    <a:cubicBezTo>
                      <a:pt x="77743" y="0"/>
                      <a:pt x="107950" y="30207"/>
                      <a:pt x="107950" y="67469"/>
                    </a:cubicBezTo>
                    <a:cubicBezTo>
                      <a:pt x="107950" y="104731"/>
                      <a:pt x="138157" y="134938"/>
                      <a:pt x="175419" y="134938"/>
                    </a:cubicBezTo>
                    <a:lnTo>
                      <a:pt x="242888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9131" y="3275785"/>
                <a:ext cx="242888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34975">
                    <a:moveTo>
                      <a:pt x="242888" y="22"/>
                    </a:moveTo>
                    <a:lnTo>
                      <a:pt x="175419" y="22"/>
                    </a:lnTo>
                    <a:cubicBezTo>
                      <a:pt x="160817" y="0"/>
                      <a:pt x="146606" y="4737"/>
                      <a:pt x="134938" y="13515"/>
                    </a:cubicBezTo>
                    <a:moveTo>
                      <a:pt x="80963" y="121466"/>
                    </a:moveTo>
                    <a:cubicBezTo>
                      <a:pt x="69291" y="130239"/>
                      <a:pt x="55082" y="134975"/>
                      <a:pt x="40481" y="134959"/>
                    </a:cubicBezTo>
                    <a:lnTo>
                      <a:pt x="0" y="13495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16330" y="3248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拖拽分工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554" y="36614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看板拖拽负责人与协作者，一键恢复自动分工。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" y="4324350"/>
            <a:ext cx="5619750" cy="1219200"/>
            <a:chOff x="381000" y="4324350"/>
            <a:chExt cx="5619750" cy="1219200"/>
          </a:xfrm>
        </p:grpSpPr>
        <p:sp>
          <p:nvSpPr>
            <p:cNvPr id="24" name="Rectangle 24"/>
            <p:cNvSpPr/>
            <p:nvPr/>
          </p:nvSpPr>
          <p:spPr>
            <a:xfrm>
              <a:off x="381000" y="43243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82625" y="4582669"/>
              <a:ext cx="215901" cy="226313"/>
              <a:chOff x="682625" y="4582669"/>
              <a:chExt cx="215901" cy="22631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82625" y="4582669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215901" y="99663"/>
                    </a:moveTo>
                    <a:cubicBezTo>
                      <a:pt x="209117" y="50849"/>
                      <a:pt x="170506" y="12613"/>
                      <a:pt x="121629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82625" y="4709319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4" y="26988"/>
                    </a:cubicBezTo>
                    <a:moveTo>
                      <a:pt x="215901" y="80963"/>
                    </a:moveTo>
                    <a:lnTo>
                      <a:pt x="215901" y="26988"/>
                    </a:lnTo>
                    <a:lnTo>
                      <a:pt x="161925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116330" y="4600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即时重算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554" y="5013960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状态切换 / 成员变动 / 工时调整后自动重算排期与分工。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91250" y="1619250"/>
            <a:ext cx="5619750" cy="1219200"/>
            <a:chOff x="6191250" y="1619250"/>
            <a:chExt cx="5619750" cy="1219200"/>
          </a:xfrm>
        </p:grpSpPr>
        <p:sp>
          <p:nvSpPr>
            <p:cNvPr id="31" name="Rectangle 31"/>
            <p:cNvSpPr/>
            <p:nvPr/>
          </p:nvSpPr>
          <p:spPr>
            <a:xfrm>
              <a:off x="6191250" y="1619250"/>
              <a:ext cx="5619750" cy="1219200"/>
            </a:xfrm>
            <a:prstGeom prst="roundRect">
              <a:avLst>
                <a:gd name="adj" fmla="val 3125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79381" y="1869281"/>
              <a:ext cx="242888" cy="242889"/>
              <a:chOff x="6479381" y="1869281"/>
              <a:chExt cx="242888" cy="24288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06369" y="18692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79381" y="2031207"/>
                <a:ext cx="161925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3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54801" y="1871036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2"/>
                      <a:pt x="23883" y="98462"/>
                      <a:pt x="0" y="104577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81788" y="2033231"/>
                <a:ext cx="40481" cy="78939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9">
                    <a:moveTo>
                      <a:pt x="40481" y="78939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26580" y="18954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2804" y="2308860"/>
              <a:ext cx="3937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增删成员、调整工时 / 角色 / 不可用日期，自动重排。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91250" y="2971800"/>
            <a:ext cx="5619750" cy="2571750"/>
            <a:chOff x="6191250" y="2971800"/>
            <a:chExt cx="5619750" cy="2571750"/>
          </a:xfrm>
        </p:grpSpPr>
        <p:sp>
          <p:nvSpPr>
            <p:cNvPr id="40" name="Rectangle 40"/>
            <p:cNvSpPr/>
            <p:nvPr/>
          </p:nvSpPr>
          <p:spPr>
            <a:xfrm>
              <a:off x="6191250" y="2971800"/>
              <a:ext cx="5619750" cy="2571750"/>
            </a:xfrm>
            <a:prstGeom prst="roundRect">
              <a:avLst>
                <a:gd name="adj" fmla="val 1481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91250" y="297180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06369" y="3292475"/>
              <a:ext cx="202407" cy="215901"/>
              <a:chOff x="6506369" y="3292475"/>
              <a:chExt cx="202407" cy="21590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06369" y="34544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06369" y="32924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41307" y="32924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33356" y="33464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60344" y="33869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27813" y="33869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26580" y="3305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版本管理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2804" y="3756660"/>
              <a:ext cx="159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保存即生成版本快照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2804" y="4061460"/>
              <a:ext cx="1272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相似任务版本树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2804" y="4366260"/>
              <a:ext cx="1110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版本差异对比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32804" y="4671060"/>
              <a:ext cx="787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分支回滚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33566" y="51063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每一步调整都可追溯、可恢复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81000" y="5772150"/>
            <a:ext cx="11430000" cy="533400"/>
            <a:chOff x="381000" y="5772150"/>
            <a:chExt cx="11430000" cy="533400"/>
          </a:xfrm>
        </p:grpSpPr>
        <p:sp>
          <p:nvSpPr>
            <p:cNvPr id="56" name="Rectangle 56"/>
            <p:cNvSpPr/>
            <p:nvPr/>
          </p:nvSpPr>
          <p:spPr>
            <a:xfrm>
              <a:off x="381000" y="5772150"/>
              <a:ext cx="11430000" cy="533400"/>
            </a:xfrm>
            <a:prstGeom prst="roundRect">
              <a:avLst>
                <a:gd name="adj" fmla="val 7143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83419" y="5922169"/>
              <a:ext cx="214312" cy="214312"/>
              <a:chOff x="683419" y="5922169"/>
              <a:chExt cx="214312" cy="21431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66762" y="60174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2950" y="6100762"/>
                <a:ext cx="952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35719">
                    <a:moveTo>
                      <a:pt x="0" y="35719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71438" y="0"/>
                    </a:lnTo>
                    <a:cubicBezTo>
                      <a:pt x="84589" y="0"/>
                      <a:pt x="95250" y="10661"/>
                      <a:pt x="95250" y="23812"/>
                    </a:cubicBezTo>
                    <a:lnTo>
                      <a:pt x="95250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6294" y="59221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50106" y="6005512"/>
                <a:ext cx="476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5719">
                    <a:moveTo>
                      <a:pt x="0" y="0"/>
                    </a:moveTo>
                    <a:lnTo>
                      <a:pt x="23812" y="0"/>
                    </a:lnTo>
                    <a:cubicBezTo>
                      <a:pt x="36964" y="0"/>
                      <a:pt x="47625" y="10661"/>
                      <a:pt x="47625" y="23812"/>
                    </a:cubicBezTo>
                    <a:lnTo>
                      <a:pt x="47625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07231" y="592216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83419" y="6005512"/>
                <a:ext cx="47625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5719">
                    <a:moveTo>
                      <a:pt x="0" y="35719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79754" y="5966460"/>
              <a:ext cx="9284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大型项目模式：大模块拆解 → 骨干认领（负责人 + 技能/工时/不可用日期）→ 子任务拆解 → 志愿者招募与认领，多阶段连续推进。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6" name="TextBox 66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1910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汇报触达：免登录汇报 + 自动群通知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809750"/>
            <a:ext cx="2590800" cy="1844611"/>
            <a:chOff x="381000" y="1809750"/>
            <a:chExt cx="2590800" cy="1844611"/>
          </a:xfrm>
        </p:grpSpPr>
        <p:sp>
          <p:nvSpPr>
            <p:cNvPr id="7" name="Rectangle 7"/>
            <p:cNvSpPr/>
            <p:nvPr/>
          </p:nvSpPr>
          <p:spPr>
            <a:xfrm>
              <a:off x="381000" y="18097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2179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85798" y="2393319"/>
              <a:ext cx="235561" cy="242531"/>
              <a:chOff x="685798" y="2393319"/>
              <a:chExt cx="235561" cy="24253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57238" y="24717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85812" y="2393319"/>
                <a:ext cx="135547" cy="135568"/>
              </a:xfrm>
              <a:custGeom>
                <a:avLst/>
                <a:gdLst/>
                <a:ahLst/>
                <a:cxnLst/>
                <a:rect l="l" t="t" r="r" b="b"/>
                <a:pathLst>
                  <a:path w="135547" h="135568">
                    <a:moveTo>
                      <a:pt x="0" y="35556"/>
                    </a:moveTo>
                    <a:lnTo>
                      <a:pt x="6615" y="27898"/>
                    </a:lnTo>
                    <a:cubicBezTo>
                      <a:pt x="34517" y="0"/>
                      <a:pt x="79751" y="3"/>
                      <a:pt x="107649" y="27905"/>
                    </a:cubicBezTo>
                    <a:cubicBezTo>
                      <a:pt x="135547" y="55807"/>
                      <a:pt x="135544" y="101041"/>
                      <a:pt x="107642" y="128939"/>
                    </a:cubicBezTo>
                    <a:lnTo>
                      <a:pt x="100012" y="13556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85798" y="2500312"/>
                <a:ext cx="128590" cy="135538"/>
              </a:xfrm>
              <a:custGeom>
                <a:avLst/>
                <a:gdLst/>
                <a:ahLst/>
                <a:cxnLst/>
                <a:rect l="l" t="t" r="r" b="b"/>
                <a:pathLst>
                  <a:path w="128590" h="135538">
                    <a:moveTo>
                      <a:pt x="128590" y="100012"/>
                    </a:moveTo>
                    <a:lnTo>
                      <a:pt x="122917" y="107642"/>
                    </a:lnTo>
                    <a:cubicBezTo>
                      <a:pt x="94707" y="135538"/>
                      <a:pt x="49301" y="135538"/>
                      <a:pt x="21090" y="107642"/>
                    </a:cubicBezTo>
                    <a:cubicBezTo>
                      <a:pt x="7595" y="94298"/>
                      <a:pt x="0" y="76108"/>
                      <a:pt x="0" y="57129"/>
                    </a:cubicBezTo>
                    <a:cubicBezTo>
                      <a:pt x="0" y="38149"/>
                      <a:pt x="7595" y="19960"/>
                      <a:pt x="21090" y="6615"/>
                    </a:cubicBezTo>
                    <a:lnTo>
                      <a:pt x="28577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621030" y="2867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生成链接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3316" y="3239452"/>
              <a:ext cx="121748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token 链接免登录，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成员只看自己的任务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971800" y="2762250"/>
            <a:ext cx="247650" cy="1"/>
            <a:chOff x="2971800" y="2762250"/>
            <a:chExt cx="247650" cy="1"/>
          </a:xfrm>
        </p:grpSpPr>
        <p:sp>
          <p:nvSpPr>
            <p:cNvPr id="16" name="Line 16"/>
            <p:cNvSpPr/>
            <p:nvPr/>
          </p:nvSpPr>
          <p:spPr>
            <a:xfrm>
              <a:off x="2971800" y="2762250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257550" y="1809750"/>
            <a:ext cx="2590800" cy="1844611"/>
            <a:chOff x="3257550" y="1809750"/>
            <a:chExt cx="2590800" cy="1844611"/>
          </a:xfrm>
        </p:grpSpPr>
        <p:sp>
          <p:nvSpPr>
            <p:cNvPr id="18" name="Rectangle 18"/>
            <p:cNvSpPr/>
            <p:nvPr/>
          </p:nvSpPr>
          <p:spPr>
            <a:xfrm>
              <a:off x="3257550" y="18097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9834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3562350" y="2400300"/>
              <a:ext cx="228600" cy="228600"/>
              <a:chOff x="3562350" y="2400300"/>
              <a:chExt cx="2286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562350" y="2528888"/>
                <a:ext cx="714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0012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42862" y="0"/>
                    </a:lnTo>
                    <a:cubicBezTo>
                      <a:pt x="58644" y="0"/>
                      <a:pt x="71438" y="12793"/>
                      <a:pt x="71438" y="28575"/>
                    </a:cubicBezTo>
                    <a:lnTo>
                      <a:pt x="71438" y="71438"/>
                    </a:lnTo>
                    <a:cubicBezTo>
                      <a:pt x="71438" y="87219"/>
                      <a:pt x="58644" y="100012"/>
                      <a:pt x="42862" y="100012"/>
                    </a:cubicBezTo>
                    <a:lnTo>
                      <a:pt x="28575" y="100012"/>
                    </a:lnTo>
                    <a:cubicBezTo>
                      <a:pt x="12793" y="100012"/>
                      <a:pt x="0" y="87219"/>
                      <a:pt x="0" y="71438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19512" y="2528888"/>
                <a:ext cx="714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0012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42862" y="0"/>
                    </a:lnTo>
                    <a:cubicBezTo>
                      <a:pt x="58644" y="0"/>
                      <a:pt x="71438" y="12793"/>
                      <a:pt x="71438" y="28575"/>
                    </a:cubicBezTo>
                    <a:lnTo>
                      <a:pt x="71438" y="71438"/>
                    </a:lnTo>
                    <a:cubicBezTo>
                      <a:pt x="71438" y="87219"/>
                      <a:pt x="58644" y="100012"/>
                      <a:pt x="42862" y="100012"/>
                    </a:cubicBezTo>
                    <a:lnTo>
                      <a:pt x="28575" y="100012"/>
                    </a:lnTo>
                    <a:cubicBezTo>
                      <a:pt x="12793" y="100012"/>
                      <a:pt x="0" y="87219"/>
                      <a:pt x="0" y="71438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562350" y="2400300"/>
                <a:ext cx="2286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7162">
                    <a:moveTo>
                      <a:pt x="0" y="157162"/>
                    </a:move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lnTo>
                      <a:pt x="228600" y="1571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497580" y="28670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 / 照片汇报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9866" y="3239452"/>
              <a:ext cx="1784223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语音上报状态 / 工时 / 备注；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拍照交付物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48350" y="2762250"/>
            <a:ext cx="247650" cy="1"/>
            <a:chOff x="5848350" y="2762250"/>
            <a:chExt cx="247650" cy="1"/>
          </a:xfrm>
        </p:grpSpPr>
        <p:sp>
          <p:nvSpPr>
            <p:cNvPr id="27" name="Line 27"/>
            <p:cNvSpPr/>
            <p:nvPr/>
          </p:nvSpPr>
          <p:spPr>
            <a:xfrm>
              <a:off x="5848350" y="2762250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134100" y="1809750"/>
            <a:ext cx="2590800" cy="1809750"/>
            <a:chOff x="6134100" y="1809750"/>
            <a:chExt cx="25908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6134100" y="1809750"/>
              <a:ext cx="259080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489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453188" y="2386012"/>
              <a:ext cx="200025" cy="257176"/>
              <a:chOff x="6453188" y="2386012"/>
              <a:chExt cx="200025" cy="25717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8" y="241458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10338" y="238601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10338" y="25146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374130" y="28670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6416" y="32394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确认完成，变更进入计划并触发重算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24900" y="2762250"/>
            <a:ext cx="247650" cy="1"/>
            <a:chOff x="8724900" y="2762250"/>
            <a:chExt cx="247650" cy="1"/>
          </a:xfrm>
        </p:grpSpPr>
        <p:sp>
          <p:nvSpPr>
            <p:cNvPr id="38" name="Line 38"/>
            <p:cNvSpPr/>
            <p:nvPr/>
          </p:nvSpPr>
          <p:spPr>
            <a:xfrm>
              <a:off x="8724900" y="2762250"/>
              <a:ext cx="2476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9010650" y="1809750"/>
            <a:ext cx="2800350" cy="1844611"/>
            <a:chOff x="9010650" y="1809750"/>
            <a:chExt cx="2800350" cy="1844611"/>
          </a:xfrm>
        </p:grpSpPr>
        <p:sp>
          <p:nvSpPr>
            <p:cNvPr id="40" name="Rectangle 40"/>
            <p:cNvSpPr/>
            <p:nvPr/>
          </p:nvSpPr>
          <p:spPr>
            <a:xfrm>
              <a:off x="9010650" y="1809750"/>
              <a:ext cx="2800350" cy="1809750"/>
            </a:xfrm>
            <a:prstGeom prst="roundRect">
              <a:avLst>
                <a:gd name="adj" fmla="val 2105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51442" y="20259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9296578" y="2386012"/>
              <a:ext cx="261759" cy="261759"/>
              <a:chOff x="9296578" y="2386012"/>
              <a:chExt cx="261759" cy="26175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401175" y="23860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96578" y="238601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250680" y="286702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群通知 / 今日播报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2966" y="3239452"/>
              <a:ext cx="1830895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企微 / 飞书 / 钉钉 Webhook；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播报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81000" y="4038600"/>
            <a:ext cx="11430000" cy="1714500"/>
            <a:chOff x="381000" y="4038600"/>
            <a:chExt cx="11430000" cy="1714500"/>
          </a:xfrm>
        </p:grpSpPr>
        <p:sp>
          <p:nvSpPr>
            <p:cNvPr id="48" name="Rectangle 48"/>
            <p:cNvSpPr/>
            <p:nvPr/>
          </p:nvSpPr>
          <p:spPr>
            <a:xfrm>
              <a:off x="381000" y="40386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92150" y="4305300"/>
              <a:ext cx="177800" cy="228600"/>
              <a:chOff x="692150" y="4305300"/>
              <a:chExt cx="177800" cy="2286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92150" y="44069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68350" y="4457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0250" y="43053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59180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全程免登录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554" y="478536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绑定 方案 + 成员，无需注册；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554" y="50711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手机即可完成汇报与确认。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286250" y="40386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4584700" y="4305300"/>
              <a:ext cx="203199" cy="228599"/>
              <a:chOff x="4584700" y="4305300"/>
              <a:chExt cx="203199" cy="22859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584700" y="4305300"/>
                <a:ext cx="2031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77800">
                    <a:moveTo>
                      <a:pt x="76200" y="25400"/>
                    </a:moveTo>
                    <a:cubicBezTo>
                      <a:pt x="76200" y="11372"/>
                      <a:pt x="87572" y="0"/>
                      <a:pt x="101600" y="0"/>
                    </a:cubicBezTo>
                    <a:cubicBezTo>
                      <a:pt x="115628" y="0"/>
                      <a:pt x="127000" y="11372"/>
                      <a:pt x="127000" y="25400"/>
                    </a:cubicBezTo>
                    <a:cubicBezTo>
                      <a:pt x="156720" y="39453"/>
                      <a:pt x="176258" y="68761"/>
                      <a:pt x="177800" y="101600"/>
                    </a:cubicBezTo>
                    <a:lnTo>
                      <a:pt x="177800" y="139700"/>
                    </a:lnTo>
                    <a:cubicBezTo>
                      <a:pt x="179738" y="155712"/>
                      <a:pt x="189165" y="169852"/>
                      <a:pt x="203199" y="177800"/>
                    </a:cubicBezTo>
                    <a:lnTo>
                      <a:pt x="0" y="177800"/>
                    </a:lnTo>
                    <a:cubicBezTo>
                      <a:pt x="14035" y="169852"/>
                      <a:pt x="23462" y="155712"/>
                      <a:pt x="25400" y="139700"/>
                    </a:cubicBezTo>
                    <a:lnTo>
                      <a:pt x="25400" y="101600"/>
                    </a:lnTo>
                    <a:cubicBezTo>
                      <a:pt x="26941" y="68761"/>
                      <a:pt x="46480" y="39453"/>
                      <a:pt x="762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648200" y="44830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0"/>
                    </a:moveTo>
                    <a:lnTo>
                      <a:pt x="0" y="12700"/>
                    </a:lnTo>
                    <a:cubicBezTo>
                      <a:pt x="0" y="33742"/>
                      <a:pt x="17058" y="50800"/>
                      <a:pt x="38100" y="50800"/>
                    </a:cubicBezTo>
                    <a:cubicBezTo>
                      <a:pt x="59142" y="50800"/>
                      <a:pt x="76200" y="33742"/>
                      <a:pt x="76200" y="1270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4964430" y="4333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自动触达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27804" y="4785360"/>
              <a:ext cx="20467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状态变更自动推送 Webhook；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无需人工转发，消息不遗漏。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191500" y="4038600"/>
              <a:ext cx="3619500" cy="1714500"/>
            </a:xfrm>
            <a:prstGeom prst="roundRect">
              <a:avLst>
                <a:gd name="adj" fmla="val 222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477250" y="4305300"/>
              <a:ext cx="241300" cy="241300"/>
              <a:chOff x="8477250" y="4305300"/>
              <a:chExt cx="241300" cy="2413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477250" y="433070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111696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667749" y="4445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5080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616950" y="44450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629650" y="43053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528050" y="43053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77250" y="4406900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869680" y="4333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今日播报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33054" y="4785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 TTS 朗读今日待办要点，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33054" y="5071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团队节奏一目了然。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4" name="TextBox 7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546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核心功能详解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657269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全模态交互：五种模态 × 真实协作场景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62100"/>
            <a:ext cx="11430000" cy="438150"/>
            <a:chOff x="381000" y="1562100"/>
            <a:chExt cx="11430000" cy="438150"/>
          </a:xfrm>
        </p:grpSpPr>
        <p:sp>
          <p:nvSpPr>
            <p:cNvPr id="7" name="Rectangle 7"/>
            <p:cNvSpPr/>
            <p:nvPr/>
          </p:nvSpPr>
          <p:spPr>
            <a:xfrm>
              <a:off x="381000" y="1562100"/>
              <a:ext cx="1714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46354" y="1699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562100"/>
              <a:ext cx="3619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60854" y="16992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0" y="1562100"/>
              <a:ext cx="3429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80354" y="1699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0" y="1562100"/>
              <a:ext cx="2667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09354" y="1699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对应接口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2000250"/>
            <a:ext cx="11430000" cy="704850"/>
            <a:chOff x="381000" y="2000250"/>
            <a:chExt cx="11430000" cy="704850"/>
          </a:xfrm>
        </p:grpSpPr>
        <p:sp>
          <p:nvSpPr>
            <p:cNvPr id="16" name="Rectangle 16"/>
            <p:cNvSpPr/>
            <p:nvPr/>
          </p:nvSpPr>
          <p:spPr>
            <a:xfrm>
              <a:off x="381000" y="2000250"/>
              <a:ext cx="1714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83406" y="2193925"/>
              <a:ext cx="185737" cy="175418"/>
              <a:chOff x="583406" y="2193925"/>
              <a:chExt cx="185737" cy="17541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35000" y="2245518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35000" y="2286793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83406" y="2193925"/>
                <a:ext cx="185737" cy="17541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75418">
                    <a:moveTo>
                      <a:pt x="154781" y="0"/>
                    </a:move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113506"/>
                    </a:lnTo>
                    <a:cubicBezTo>
                      <a:pt x="185737" y="130603"/>
                      <a:pt x="171877" y="144462"/>
                      <a:pt x="154781" y="144462"/>
                    </a:cubicBezTo>
                    <a:lnTo>
                      <a:pt x="103187" y="144462"/>
                    </a:lnTo>
                    <a:lnTo>
                      <a:pt x="51594" y="175418"/>
                    </a:lnTo>
                    <a:lnTo>
                      <a:pt x="51594" y="144462"/>
                    </a:lnTo>
                    <a:lnTo>
                      <a:pt x="30956" y="144462"/>
                    </a:lnTo>
                    <a:cubicBezTo>
                      <a:pt x="13860" y="144462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89254" y="22136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95500" y="20002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60854" y="2194560"/>
              <a:ext cx="2930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SSE 流式对话、AI 建议抽屉带方案快照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1616" y="24774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边看方案边提问，实时增量显示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0" y="2000250"/>
              <a:ext cx="3429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80354" y="2270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边看方案边提问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002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10116" y="2286952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/api/realtime/chat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2705100"/>
            <a:ext cx="11430000" cy="704850"/>
            <a:chOff x="381000" y="2705100"/>
            <a:chExt cx="11430000" cy="704850"/>
          </a:xfrm>
        </p:grpSpPr>
        <p:sp>
          <p:nvSpPr>
            <p:cNvPr id="30" name="Rectangle 30"/>
            <p:cNvSpPr/>
            <p:nvPr/>
          </p:nvSpPr>
          <p:spPr>
            <a:xfrm>
              <a:off x="381000" y="2705100"/>
              <a:ext cx="1714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04044" y="2878137"/>
              <a:ext cx="144462" cy="205581"/>
              <a:chOff x="604044" y="2878137"/>
              <a:chExt cx="144462" cy="20558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" y="2878137"/>
                <a:ext cx="61912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13506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82550"/>
                    </a:lnTo>
                    <a:cubicBezTo>
                      <a:pt x="61912" y="99646"/>
                      <a:pt x="48053" y="113506"/>
                      <a:pt x="30956" y="113506"/>
                    </a:cubicBezTo>
                    <a:cubicBezTo>
                      <a:pt x="13860" y="113506"/>
                      <a:pt x="0" y="99646"/>
                      <a:pt x="0" y="82550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4044" y="2960687"/>
                <a:ext cx="144462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72231">
                    <a:moveTo>
                      <a:pt x="0" y="0"/>
                    </a:moveTo>
                    <a:cubicBezTo>
                      <a:pt x="0" y="39892"/>
                      <a:pt x="32339" y="72231"/>
                      <a:pt x="72231" y="72231"/>
                    </a:cubicBezTo>
                    <a:cubicBezTo>
                      <a:pt x="112123" y="72231"/>
                      <a:pt x="144462" y="39892"/>
                      <a:pt x="144462" y="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35000" y="3074193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6275" y="30329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9254" y="2918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95500" y="2705100"/>
              <a:ext cx="3619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60854" y="28994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麦克风对话、语音需求输入、语音汇报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1616" y="31823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说话排期、路上汇报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0" y="2705100"/>
              <a:ext cx="3429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80354" y="2975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说话排期、路上汇报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2705100"/>
              <a:ext cx="2667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10116" y="299180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/api/realtime/voice-chat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1000" y="3409950"/>
            <a:ext cx="11430000" cy="704850"/>
            <a:chOff x="381000" y="3409950"/>
            <a:chExt cx="11430000" cy="704850"/>
          </a:xfrm>
        </p:grpSpPr>
        <p:sp>
          <p:nvSpPr>
            <p:cNvPr id="45" name="Rectangle 45"/>
            <p:cNvSpPr/>
            <p:nvPr/>
          </p:nvSpPr>
          <p:spPr>
            <a:xfrm>
              <a:off x="381000" y="3409950"/>
              <a:ext cx="1714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3406" y="3603625"/>
              <a:ext cx="185737" cy="165099"/>
              <a:chOff x="583406" y="3603625"/>
              <a:chExt cx="185737" cy="16509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83406" y="3603625"/>
                <a:ext cx="185737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65099">
                    <a:moveTo>
                      <a:pt x="20637" y="30956"/>
                    </a:moveTo>
                    <a:lnTo>
                      <a:pt x="30956" y="30956"/>
                    </a:lnTo>
                    <a:cubicBezTo>
                      <a:pt x="42354" y="30956"/>
                      <a:pt x="51594" y="21716"/>
                      <a:pt x="51594" y="10319"/>
                    </a:cubicBezTo>
                    <a:cubicBezTo>
                      <a:pt x="51594" y="4620"/>
                      <a:pt x="56213" y="0"/>
                      <a:pt x="61912" y="0"/>
                    </a:cubicBezTo>
                    <a:lnTo>
                      <a:pt x="123825" y="0"/>
                    </a:lnTo>
                    <a:cubicBezTo>
                      <a:pt x="129523" y="0"/>
                      <a:pt x="134143" y="4620"/>
                      <a:pt x="134143" y="10319"/>
                    </a:cubicBezTo>
                    <a:cubicBezTo>
                      <a:pt x="134143" y="21716"/>
                      <a:pt x="143383" y="30956"/>
                      <a:pt x="154781" y="30956"/>
                    </a:cubicBezTo>
                    <a:lnTo>
                      <a:pt x="165099" y="30956"/>
                    </a:lnTo>
                    <a:cubicBezTo>
                      <a:pt x="176497" y="30956"/>
                      <a:pt x="185737" y="40196"/>
                      <a:pt x="185737" y="51594"/>
                    </a:cubicBezTo>
                    <a:lnTo>
                      <a:pt x="185737" y="144462"/>
                    </a:lnTo>
                    <a:cubicBezTo>
                      <a:pt x="185737" y="155860"/>
                      <a:pt x="176497" y="165099"/>
                      <a:pt x="165099" y="165099"/>
                    </a:cubicBez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51594"/>
                    </a:lnTo>
                    <a:cubicBezTo>
                      <a:pt x="0" y="40196"/>
                      <a:pt x="9240" y="30956"/>
                      <a:pt x="20637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5318" y="3665537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cubicBezTo>
                      <a:pt x="0" y="48053"/>
                      <a:pt x="13860" y="61912"/>
                      <a:pt x="30956" y="61912"/>
                    </a:cubicBezTo>
                    <a:cubicBezTo>
                      <a:pt x="48053" y="61912"/>
                      <a:pt x="61912" y="48053"/>
                      <a:pt x="61912" y="30956"/>
                    </a:cubicBezTo>
                    <a:cubicBezTo>
                      <a:pt x="61912" y="13860"/>
                      <a:pt x="48053" y="0"/>
                      <a:pt x="30956" y="0"/>
                    </a:cubicBezTo>
                    <a:cubicBezTo>
                      <a:pt x="13860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89254" y="36233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095500" y="34099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60854" y="3604260"/>
              <a:ext cx="300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拍照需求、白板 / 截图 / 扫描 PDF 理解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61616" y="38871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无文字流程图也能理解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0" y="3409950"/>
              <a:ext cx="3429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80354" y="3680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拍照立项、白板进拆解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144000" y="34099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10116" y="36966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/api/analyze-files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4114800"/>
            <a:ext cx="11430000" cy="704850"/>
            <a:chOff x="381000" y="4114800"/>
            <a:chExt cx="11430000" cy="704850"/>
          </a:xfrm>
        </p:grpSpPr>
        <p:sp>
          <p:nvSpPr>
            <p:cNvPr id="58" name="Rectangle 58"/>
            <p:cNvSpPr/>
            <p:nvPr/>
          </p:nvSpPr>
          <p:spPr>
            <a:xfrm>
              <a:off x="381000" y="4114800"/>
              <a:ext cx="1714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83406" y="4329112"/>
              <a:ext cx="185737" cy="123825"/>
              <a:chOff x="583406" y="4329112"/>
              <a:chExt cx="185737" cy="1238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07231" y="4345304"/>
                <a:ext cx="61912" cy="9144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1442">
                    <a:moveTo>
                      <a:pt x="0" y="25083"/>
                    </a:moveTo>
                    <a:lnTo>
                      <a:pt x="46981" y="1598"/>
                    </a:lnTo>
                    <a:cubicBezTo>
                      <a:pt x="50179" y="0"/>
                      <a:pt x="53976" y="171"/>
                      <a:pt x="57017" y="2050"/>
                    </a:cubicBezTo>
                    <a:cubicBezTo>
                      <a:pt x="60058" y="3929"/>
                      <a:pt x="61910" y="7248"/>
                      <a:pt x="61912" y="10823"/>
                    </a:cubicBezTo>
                    <a:lnTo>
                      <a:pt x="61912" y="80619"/>
                    </a:lnTo>
                    <a:cubicBezTo>
                      <a:pt x="61910" y="84194"/>
                      <a:pt x="60058" y="87513"/>
                      <a:pt x="57017" y="89392"/>
                    </a:cubicBezTo>
                    <a:cubicBezTo>
                      <a:pt x="53976" y="91271"/>
                      <a:pt x="50179" y="91442"/>
                      <a:pt x="46981" y="89844"/>
                    </a:cubicBezTo>
                    <a:lnTo>
                      <a:pt x="0" y="66358"/>
                    </a:lnTo>
                    <a:lnTo>
                      <a:pt x="0" y="2508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3406" y="43291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  <a:cubicBezTo>
                      <a:pt x="123825" y="114585"/>
                      <a:pt x="114585" y="123825"/>
                      <a:pt x="103187" y="123825"/>
                    </a:cubicBezTo>
                    <a:lnTo>
                      <a:pt x="20637" y="123825"/>
                    </a:lnTo>
                    <a:cubicBezTo>
                      <a:pt x="9240" y="123825"/>
                      <a:pt x="0" y="114585"/>
                      <a:pt x="0" y="103187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89254" y="43281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095500" y="4114800"/>
              <a:ext cx="3619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260854" y="4309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会议录像边看边听、答辩录像表现观察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261616" y="45920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抽帧 + 抽音频分别理解后合并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15000" y="4114800"/>
              <a:ext cx="3429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80354" y="4385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会议旁听整理任务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44000" y="4114800"/>
              <a:ext cx="2667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10116" y="4401502"/>
              <a:ext cx="1558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/api/realtime/meeting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81000" y="4819650"/>
            <a:ext cx="11430000" cy="704850"/>
            <a:chOff x="381000" y="4819650"/>
            <a:chExt cx="11430000" cy="704850"/>
          </a:xfrm>
        </p:grpSpPr>
        <p:sp>
          <p:nvSpPr>
            <p:cNvPr id="71" name="Rectangle 71"/>
            <p:cNvSpPr/>
            <p:nvPr/>
          </p:nvSpPr>
          <p:spPr>
            <a:xfrm>
              <a:off x="381000" y="4819650"/>
              <a:ext cx="17145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83406" y="5013144"/>
              <a:ext cx="186182" cy="165461"/>
              <a:chOff x="583406" y="5013144"/>
              <a:chExt cx="186182" cy="16546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07231" y="5054600"/>
                <a:ext cx="206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82550">
                    <a:moveTo>
                      <a:pt x="0" y="0"/>
                    </a:moveTo>
                    <a:cubicBezTo>
                      <a:pt x="12992" y="9744"/>
                      <a:pt x="20637" y="25035"/>
                      <a:pt x="20637" y="41275"/>
                    </a:cubicBezTo>
                    <a:cubicBezTo>
                      <a:pt x="20637" y="57514"/>
                      <a:pt x="12992" y="72806"/>
                      <a:pt x="0" y="82550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35091" y="5023644"/>
                <a:ext cx="3449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34497" h="144462">
                    <a:moveTo>
                      <a:pt x="0" y="0"/>
                    </a:moveTo>
                    <a:cubicBezTo>
                      <a:pt x="21818" y="17631"/>
                      <a:pt x="34497" y="44180"/>
                      <a:pt x="34497" y="72231"/>
                    </a:cubicBezTo>
                    <a:cubicBezTo>
                      <a:pt x="34497" y="100282"/>
                      <a:pt x="21818" y="126831"/>
                      <a:pt x="0" y="144462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83406" y="5013144"/>
                <a:ext cx="83231" cy="165461"/>
              </a:xfrm>
              <a:custGeom>
                <a:avLst/>
                <a:gdLst/>
                <a:ahLst/>
                <a:cxnLst/>
                <a:rect l="l" t="t" r="r" b="b"/>
                <a:pathLst>
                  <a:path w="83231" h="165461">
                    <a:moveTo>
                      <a:pt x="30956" y="113687"/>
                    </a:moveTo>
                    <a:lnTo>
                      <a:pt x="10319" y="113687"/>
                    </a:lnTo>
                    <a:cubicBezTo>
                      <a:pt x="4620" y="113687"/>
                      <a:pt x="0" y="109067"/>
                      <a:pt x="0" y="103368"/>
                    </a:cubicBezTo>
                    <a:lnTo>
                      <a:pt x="0" y="62093"/>
                    </a:lnTo>
                    <a:cubicBezTo>
                      <a:pt x="0" y="56394"/>
                      <a:pt x="4620" y="51774"/>
                      <a:pt x="10319" y="51774"/>
                    </a:cubicBezTo>
                    <a:lnTo>
                      <a:pt x="30956" y="51774"/>
                    </a:lnTo>
                    <a:lnTo>
                      <a:pt x="67072" y="5340"/>
                    </a:lnTo>
                    <a:cubicBezTo>
                      <a:pt x="68935" y="1721"/>
                      <a:pt x="73159" y="0"/>
                      <a:pt x="77022" y="1287"/>
                    </a:cubicBezTo>
                    <a:cubicBezTo>
                      <a:pt x="80884" y="2575"/>
                      <a:pt x="83231" y="6486"/>
                      <a:pt x="82550" y="10500"/>
                    </a:cubicBezTo>
                    <a:lnTo>
                      <a:pt x="82550" y="154962"/>
                    </a:lnTo>
                    <a:cubicBezTo>
                      <a:pt x="83231" y="158975"/>
                      <a:pt x="80884" y="162886"/>
                      <a:pt x="77022" y="164174"/>
                    </a:cubicBezTo>
                    <a:cubicBezTo>
                      <a:pt x="73159" y="165461"/>
                      <a:pt x="68935" y="163741"/>
                      <a:pt x="67072" y="160121"/>
                    </a:cubicBezTo>
                    <a:lnTo>
                      <a:pt x="30956" y="113687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889254" y="503301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095500" y="4819650"/>
              <a:ext cx="36195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260854" y="50139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语音回复开关与重听、今日播报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261616" y="5296852"/>
              <a:ext cx="154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云端 TTS 朗读今日待办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715000" y="4819650"/>
              <a:ext cx="3429000" cy="7048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80354" y="5090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今日待办播报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144000" y="4819650"/>
              <a:ext cx="2667000" cy="704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310116" y="510635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/api/realtime/tts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381000" y="5772150"/>
            <a:ext cx="11430000" cy="495300"/>
            <a:chOff x="381000" y="5772150"/>
            <a:chExt cx="11430000" cy="495300"/>
          </a:xfrm>
        </p:grpSpPr>
        <p:sp>
          <p:nvSpPr>
            <p:cNvPr id="85" name="Rectangle 85"/>
            <p:cNvSpPr/>
            <p:nvPr/>
          </p:nvSpPr>
          <p:spPr>
            <a:xfrm>
              <a:off x="381000" y="5772150"/>
              <a:ext cx="11430000" cy="495300"/>
            </a:xfrm>
            <a:prstGeom prst="roundRect">
              <a:avLst>
                <a:gd name="adj" fmla="val 769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92150" y="5975350"/>
              <a:ext cx="187326" cy="88900"/>
              <a:chOff x="692150" y="5975350"/>
              <a:chExt cx="187326" cy="889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92150" y="603091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81050" y="597535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69951" y="59753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92150" y="597535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1654" y="596646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每种模态都有对应接口与真实协作动作，全模态能力落进工作流而非停留在演示。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93" name="TextBox 9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5668861" cy="1015365"/>
            <a:chOff x="747522" y="1851660"/>
            <a:chExt cx="5668861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04 / 创新点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四个创新点，回答四个关键问题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54380" y="3609975"/>
            <a:ext cx="4750365" cy="1893570"/>
            <a:chOff x="754380" y="3609975"/>
            <a:chExt cx="4750365" cy="1893570"/>
          </a:xfrm>
        </p:grpSpPr>
        <p:sp>
          <p:nvSpPr>
            <p:cNvPr id="7" name="TextBox 7"/>
            <p:cNvSpPr txBox="1"/>
            <p:nvPr/>
          </p:nvSpPr>
          <p:spPr>
            <a:xfrm>
              <a:off x="754380" y="3609975"/>
              <a:ext cx="4312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全模态从“聊天”进入真实协作流程（P19）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4143375"/>
              <a:ext cx="4355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LLM 创造 × 算法正确的确定性保证（P20）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676775"/>
              <a:ext cx="40782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完整协作闭环与全环节故障兜底（P21）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5210175"/>
              <a:ext cx="4750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昇腾本地 + 云端双后端统一适配与合规（P22）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P18–P22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18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创新点一：把多模态模型变成协作流程的入口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81000" y="1619250"/>
            <a:ext cx="3429000" cy="4191000"/>
            <a:chOff x="381000" y="1619250"/>
            <a:chExt cx="3429000" cy="41910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56882" y="19129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rgbClr val="64748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5568" y="1936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传统用法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2554" y="2594610"/>
              <a:ext cx="2904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多模态能力作为“聊天机器人”附加功能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2554" y="3013710"/>
              <a:ext cx="2241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单点问答、单点 OCR / 转写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2554" y="343281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结果停留在对话框，不进入业务流程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64369" y="4036219"/>
              <a:ext cx="214312" cy="214312"/>
              <a:chOff x="664369" y="4036219"/>
              <a:chExt cx="214312" cy="2143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64369" y="40362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1525" y="40957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1525" y="4191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22604" y="4099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模型再强，也改变不了协作流程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191000" y="1619250"/>
            <a:ext cx="3810000" cy="2000250"/>
            <a:chOff x="4191000" y="1619250"/>
            <a:chExt cx="38100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4191000" y="161925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481512" y="1905000"/>
              <a:ext cx="257175" cy="228600"/>
              <a:chOff x="4481512" y="1905000"/>
              <a:chExt cx="257175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481512" y="1905000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28575" y="42862"/>
                    </a:moveTo>
                    <a:lnTo>
                      <a:pt x="42862" y="42862"/>
                    </a:lnTo>
                    <a:cubicBezTo>
                      <a:pt x="58644" y="42862"/>
                      <a:pt x="71438" y="30069"/>
                      <a:pt x="71438" y="14288"/>
                    </a:cubicBezTo>
                    <a:cubicBezTo>
                      <a:pt x="71438" y="6397"/>
                      <a:pt x="77834" y="0"/>
                      <a:pt x="85725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ubicBezTo>
                      <a:pt x="185738" y="30069"/>
                      <a:pt x="198531" y="42862"/>
                      <a:pt x="214312" y="42862"/>
                    </a:cubicBezTo>
                    <a:lnTo>
                      <a:pt x="228600" y="42862"/>
                    </a:lnTo>
                    <a:cubicBezTo>
                      <a:pt x="244382" y="42862"/>
                      <a:pt x="257175" y="55656"/>
                      <a:pt x="257175" y="71438"/>
                    </a:cubicBezTo>
                    <a:lnTo>
                      <a:pt x="257175" y="200025"/>
                    </a:lnTo>
                    <a:cubicBezTo>
                      <a:pt x="257175" y="215807"/>
                      <a:pt x="244382" y="228600"/>
                      <a:pt x="228600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71438"/>
                    </a:lnTo>
                    <a:cubicBezTo>
                      <a:pt x="0" y="55656"/>
                      <a:pt x="12793" y="42862"/>
                      <a:pt x="28575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567238" y="19907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926330" y="1933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拍照立项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32554" y="2404110"/>
              <a:ext cx="26258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白板、截图、手绘直接进文件分析，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无文字流程图也能理解（不止 OCR）。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33316" y="3163252"/>
              <a:ext cx="1268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/api/analyze-files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619250"/>
            <a:ext cx="3810000" cy="2000250"/>
            <a:chOff x="8191500" y="1619250"/>
            <a:chExt cx="3810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8191500" y="161925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510588" y="1876425"/>
              <a:ext cx="200025" cy="280988"/>
              <a:chOff x="8510588" y="1876425"/>
              <a:chExt cx="200025" cy="2809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567738" y="18764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510588" y="19907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53450" y="21478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610600" y="2090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926830" y="1933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说话排期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33054" y="24041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录音进需求材料或直接对话；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33054" y="268986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会议录音 / 录像边看边听整理任务。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3816" y="3163252"/>
              <a:ext cx="1763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/api/realtime/voice-chat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191000" y="3810000"/>
            <a:ext cx="3810000" cy="2000250"/>
            <a:chOff x="4191000" y="3810000"/>
            <a:chExt cx="3810000" cy="2000250"/>
          </a:xfrm>
        </p:grpSpPr>
        <p:sp>
          <p:nvSpPr>
            <p:cNvPr id="38" name="Rectangle 38"/>
            <p:cNvSpPr/>
            <p:nvPr/>
          </p:nvSpPr>
          <p:spPr>
            <a:xfrm>
              <a:off x="4191000" y="381000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4481512" y="4124325"/>
              <a:ext cx="257175" cy="171450"/>
              <a:chOff x="4481512" y="4124325"/>
              <a:chExt cx="257175" cy="1714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652962" y="4146744"/>
                <a:ext cx="85725" cy="12661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6612">
                    <a:moveTo>
                      <a:pt x="0" y="34731"/>
                    </a:moveTo>
                    <a:lnTo>
                      <a:pt x="65051" y="2213"/>
                    </a:lnTo>
                    <a:cubicBezTo>
                      <a:pt x="69479" y="0"/>
                      <a:pt x="74736" y="237"/>
                      <a:pt x="78947" y="2838"/>
                    </a:cubicBezTo>
                    <a:cubicBezTo>
                      <a:pt x="83158" y="5440"/>
                      <a:pt x="85722" y="10036"/>
                      <a:pt x="85725" y="14986"/>
                    </a:cubicBezTo>
                    <a:lnTo>
                      <a:pt x="85725" y="111626"/>
                    </a:lnTo>
                    <a:cubicBezTo>
                      <a:pt x="85722" y="116576"/>
                      <a:pt x="83158" y="121172"/>
                      <a:pt x="78947" y="123773"/>
                    </a:cubicBezTo>
                    <a:cubicBezTo>
                      <a:pt x="74736" y="126375"/>
                      <a:pt x="69479" y="126612"/>
                      <a:pt x="65051" y="124399"/>
                    </a:cubicBezTo>
                    <a:lnTo>
                      <a:pt x="0" y="91881"/>
                    </a:lnTo>
                    <a:lnTo>
                      <a:pt x="0" y="34731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481512" y="4124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926330" y="4124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答辩直连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32554" y="45948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评委语音 / 视频点评追问；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32554" y="48806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答辩录像附逐帧表现观察。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33316" y="5354002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/api/realtime/interview-turn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91500" y="3810000"/>
            <a:ext cx="3810000" cy="2000250"/>
            <a:chOff x="8191500" y="3810000"/>
            <a:chExt cx="3810000" cy="2000250"/>
          </a:xfrm>
        </p:grpSpPr>
        <p:sp>
          <p:nvSpPr>
            <p:cNvPr id="47" name="Rectangle 47"/>
            <p:cNvSpPr/>
            <p:nvPr/>
          </p:nvSpPr>
          <p:spPr>
            <a:xfrm>
              <a:off x="8191500" y="3810000"/>
              <a:ext cx="3810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8482012" y="4095500"/>
              <a:ext cx="257792" cy="229101"/>
              <a:chOff x="8482012" y="4095500"/>
              <a:chExt cx="257792" cy="22910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653462" y="4152900"/>
                <a:ext cx="285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14300">
                    <a:moveTo>
                      <a:pt x="0" y="0"/>
                    </a:moveTo>
                    <a:cubicBezTo>
                      <a:pt x="17988" y="13491"/>
                      <a:pt x="28575" y="34665"/>
                      <a:pt x="28575" y="57150"/>
                    </a:cubicBezTo>
                    <a:cubicBezTo>
                      <a:pt x="28575" y="79635"/>
                      <a:pt x="17988" y="100809"/>
                      <a:pt x="0" y="11430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692039" y="4110038"/>
                <a:ext cx="4776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47765" h="200025">
                    <a:moveTo>
                      <a:pt x="0" y="0"/>
                    </a:moveTo>
                    <a:cubicBezTo>
                      <a:pt x="30209" y="24413"/>
                      <a:pt x="47765" y="61172"/>
                      <a:pt x="47765" y="100012"/>
                    </a:cubicBezTo>
                    <a:cubicBezTo>
                      <a:pt x="47765" y="138853"/>
                      <a:pt x="30209" y="175612"/>
                      <a:pt x="0" y="2000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482012" y="4095500"/>
                <a:ext cx="115243" cy="229101"/>
              </a:xfrm>
              <a:custGeom>
                <a:avLst/>
                <a:gdLst/>
                <a:ahLst/>
                <a:cxnLst/>
                <a:rect l="l" t="t" r="r" b="b"/>
                <a:pathLst>
                  <a:path w="115243" h="229101">
                    <a:moveTo>
                      <a:pt x="42862" y="157413"/>
                    </a:moveTo>
                    <a:lnTo>
                      <a:pt x="14288" y="157413"/>
                    </a:lnTo>
                    <a:cubicBezTo>
                      <a:pt x="6397" y="157413"/>
                      <a:pt x="0" y="151016"/>
                      <a:pt x="0" y="143125"/>
                    </a:cubicBezTo>
                    <a:lnTo>
                      <a:pt x="0" y="85975"/>
                    </a:lnTo>
                    <a:cubicBezTo>
                      <a:pt x="0" y="78085"/>
                      <a:pt x="6397" y="71688"/>
                      <a:pt x="14288" y="71688"/>
                    </a:cubicBezTo>
                    <a:lnTo>
                      <a:pt x="42862" y="71688"/>
                    </a:lnTo>
                    <a:lnTo>
                      <a:pt x="92869" y="7394"/>
                    </a:lnTo>
                    <a:cubicBezTo>
                      <a:pt x="95449" y="2382"/>
                      <a:pt x="101298" y="0"/>
                      <a:pt x="106646" y="1783"/>
                    </a:cubicBezTo>
                    <a:cubicBezTo>
                      <a:pt x="111993" y="3565"/>
                      <a:pt x="115243" y="8980"/>
                      <a:pt x="114300" y="14538"/>
                    </a:cubicBezTo>
                    <a:lnTo>
                      <a:pt x="114300" y="214563"/>
                    </a:lnTo>
                    <a:cubicBezTo>
                      <a:pt x="115243" y="220120"/>
                      <a:pt x="111993" y="225536"/>
                      <a:pt x="106646" y="227318"/>
                    </a:cubicBezTo>
                    <a:cubicBezTo>
                      <a:pt x="101298" y="229101"/>
                      <a:pt x="95449" y="226718"/>
                      <a:pt x="92869" y="221707"/>
                    </a:cubicBezTo>
                    <a:lnTo>
                      <a:pt x="42862" y="15741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926830" y="41243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语音回复与今日播报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3054" y="4594860"/>
              <a:ext cx="2068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把计划“说”给成员听；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3054" y="48806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今日待办自动播报。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3816" y="535400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/api/realtime/tts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7" name="TextBox 57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创新点二：确定性正确性保证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5334000" cy="3143250"/>
            <a:chOff x="381000" y="1619250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334000" cy="3143250"/>
            </a:xfrm>
            <a:prstGeom prst="roundRect">
              <a:avLst>
                <a:gd name="adj" fmla="val 121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33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31044" y="2003425"/>
              <a:ext cx="256381" cy="241299"/>
            </a:xfrm>
            <a:custGeom>
              <a:avLst/>
              <a:gdLst/>
              <a:ahLst/>
              <a:cxnLst/>
              <a:rect l="l" t="t" r="r" b="b"/>
              <a:pathLst>
                <a:path w="256381" h="241299">
                  <a:moveTo>
                    <a:pt x="196056" y="211137"/>
                  </a:moveTo>
                  <a:cubicBezTo>
                    <a:pt x="212714" y="211137"/>
                    <a:pt x="226218" y="224641"/>
                    <a:pt x="226218" y="241299"/>
                  </a:cubicBezTo>
                  <a:cubicBezTo>
                    <a:pt x="226218" y="224641"/>
                    <a:pt x="239722" y="211137"/>
                    <a:pt x="256381" y="211137"/>
                  </a:cubicBezTo>
                  <a:cubicBezTo>
                    <a:pt x="239722" y="211137"/>
                    <a:pt x="226218" y="197633"/>
                    <a:pt x="226218" y="180975"/>
                  </a:cubicBezTo>
                  <a:cubicBezTo>
                    <a:pt x="226218" y="197633"/>
                    <a:pt x="212714" y="211137"/>
                    <a:pt x="196056" y="211137"/>
                  </a:cubicBezTo>
                  <a:moveTo>
                    <a:pt x="196056" y="30162"/>
                  </a:moveTo>
                  <a:cubicBezTo>
                    <a:pt x="212714" y="30162"/>
                    <a:pt x="226218" y="43667"/>
                    <a:pt x="226218" y="60325"/>
                  </a:cubicBezTo>
                  <a:cubicBezTo>
                    <a:pt x="226218" y="43667"/>
                    <a:pt x="239722" y="30162"/>
                    <a:pt x="256381" y="30162"/>
                  </a:cubicBezTo>
                  <a:cubicBezTo>
                    <a:pt x="239722" y="30162"/>
                    <a:pt x="226218" y="16658"/>
                    <a:pt x="226218" y="0"/>
                  </a:cubicBezTo>
                  <a:cubicBezTo>
                    <a:pt x="226218" y="16658"/>
                    <a:pt x="212714" y="30162"/>
                    <a:pt x="196056" y="30162"/>
                  </a:cubicBezTo>
                  <a:moveTo>
                    <a:pt x="90487" y="211137"/>
                  </a:moveTo>
                  <a:cubicBezTo>
                    <a:pt x="90487" y="161162"/>
                    <a:pt x="131000" y="120650"/>
                    <a:pt x="180975" y="120650"/>
                  </a:cubicBezTo>
                  <a:cubicBezTo>
                    <a:pt x="131000" y="120650"/>
                    <a:pt x="90487" y="80137"/>
                    <a:pt x="90487" y="30162"/>
                  </a:cubicBezTo>
                  <a:cubicBezTo>
                    <a:pt x="90487" y="80137"/>
                    <a:pt x="49975" y="120650"/>
                    <a:pt x="0" y="120650"/>
                  </a:cubicBezTo>
                  <a:cubicBezTo>
                    <a:pt x="49975" y="120650"/>
                    <a:pt x="90487" y="161162"/>
                    <a:pt x="90487" y="211137"/>
                  </a:cubicBezTo>
                </a:path>
              </a:pathLst>
            </a:custGeom>
            <a:noFill/>
            <a:ln w="30162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0056" y="2015490"/>
              <a:ext cx="1671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负责创造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2689860"/>
              <a:ext cx="2872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任务拆解（LLM + 知识库工时校准）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9704" y="3032760"/>
              <a:ext cx="1595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工时建议、报告表达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704" y="3375660"/>
              <a:ext cx="2416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批判性审查建议（Reflection）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3985260"/>
              <a:ext cx="3297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负责“想得开”：理解需求、生成弹性方案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77000" y="1619250"/>
            <a:ext cx="5334000" cy="3143250"/>
            <a:chOff x="6477000" y="1619250"/>
            <a:chExt cx="5334000" cy="3143250"/>
          </a:xfrm>
        </p:grpSpPr>
        <p:sp>
          <p:nvSpPr>
            <p:cNvPr id="16" name="Rectangle 16"/>
            <p:cNvSpPr/>
            <p:nvPr/>
          </p:nvSpPr>
          <p:spPr>
            <a:xfrm>
              <a:off x="6477000" y="1619250"/>
              <a:ext cx="5334000" cy="3143250"/>
            </a:xfrm>
            <a:prstGeom prst="roundRect">
              <a:avLst>
                <a:gd name="adj" fmla="val 1212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7000" y="1619250"/>
              <a:ext cx="5334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842125" y="2003425"/>
              <a:ext cx="241299" cy="241300"/>
              <a:chOff x="6842125" y="2003425"/>
              <a:chExt cx="241299" cy="2413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42125" y="206375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72287" y="2003425"/>
                <a:ext cx="95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0325">
                    <a:moveTo>
                      <a:pt x="0" y="0"/>
                    </a:moveTo>
                    <a:lnTo>
                      <a:pt x="0" y="60325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72287" y="2124075"/>
                <a:ext cx="952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0650">
                    <a:moveTo>
                      <a:pt x="0" y="0"/>
                    </a:moveTo>
                    <a:lnTo>
                      <a:pt x="0" y="12065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932612" y="2154237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962775" y="2003425"/>
                <a:ext cx="9525" cy="150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2">
                    <a:moveTo>
                      <a:pt x="0" y="0"/>
                    </a:moveTo>
                    <a:lnTo>
                      <a:pt x="0" y="15081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62775" y="2214562"/>
                <a:ext cx="9525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162">
                    <a:moveTo>
                      <a:pt x="0" y="0"/>
                    </a:moveTo>
                    <a:lnTo>
                      <a:pt x="0" y="30162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23099" y="2018506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53262" y="2003425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0"/>
                    </a:move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53262" y="2078831"/>
                <a:ext cx="9525" cy="16589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893">
                    <a:moveTo>
                      <a:pt x="0" y="0"/>
                    </a:moveTo>
                    <a:lnTo>
                      <a:pt x="0" y="165893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306056" y="20154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确定性算法负责正确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5704" y="2689860"/>
              <a:ext cx="2044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CPM 关键路径与浮动计算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5704" y="30327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技能匹配评分、负载均衡、依赖校验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5704" y="3375660"/>
              <a:ext cx="2726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日期约束：跳过周末与成员不可用日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5704" y="3985260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算法负责“算得准”：结果可复现、不受模型波动影响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0" y="2762250"/>
            <a:ext cx="762000" cy="857250"/>
            <a:chOff x="5715000" y="2762250"/>
            <a:chExt cx="762000" cy="857250"/>
          </a:xfrm>
        </p:grpSpPr>
        <p:sp>
          <p:nvSpPr>
            <p:cNvPr id="34" name="Rectangle 34"/>
            <p:cNvSpPr/>
            <p:nvPr/>
          </p:nvSpPr>
          <p:spPr>
            <a:xfrm>
              <a:off x="5715000" y="2762250"/>
              <a:ext cx="762000" cy="857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0283" y="30613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49315" y="3315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明确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1000" y="5048250"/>
            <a:ext cx="11430000" cy="762000"/>
            <a:chOff x="381000" y="5048250"/>
            <a:chExt cx="11430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381000" y="5048250"/>
              <a:ext cx="11430000" cy="762000"/>
            </a:xfrm>
            <a:prstGeom prst="roundRect">
              <a:avLst>
                <a:gd name="adj" fmla="val 5000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5800" y="5257800"/>
              <a:ext cx="228599" cy="228600"/>
              <a:chOff x="685800" y="5257800"/>
              <a:chExt cx="228599" cy="228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85800" y="525780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1215" y="530860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0890" y="543559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117854" y="52616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为什么这样设计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604" y="5547360"/>
              <a:ext cx="7582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计划结果直接影响团队执行，不能依赖模型输出的偶然正确；AI 负责“想得开”，算法负责“算得准”。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1038" y="6034088"/>
            <a:ext cx="5937237" cy="281368"/>
            <a:chOff x="681038" y="6034088"/>
            <a:chExt cx="5937237" cy="281368"/>
          </a:xfrm>
        </p:grpSpPr>
        <p:grpSp>
          <p:nvGrpSpPr>
            <p:cNvPr id="52" name="Group 52"/>
            <p:cNvGrpSpPr/>
            <p:nvPr/>
          </p:nvGrpSpPr>
          <p:grpSpPr>
            <a:xfrm>
              <a:off x="681038" y="6034088"/>
              <a:ext cx="200026" cy="200026"/>
              <a:chOff x="681038" y="603408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6600" y="608965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1038" y="6034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4388" y="61674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10486" y="6167438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10486" y="60635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0" y="0"/>
                    </a:moveTo>
                    <a:lnTo>
                      <a:pt x="37227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4388" y="6063536"/>
                <a:ext cx="37227" cy="37227"/>
              </a:xfrm>
              <a:custGeom>
                <a:avLst/>
                <a:gdLst/>
                <a:ahLst/>
                <a:cxnLst/>
                <a:rect l="l" t="t" r="r" b="b"/>
                <a:pathLst>
                  <a:path w="37227" h="37227">
                    <a:moveTo>
                      <a:pt x="37227" y="0"/>
                    </a:moveTo>
                    <a:lnTo>
                      <a:pt x="0" y="37227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654" y="6080760"/>
              <a:ext cx="5576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兜底：任何 LLM 环节失败 → 确定性规则兜底；演示不依赖模型持续在线。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842368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创新点三：完整协作闭环，任何环节失败都有兜底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81000" y="1695450"/>
            <a:ext cx="2571750" cy="1104900"/>
            <a:chOff x="381000" y="1695450"/>
            <a:chExt cx="2571750" cy="1104900"/>
          </a:xfrm>
        </p:grpSpPr>
        <p:sp>
          <p:nvSpPr>
            <p:cNvPr id="7" name="Rectangle 7"/>
            <p:cNvSpPr/>
            <p:nvPr/>
          </p:nvSpPr>
          <p:spPr>
            <a:xfrm>
              <a:off x="381000" y="1695450"/>
              <a:ext cx="2571750" cy="1104900"/>
            </a:xfrm>
            <a:prstGeom prst="roundRect">
              <a:avLst>
                <a:gd name="adj" fmla="val 25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69131" y="1902619"/>
              <a:ext cx="166688" cy="214312"/>
              <a:chOff x="669131" y="1902619"/>
              <a:chExt cx="166688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69131" y="1926431"/>
                <a:ext cx="16668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90500">
                    <a:moveTo>
                      <a:pt x="47625" y="0"/>
                    </a:moveTo>
                    <a:lnTo>
                      <a:pt x="23812" y="0"/>
                    </a:lnTo>
                    <a:cubicBezTo>
                      <a:pt x="10661" y="0"/>
                      <a:pt x="0" y="10661"/>
                      <a:pt x="0" y="23812"/>
                    </a:cubicBezTo>
                    <a:lnTo>
                      <a:pt x="0" y="166688"/>
                    </a:lnTo>
                    <a:cubicBezTo>
                      <a:pt x="0" y="179839"/>
                      <a:pt x="10661" y="190500"/>
                      <a:pt x="23812" y="190500"/>
                    </a:cubicBezTo>
                    <a:lnTo>
                      <a:pt x="142875" y="190500"/>
                    </a:lnTo>
                    <a:cubicBezTo>
                      <a:pt x="156026" y="190500"/>
                      <a:pt x="166688" y="179839"/>
                      <a:pt x="166688" y="166688"/>
                    </a:cubicBezTo>
                    <a:lnTo>
                      <a:pt x="166688" y="23812"/>
                    </a:lnTo>
                    <a:cubicBezTo>
                      <a:pt x="166688" y="10661"/>
                      <a:pt x="156026" y="0"/>
                      <a:pt x="142875" y="0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16756" y="1902619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47625" y="0"/>
                    </a:lnTo>
                    <a:cubicBezTo>
                      <a:pt x="60776" y="0"/>
                      <a:pt x="71438" y="10661"/>
                      <a:pt x="71438" y="23812"/>
                    </a:cubicBezTo>
                    <a:cubicBezTo>
                      <a:pt x="71438" y="36964"/>
                      <a:pt x="60776" y="47625"/>
                      <a:pt x="47625" y="47625"/>
                    </a:cubicBezTo>
                    <a:lnTo>
                      <a:pt x="23812" y="47625"/>
                    </a:lnTo>
                    <a:cubicBezTo>
                      <a:pt x="10661" y="47625"/>
                      <a:pt x="0" y="36964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6756" y="200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64381" y="20097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16756" y="2057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64381" y="205740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8374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计划生成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4266" y="23060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· 排期 · 分工 · 报告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4266" y="2534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确认后进入执行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52750" y="2333625"/>
            <a:ext cx="228600" cy="1"/>
            <a:chOff x="2952750" y="2333625"/>
            <a:chExt cx="228600" cy="1"/>
          </a:xfrm>
        </p:grpSpPr>
        <p:sp>
          <p:nvSpPr>
            <p:cNvPr id="19" name="Line 19"/>
            <p:cNvSpPr/>
            <p:nvPr/>
          </p:nvSpPr>
          <p:spPr>
            <a:xfrm>
              <a:off x="2952750" y="2333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219450" y="1695450"/>
            <a:ext cx="2571750" cy="1104900"/>
            <a:chOff x="3219450" y="1695450"/>
            <a:chExt cx="2571750" cy="1104900"/>
          </a:xfrm>
        </p:grpSpPr>
        <p:sp>
          <p:nvSpPr>
            <p:cNvPr id="21" name="Rectangle 21"/>
            <p:cNvSpPr/>
            <p:nvPr/>
          </p:nvSpPr>
          <p:spPr>
            <a:xfrm>
              <a:off x="3219450" y="1695450"/>
              <a:ext cx="2571750" cy="1104900"/>
            </a:xfrm>
            <a:prstGeom prst="roundRect">
              <a:avLst>
                <a:gd name="adj" fmla="val 25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83769" y="1902619"/>
              <a:ext cx="214312" cy="214313"/>
              <a:chOff x="3483769" y="1902619"/>
              <a:chExt cx="214312" cy="21431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507581" y="19026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83769" y="20454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638550" y="19041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62362" y="20472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82219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42716" y="23060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按分工推进任务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42716" y="2534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状态随时更新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91200" y="2333625"/>
            <a:ext cx="228600" cy="1"/>
            <a:chOff x="5791200" y="2333625"/>
            <a:chExt cx="228600" cy="1"/>
          </a:xfrm>
        </p:grpSpPr>
        <p:sp>
          <p:nvSpPr>
            <p:cNvPr id="31" name="Line 31"/>
            <p:cNvSpPr/>
            <p:nvPr/>
          </p:nvSpPr>
          <p:spPr>
            <a:xfrm>
              <a:off x="5791200" y="2333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57900" y="1695450"/>
            <a:ext cx="2571750" cy="1104900"/>
            <a:chOff x="6057900" y="1695450"/>
            <a:chExt cx="2571750" cy="1104900"/>
          </a:xfrm>
        </p:grpSpPr>
        <p:sp>
          <p:nvSpPr>
            <p:cNvPr id="33" name="Rectangle 33"/>
            <p:cNvSpPr/>
            <p:nvPr/>
          </p:nvSpPr>
          <p:spPr>
            <a:xfrm>
              <a:off x="6057900" y="1695450"/>
              <a:ext cx="2571750" cy="1104900"/>
            </a:xfrm>
            <a:prstGeom prst="roundRect">
              <a:avLst>
                <a:gd name="adj" fmla="val 25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328172" y="1920478"/>
              <a:ext cx="196453" cy="172641"/>
              <a:chOff x="6328172" y="1920478"/>
              <a:chExt cx="196453" cy="17264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28172" y="192047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28172" y="199191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28172" y="206335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17469" y="193833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17469" y="200977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17469" y="208121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66064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汇报反馈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1166" y="23060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 / 照片 / 文本汇报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81166" y="2534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负责人确认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29650" y="2333625"/>
            <a:ext cx="228600" cy="1"/>
            <a:chOff x="8629650" y="2333625"/>
            <a:chExt cx="228600" cy="1"/>
          </a:xfrm>
        </p:grpSpPr>
        <p:sp>
          <p:nvSpPr>
            <p:cNvPr id="45" name="Line 45"/>
            <p:cNvSpPr/>
            <p:nvPr/>
          </p:nvSpPr>
          <p:spPr>
            <a:xfrm>
              <a:off x="8629650" y="2333625"/>
              <a:ext cx="228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8896350" y="1695450"/>
            <a:ext cx="2914650" cy="1104900"/>
            <a:chOff x="8896350" y="1695450"/>
            <a:chExt cx="2914650" cy="1104900"/>
          </a:xfrm>
        </p:grpSpPr>
        <p:sp>
          <p:nvSpPr>
            <p:cNvPr id="47" name="Rectangle 47"/>
            <p:cNvSpPr/>
            <p:nvPr/>
          </p:nvSpPr>
          <p:spPr>
            <a:xfrm>
              <a:off x="8896350" y="1695450"/>
              <a:ext cx="2914650" cy="1104900"/>
            </a:xfrm>
            <a:prstGeom prst="roundRect">
              <a:avLst>
                <a:gd name="adj" fmla="val 2586"/>
              </a:avLst>
            </a:prstGeom>
            <a:solidFill>
              <a:srgbClr val="F0F6FC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156848" y="1902619"/>
              <a:ext cx="218133" cy="218133"/>
              <a:chOff x="9156848" y="1902619"/>
              <a:chExt cx="218133" cy="21813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244012" y="1902619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0" y="130969"/>
                    </a:moveTo>
                    <a:lnTo>
                      <a:pt x="130969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156848" y="1902619"/>
                <a:ext cx="218133" cy="218133"/>
              </a:xfrm>
              <a:custGeom>
                <a:avLst/>
                <a:gdLst/>
                <a:ahLst/>
                <a:cxnLst/>
                <a:rect l="l" t="t" r="r" b="b"/>
                <a:pathLst>
                  <a:path w="218133" h="218133">
                    <a:moveTo>
                      <a:pt x="218133" y="0"/>
                    </a:moveTo>
                    <a:lnTo>
                      <a:pt x="140742" y="214312"/>
                    </a:lnTo>
                    <a:cubicBezTo>
                      <a:pt x="139675" y="216640"/>
                      <a:pt x="137350" y="218133"/>
                      <a:pt x="134789" y="218133"/>
                    </a:cubicBezTo>
                    <a:cubicBezTo>
                      <a:pt x="132228" y="218133"/>
                      <a:pt x="129903" y="216640"/>
                      <a:pt x="128836" y="214312"/>
                    </a:cubicBezTo>
                    <a:lnTo>
                      <a:pt x="87164" y="130969"/>
                    </a:lnTo>
                    <a:lnTo>
                      <a:pt x="3820" y="89297"/>
                    </a:lnTo>
                    <a:cubicBezTo>
                      <a:pt x="1493" y="88230"/>
                      <a:pt x="0" y="85904"/>
                      <a:pt x="0" y="83344"/>
                    </a:cubicBezTo>
                    <a:cubicBezTo>
                      <a:pt x="0" y="80783"/>
                      <a:pt x="1493" y="78457"/>
                      <a:pt x="3820" y="77391"/>
                    </a:cubicBezTo>
                    <a:lnTo>
                      <a:pt x="218133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499092" y="1930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通知触达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19616" y="2306002"/>
              <a:ext cx="1057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Webhook 群通知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19616" y="2534602"/>
              <a:ext cx="115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今日播报（TTS）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2800350"/>
            <a:ext cx="11049000" cy="323850"/>
            <a:chOff x="762000" y="2800350"/>
            <a:chExt cx="11049000" cy="323850"/>
          </a:xfrm>
        </p:grpSpPr>
        <p:sp>
          <p:nvSpPr>
            <p:cNvPr id="55" name="Freeform 55"/>
            <p:cNvSpPr/>
            <p:nvPr/>
          </p:nvSpPr>
          <p:spPr>
            <a:xfrm>
              <a:off x="762000" y="28003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11049000" y="0"/>
                  </a:moveTo>
                  <a:cubicBezTo>
                    <a:pt x="11049000" y="323850"/>
                    <a:pt x="0" y="32385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373380" y="3495675"/>
            <a:ext cx="1711452" cy="293370"/>
            <a:chOff x="373380" y="3495675"/>
            <a:chExt cx="1711452" cy="293370"/>
          </a:xfrm>
        </p:grpSpPr>
        <p:sp>
          <p:nvSpPr>
            <p:cNvPr id="57" name="TextBox 57"/>
            <p:cNvSpPr txBox="1"/>
            <p:nvPr/>
          </p:nvSpPr>
          <p:spPr>
            <a:xfrm>
              <a:off x="373380" y="34956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全环节确定性兜底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81000" y="3790950"/>
            <a:ext cx="2724150" cy="2000250"/>
            <a:chOff x="381000" y="3790950"/>
            <a:chExt cx="2724150" cy="2000250"/>
          </a:xfrm>
        </p:grpSpPr>
        <p:sp>
          <p:nvSpPr>
            <p:cNvPr id="59" name="Rectangle 59"/>
            <p:cNvSpPr/>
            <p:nvPr/>
          </p:nvSpPr>
          <p:spPr>
            <a:xfrm>
              <a:off x="381000" y="3790950"/>
              <a:ext cx="27241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73100" y="4057650"/>
              <a:ext cx="177800" cy="228599"/>
              <a:chOff x="673100" y="4057650"/>
              <a:chExt cx="177800" cy="22859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73100" y="4083050"/>
                <a:ext cx="1778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199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199"/>
                      <a:pt x="25400" y="203199"/>
                    </a:cubicBezTo>
                    <a:lnTo>
                      <a:pt x="152400" y="203199"/>
                    </a:lnTo>
                    <a:cubicBezTo>
                      <a:pt x="166428" y="203199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3900" y="40576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3900" y="4171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4700" y="41719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3900" y="42227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4700" y="4222749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0274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拆解兜底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3885" y="4831556"/>
              <a:ext cx="17609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拆解失败 → 确定性拆解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（弹性子任务规则）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4266" y="53349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结果可复现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295650" y="3790950"/>
            <a:ext cx="2724150" cy="2000250"/>
            <a:chOff x="3295650" y="3790950"/>
            <a:chExt cx="2724150" cy="2000250"/>
          </a:xfrm>
        </p:grpSpPr>
        <p:sp>
          <p:nvSpPr>
            <p:cNvPr id="71" name="Rectangle 71"/>
            <p:cNvSpPr/>
            <p:nvPr/>
          </p:nvSpPr>
          <p:spPr>
            <a:xfrm>
              <a:off x="3295650" y="3790950"/>
              <a:ext cx="27241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3562350" y="4057650"/>
              <a:ext cx="228599" cy="228600"/>
              <a:chOff x="3562350" y="4057650"/>
              <a:chExt cx="228599" cy="2286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3587750" y="40576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3562350" y="42100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3727449" y="40593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752849" y="42119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351739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分工兜底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518535" y="48315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分工失败 → 规则分工与评分兜底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518916" y="5334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匹配度可解释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210300" y="3790950"/>
            <a:ext cx="2724150" cy="2000250"/>
            <a:chOff x="6210300" y="3790950"/>
            <a:chExt cx="2724150" cy="2000250"/>
          </a:xfrm>
        </p:grpSpPr>
        <p:sp>
          <p:nvSpPr>
            <p:cNvPr id="81" name="Rectangle 81"/>
            <p:cNvSpPr/>
            <p:nvPr/>
          </p:nvSpPr>
          <p:spPr>
            <a:xfrm>
              <a:off x="6210300" y="3790950"/>
              <a:ext cx="27241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77000" y="4108450"/>
              <a:ext cx="228599" cy="127000"/>
              <a:chOff x="6477000" y="4108450"/>
              <a:chExt cx="228599" cy="1270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489700" y="4121150"/>
                <a:ext cx="2031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616700" y="41846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553200" y="4121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477000" y="42100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680199" y="41084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43204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排期兜底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33185" y="483155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排期失败 → 算法排期兜底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33566" y="5334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日期约束仍生效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124950" y="3790950"/>
            <a:ext cx="2686050" cy="2000250"/>
            <a:chOff x="9124950" y="3790950"/>
            <a:chExt cx="2686050" cy="2000250"/>
          </a:xfrm>
        </p:grpSpPr>
        <p:sp>
          <p:nvSpPr>
            <p:cNvPr id="92" name="Rectangle 92"/>
            <p:cNvSpPr/>
            <p:nvPr/>
          </p:nvSpPr>
          <p:spPr>
            <a:xfrm>
              <a:off x="9124950" y="3790950"/>
              <a:ext cx="268605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9391650" y="4057650"/>
              <a:ext cx="228599" cy="228599"/>
              <a:chOff x="9391650" y="4057650"/>
              <a:chExt cx="228599" cy="228599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9455150" y="41211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9391650" y="40576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9544050" y="4210050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0" y="0"/>
                    </a:moveTo>
                    <a:lnTo>
                      <a:pt x="42545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9425305" y="4210050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42545" y="0"/>
                    </a:moveTo>
                    <a:lnTo>
                      <a:pt x="0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425305" y="4091305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0" y="0"/>
                    </a:moveTo>
                    <a:lnTo>
                      <a:pt x="42545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544050" y="4091305"/>
                <a:ext cx="42545" cy="42545"/>
              </a:xfrm>
              <a:custGeom>
                <a:avLst/>
                <a:gdLst/>
                <a:ahLst/>
                <a:cxnLst/>
                <a:rect l="l" t="t" r="r" b="b"/>
                <a:pathLst>
                  <a:path w="42545" h="42545">
                    <a:moveTo>
                      <a:pt x="42545" y="0"/>
                    </a:moveTo>
                    <a:lnTo>
                      <a:pt x="0" y="42545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934669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断网兜底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347835" y="4831556"/>
              <a:ext cx="17609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断网 / 模型离线 → 本地保留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确定性拆解与导出能力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348216" y="53349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主链路仍可演示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104" name="TextBox 104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21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1001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· 创新点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3359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创新点四：昇腾本地 + 云端双后端统一适配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381000" y="1619250"/>
            <a:ext cx="5429250" cy="2381250"/>
            <a:chOff x="381000" y="1619250"/>
            <a:chExt cx="542925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4292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4292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3425" y="1990725"/>
              <a:ext cx="285751" cy="285751"/>
              <a:chOff x="733425" y="1990725"/>
              <a:chExt cx="28575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5175" y="20224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675" y="20859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33425" y="21018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33425" y="21653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44550" y="19907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8050" y="19907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87426" y="21018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7426" y="21653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8050" y="22447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4550" y="22447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29868" y="2050732"/>
              <a:ext cx="3146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 A3 本地（评审期主力）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9704" y="2632710"/>
              <a:ext cx="2465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Ascend 910C + llama.cpp-omni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9704" y="2956560"/>
              <a:ext cx="2513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MiniCPM-o-4_5-F16（约 16G）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704" y="3280410"/>
              <a:ext cx="2564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本地直听直答，统一昇腾环境复现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3677602"/>
              <a:ext cx="4313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配置：ASCEND_OMNI_WS_URL=ws://127.0.0.1:28099/backend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81750" y="1619250"/>
            <a:ext cx="5429250" cy="2381250"/>
            <a:chOff x="6381750" y="1619250"/>
            <a:chExt cx="5429250" cy="2381250"/>
          </a:xfrm>
        </p:grpSpPr>
        <p:sp>
          <p:nvSpPr>
            <p:cNvPr id="26" name="Rectangle 26"/>
            <p:cNvSpPr/>
            <p:nvPr/>
          </p:nvSpPr>
          <p:spPr>
            <a:xfrm>
              <a:off x="6381750" y="1619250"/>
              <a:ext cx="542925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81750" y="1619250"/>
              <a:ext cx="54292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718300" y="2017554"/>
              <a:ext cx="317501" cy="211360"/>
            </a:xfrm>
            <a:custGeom>
              <a:avLst/>
              <a:gdLst/>
              <a:ahLst/>
              <a:cxnLst/>
              <a:rect l="l" t="t" r="r" b="b"/>
              <a:pathLst>
                <a:path w="317501" h="211360">
                  <a:moveTo>
                    <a:pt x="73930" y="211297"/>
                  </a:moveTo>
                  <a:cubicBezTo>
                    <a:pt x="33099" y="211297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6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4"/>
                  </a:cubicBezTo>
                  <a:lnTo>
                    <a:pt x="262510" y="100664"/>
                  </a:lnTo>
                  <a:cubicBezTo>
                    <a:pt x="292878" y="100664"/>
                    <a:pt x="317501" y="125429"/>
                    <a:pt x="317501" y="156004"/>
                  </a:cubicBezTo>
                  <a:cubicBezTo>
                    <a:pt x="317501" y="186595"/>
                    <a:pt x="292878" y="211360"/>
                    <a:pt x="262494" y="211360"/>
                  </a:cubicBezTo>
                  <a:lnTo>
                    <a:pt x="73930" y="211360"/>
                  </a:ln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30618" y="2050732"/>
              <a:ext cx="3370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ModelBest 云端（开发期兜底）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0454" y="2632710"/>
              <a:ext cx="2358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MiniCPM-o-4.5-Realtime API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0454" y="2956560"/>
              <a:ext cx="2335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免费 API，开发 / 评审期通用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80454" y="3280410"/>
              <a:ext cx="216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turn-based：先转写再理解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81216" y="3677602"/>
              <a:ext cx="4830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配置：MAP_REALTIME_API_KEY + wss://api.modelbest.cn/v1/realtime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53100" y="2286000"/>
            <a:ext cx="685800" cy="1047750"/>
            <a:chOff x="5753100" y="2286000"/>
            <a:chExt cx="685800" cy="1047750"/>
          </a:xfrm>
        </p:grpSpPr>
        <p:sp>
          <p:nvSpPr>
            <p:cNvPr id="35" name="Rectangle 35"/>
            <p:cNvSpPr/>
            <p:nvPr/>
          </p:nvSpPr>
          <p:spPr>
            <a:xfrm>
              <a:off x="5753100" y="2286000"/>
              <a:ext cx="685800" cy="1047750"/>
            </a:xfrm>
            <a:prstGeom prst="roundRect">
              <a:avLst>
                <a:gd name="adj" fmla="val 41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42247" y="25536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42247" y="27822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切换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75331" y="3084195"/>
              <a:ext cx="641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WebSocket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4229100"/>
            <a:ext cx="11430000" cy="571500"/>
            <a:chOff x="381000" y="4229100"/>
            <a:chExt cx="11430000" cy="571500"/>
          </a:xfrm>
        </p:grpSpPr>
        <p:sp>
          <p:nvSpPr>
            <p:cNvPr id="40" name="Rectangle 40"/>
            <p:cNvSpPr/>
            <p:nvPr/>
          </p:nvSpPr>
          <p:spPr>
            <a:xfrm>
              <a:off x="381000" y="4229100"/>
              <a:ext cx="11430000" cy="571500"/>
            </a:xfrm>
            <a:prstGeom prst="roundRect">
              <a:avLst>
                <a:gd name="adj" fmla="val 666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92150" y="4470400"/>
              <a:ext cx="187326" cy="88900"/>
              <a:chOff x="692150" y="4470400"/>
              <a:chExt cx="187326" cy="889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92150" y="4525963"/>
                <a:ext cx="55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9525">
                    <a:moveTo>
                      <a:pt x="0" y="0"/>
                    </a:moveTo>
                    <a:lnTo>
                      <a:pt x="5556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1050" y="44704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0" y="88900"/>
                    </a:moveTo>
                    <a:lnTo>
                      <a:pt x="0" y="0"/>
                    </a:lnTo>
                    <a:lnTo>
                      <a:pt x="33338" y="0"/>
                    </a:lnTo>
                    <a:cubicBezTo>
                      <a:pt x="45612" y="0"/>
                      <a:pt x="55563" y="9950"/>
                      <a:pt x="55563" y="22225"/>
                    </a:cubicBezTo>
                    <a:lnTo>
                      <a:pt x="55563" y="33338"/>
                    </a:lnTo>
                    <a:cubicBezTo>
                      <a:pt x="55563" y="45612"/>
                      <a:pt x="45612" y="55563"/>
                      <a:pt x="33338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9951" y="44704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2150" y="4470400"/>
                <a:ext cx="55563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88900">
                    <a:moveTo>
                      <a:pt x="55563" y="88900"/>
                    </a:moveTo>
                    <a:lnTo>
                      <a:pt x="55563" y="27781"/>
                    </a:ln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654" y="4461510"/>
              <a:ext cx="9761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统一适配：omni_chat 层统一行为——本地能直接听，云端先转写再理解；/api/realtime/status 返回 backend: local | map 一键确认。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5048250"/>
            <a:ext cx="11430000" cy="1152906"/>
            <a:chOff x="381000" y="5048250"/>
            <a:chExt cx="11430000" cy="1152906"/>
          </a:xfrm>
        </p:grpSpPr>
        <p:sp>
          <p:nvSpPr>
            <p:cNvPr id="48" name="Rectangle 48"/>
            <p:cNvSpPr/>
            <p:nvPr/>
          </p:nvSpPr>
          <p:spPr>
            <a:xfrm>
              <a:off x="381000" y="5048250"/>
              <a:ext cx="11430000" cy="1123950"/>
            </a:xfrm>
            <a:prstGeom prst="roundRect">
              <a:avLst>
                <a:gd name="adj" fmla="val 339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71281" y="5319712"/>
              <a:ext cx="279010" cy="257176"/>
              <a:chOff x="671281" y="5319712"/>
              <a:chExt cx="279010" cy="25717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71281" y="53197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62012" y="55197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54430" y="53435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1604" y="5699760"/>
              <a:ext cx="709117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APP_MODEL_MODE=minicpm 且 APP_ALLOW_EXTERNAL_MODELS=0 时，全链路仅调用 MiniCPM-o 4.5；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不创建任何其他模型客户端；API Key 仅存 .env，不进入版本库。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22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7522" y="1851660"/>
            <a:ext cx="8206818" cy="1015365"/>
            <a:chOff x="747522" y="1851660"/>
            <a:chExt cx="8206818" cy="1015365"/>
          </a:xfrm>
        </p:grpSpPr>
        <p:sp>
          <p:nvSpPr>
            <p:cNvPr id="3" name="TextBox 3"/>
            <p:cNvSpPr txBox="1"/>
            <p:nvPr/>
          </p:nvSpPr>
          <p:spPr>
            <a:xfrm>
              <a:off x="755904" y="1851660"/>
              <a:ext cx="2223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05 / 应用落地与工程验证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7522" y="2225992"/>
              <a:ext cx="82068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真实场景 · 真实运行效果 · 可核验的工程证据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2857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04862" y="3581400"/>
            <a:ext cx="5902262" cy="2036445"/>
            <a:chOff x="804862" y="3581400"/>
            <a:chExt cx="5902262" cy="2036445"/>
          </a:xfrm>
        </p:grpSpPr>
        <p:grpSp>
          <p:nvGrpSpPr>
            <p:cNvPr id="10" name="Group 10"/>
            <p:cNvGrpSpPr/>
            <p:nvPr/>
          </p:nvGrpSpPr>
          <p:grpSpPr>
            <a:xfrm>
              <a:off x="814637" y="3581400"/>
              <a:ext cx="233113" cy="233113"/>
              <a:chOff x="814637" y="3581400"/>
              <a:chExt cx="233113" cy="23311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19150" y="3581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14637" y="372427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2025" y="36385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25880" y="3609975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应用场景与落地形态（P24）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62012" y="4152900"/>
              <a:ext cx="185738" cy="228600"/>
            </a:xfrm>
            <a:custGeom>
              <a:avLst/>
              <a:gdLst/>
              <a:ahLst/>
              <a:cxnLst/>
              <a:rect l="l" t="t" r="r" b="b"/>
              <a:pathLst>
                <a:path w="185738" h="228600">
                  <a:moveTo>
                    <a:pt x="0" y="0"/>
                  </a:moveTo>
                  <a:lnTo>
                    <a:pt x="0" y="228600"/>
                  </a:lnTo>
                  <a:lnTo>
                    <a:pt x="185738" y="11430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5880" y="4181475"/>
              <a:ext cx="4421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运行效果展示：截图占位，提交前粘贴（P25）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4862" y="4724400"/>
              <a:ext cx="257175" cy="228600"/>
            </a:xfrm>
            <a:custGeom>
              <a:avLst/>
              <a:gdLst/>
              <a:ahLst/>
              <a:cxnLst/>
              <a:rect l="l" t="t" r="r" b="b"/>
              <a:pathLst>
                <a:path w="257175" h="228600">
                  <a:moveTo>
                    <a:pt x="0" y="114300"/>
                  </a:moveTo>
                  <a:lnTo>
                    <a:pt x="57150" y="114300"/>
                  </a:lnTo>
                  <a:lnTo>
                    <a:pt x="100012" y="228600"/>
                  </a:lnTo>
                  <a:lnTo>
                    <a:pt x="157162" y="0"/>
                  </a:lnTo>
                  <a:lnTo>
                    <a:pt x="200025" y="114300"/>
                  </a:lnTo>
                  <a:lnTo>
                    <a:pt x="257175" y="11430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25880" y="4752975"/>
              <a:ext cx="4805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工程验证：379 项测试通过 + 昇腾 A3 实测（P26）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33438" y="5338762"/>
              <a:ext cx="200024" cy="180975"/>
              <a:chOff x="833438" y="5338762"/>
              <a:chExt cx="200024" cy="1809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3438" y="5338762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0"/>
                    </a:moveTo>
                    <a:lnTo>
                      <a:pt x="71438" y="71438"/>
                    </a:ln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3450" y="5510212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25880" y="5324475"/>
              <a:ext cx="5381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统一昇腾环境复现（P27）· 合规安全与已知边界（P28）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6666" y="6401752"/>
            <a:ext cx="10678097" cy="205359"/>
            <a:chOff x="756666" y="6401752"/>
            <a:chExt cx="10678097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756666" y="64017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P23–P28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13479" y="641794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DCEBFA"/>
                  </a:solidFill>
                  <a:latin typeface="+mn-lt"/>
                  <a:ea typeface="+mn-ea"/>
                  <a:cs typeface="+mn-cs"/>
                </a:rPr>
                <a:t>23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应用场景：从课堂到团队协作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3676650" cy="1752600"/>
            <a:chOff x="381000" y="1619250"/>
            <a:chExt cx="3676650" cy="175260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3676650" cy="1752600"/>
            </a:xfrm>
            <a:prstGeom prst="roundRect">
              <a:avLst>
                <a:gd name="adj" fmla="val 2174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38175" y="1919288"/>
              <a:ext cx="285750" cy="200025"/>
              <a:chOff x="638175" y="1919288"/>
              <a:chExt cx="285750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38175" y="1919288"/>
                <a:ext cx="2857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42875">
                    <a:moveTo>
                      <a:pt x="285750" y="57150"/>
                    </a:moveTo>
                    <a:lnTo>
                      <a:pt x="142875" y="0"/>
                    </a:lnTo>
                    <a:lnTo>
                      <a:pt x="0" y="57150"/>
                    </a:lnTo>
                    <a:lnTo>
                      <a:pt x="142875" y="114300"/>
                    </a:lnTo>
                    <a:lnTo>
                      <a:pt x="285750" y="57150"/>
                    </a:lnTo>
                    <a:lnTo>
                      <a:pt x="285750" y="1428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95325" y="1999298"/>
                <a:ext cx="1714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20015">
                    <a:moveTo>
                      <a:pt x="0" y="0"/>
                    </a:moveTo>
                    <a:lnTo>
                      <a:pt x="0" y="77152"/>
                    </a:lnTo>
                    <a:cubicBezTo>
                      <a:pt x="0" y="100825"/>
                      <a:pt x="38380" y="120015"/>
                      <a:pt x="85725" y="120015"/>
                    </a:cubicBezTo>
                    <a:cubicBezTo>
                      <a:pt x="133070" y="120015"/>
                      <a:pt x="171450" y="100825"/>
                      <a:pt x="171450" y="77152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16330" y="193357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学生团队 / 课程设计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885" y="24122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拍照白板、语音需求直接进拆解；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697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成员免登录汇报，进度透明。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266" y="30870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小型项目模式 · 扁平协作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48150" y="1619250"/>
            <a:ext cx="3676650" cy="1752600"/>
            <a:chOff x="4248150" y="1619250"/>
            <a:chExt cx="3676650" cy="1752600"/>
          </a:xfrm>
        </p:grpSpPr>
        <p:sp>
          <p:nvSpPr>
            <p:cNvPr id="16" name="Rectangle 16"/>
            <p:cNvSpPr/>
            <p:nvPr/>
          </p:nvSpPr>
          <p:spPr>
            <a:xfrm>
              <a:off x="4248150" y="1619250"/>
              <a:ext cx="3676650" cy="1752600"/>
            </a:xfrm>
            <a:prstGeom prst="roundRect">
              <a:avLst>
                <a:gd name="adj" fmla="val 2174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519612" y="1890712"/>
              <a:ext cx="257175" cy="257175"/>
              <a:chOff x="4519612" y="1890712"/>
              <a:chExt cx="257175" cy="2571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19612" y="18907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71438" y="85725"/>
                    </a:moveTo>
                    <a:lnTo>
                      <a:pt x="142875" y="157162"/>
                    </a:lnTo>
                    <a:lnTo>
                      <a:pt x="142875" y="257175"/>
                    </a:lnTo>
                    <a:lnTo>
                      <a:pt x="71438" y="257175"/>
                    </a:lnTo>
                    <a:lnTo>
                      <a:pt x="71438" y="200025"/>
                    </a:lnTo>
                    <a:moveTo>
                      <a:pt x="71438" y="257175"/>
                    </a:moveTo>
                    <a:lnTo>
                      <a:pt x="0" y="257175"/>
                    </a:lnTo>
                    <a:lnTo>
                      <a:pt x="0" y="157162"/>
                    </a:lnTo>
                    <a:lnTo>
                      <a:pt x="71438" y="85725"/>
                    </a:lnTo>
                    <a:moveTo>
                      <a:pt x="85725" y="100012"/>
                    </a:moveTo>
                    <a:lnTo>
                      <a:pt x="85725" y="14288"/>
                    </a:lnTo>
                    <a:cubicBezTo>
                      <a:pt x="85725" y="6397"/>
                      <a:pt x="92122" y="0"/>
                      <a:pt x="100012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257175"/>
                    </a:lnTo>
                    <a:lnTo>
                      <a:pt x="142875" y="2571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62488" y="19478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719638" y="19478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19638" y="20050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19638" y="20621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983480" y="19335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社团 / 活动组织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035" y="2412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成员管理、任务认领；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035" y="2697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状态变更自动群通知。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1416" y="3087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志愿者招募与认领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15300" y="1619250"/>
            <a:ext cx="3695700" cy="1752600"/>
            <a:chOff x="8115300" y="1619250"/>
            <a:chExt cx="3695700" cy="1752600"/>
          </a:xfrm>
        </p:grpSpPr>
        <p:sp>
          <p:nvSpPr>
            <p:cNvPr id="28" name="Rectangle 28"/>
            <p:cNvSpPr/>
            <p:nvPr/>
          </p:nvSpPr>
          <p:spPr>
            <a:xfrm>
              <a:off x="8115300" y="1619250"/>
              <a:ext cx="3695700" cy="1752600"/>
            </a:xfrm>
            <a:prstGeom prst="roundRect">
              <a:avLst>
                <a:gd name="adj" fmla="val 2174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386762" y="1905000"/>
              <a:ext cx="257176" cy="252413"/>
              <a:chOff x="8386762" y="1905000"/>
              <a:chExt cx="257176" cy="25241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458200" y="21478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15350" y="20907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43912" y="19050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43912" y="1905000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142875" y="0"/>
                    </a:moveTo>
                    <a:lnTo>
                      <a:pt x="142875" y="114300"/>
                    </a:lnTo>
                    <a:cubicBezTo>
                      <a:pt x="142875" y="153754"/>
                      <a:pt x="110891" y="185738"/>
                      <a:pt x="71438" y="185738"/>
                    </a:cubicBezTo>
                    <a:cubicBezTo>
                      <a:pt x="31984" y="185738"/>
                      <a:pt x="0" y="153754"/>
                      <a:pt x="0" y="11430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6762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86788" y="19478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50630" y="193357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比赛 / 冲刺团队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185" y="24122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快速排期、负载均衡、今日播报；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8185" y="2697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冲刺阶段节奏可控。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8566" y="30870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关键路径 + 资源日历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1000" y="3562350"/>
            <a:ext cx="5619750" cy="1905000"/>
            <a:chOff x="381000" y="3562350"/>
            <a:chExt cx="5619750" cy="1905000"/>
          </a:xfrm>
        </p:grpSpPr>
        <p:sp>
          <p:nvSpPr>
            <p:cNvPr id="41" name="Rectangle 41"/>
            <p:cNvSpPr/>
            <p:nvPr/>
          </p:nvSpPr>
          <p:spPr>
            <a:xfrm>
              <a:off x="381000" y="3562350"/>
              <a:ext cx="561975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1000" y="3562350"/>
              <a:ext cx="56197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1512" y="3833812"/>
              <a:ext cx="257176" cy="257175"/>
              <a:chOff x="671512" y="3833812"/>
              <a:chExt cx="257176" cy="25717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71525" y="39481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42950" y="4048125"/>
                <a:ext cx="1143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85725" y="0"/>
                    </a:ln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2962" y="38338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393382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00088" y="38338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1512" y="3933825"/>
                <a:ext cx="5715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2862">
                    <a:moveTo>
                      <a:pt x="0" y="42862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35380" y="38766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小型企业项目组 · 小型项目模式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35" y="4355306"/>
              <a:ext cx="4451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成员已确定、组织关系简单：快速拆解 → 排期 → 分工 → 汇报闭环。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935" y="4641056"/>
              <a:ext cx="318338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通知可直接推送到企业微信 / 钉钉 / 飞书工作群，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融入企业既有协作工具，无需额外下载安装。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3316" y="52206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低门槛：成员用手机即可完成汇报与确认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562350"/>
            <a:ext cx="5619750" cy="1905000"/>
            <a:chOff x="6191250" y="3562350"/>
            <a:chExt cx="5619750" cy="1905000"/>
          </a:xfrm>
        </p:grpSpPr>
        <p:sp>
          <p:nvSpPr>
            <p:cNvPr id="55" name="Rectangle 55"/>
            <p:cNvSpPr/>
            <p:nvPr/>
          </p:nvSpPr>
          <p:spPr>
            <a:xfrm>
              <a:off x="6191250" y="3562350"/>
              <a:ext cx="5619750" cy="1905000"/>
            </a:xfrm>
            <a:prstGeom prst="roundRect">
              <a:avLst>
                <a:gd name="adj" fmla="val 20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91250" y="3562350"/>
              <a:ext cx="561975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96050" y="3876675"/>
              <a:ext cx="228600" cy="171450"/>
              <a:chOff x="6496050" y="3876675"/>
              <a:chExt cx="228600" cy="17145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96050" y="387667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96050" y="39909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45630" y="3876675"/>
              <a:ext cx="3047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中型 / 复杂项目 · 大型项目模式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33185" y="43553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先拆分大模块，骨干认领负责；子任务拆解后志愿者招募与认领。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33185" y="464105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适合跨部门项目、外包协同、赛事活动等成员与分工动态变化的场景。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3185" y="49268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多阶段连续推进，认领与分工全程可追溯。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33566" y="5220652"/>
              <a:ext cx="261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分层结构：模块 → 骨干 → 子任务 → 志愿者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81000" y="5676900"/>
            <a:ext cx="11430000" cy="590550"/>
            <a:chOff x="381000" y="5676900"/>
            <a:chExt cx="11430000" cy="590550"/>
          </a:xfrm>
        </p:grpSpPr>
        <p:sp>
          <p:nvSpPr>
            <p:cNvPr id="66" name="Rectangle 66"/>
            <p:cNvSpPr/>
            <p:nvPr/>
          </p:nvSpPr>
          <p:spPr>
            <a:xfrm>
              <a:off x="381000" y="5676900"/>
              <a:ext cx="11430000" cy="590550"/>
            </a:xfrm>
            <a:prstGeom prst="roundRect">
              <a:avLst>
                <a:gd name="adj" fmla="val 645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91564" y="5876925"/>
              <a:ext cx="194261" cy="194261"/>
              <a:chOff x="691564" y="5876925"/>
              <a:chExt cx="194261" cy="19426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5325" y="58769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07156"/>
                    </a:moveTo>
                    <a:cubicBezTo>
                      <a:pt x="43698" y="112349"/>
                      <a:pt x="78151" y="146802"/>
                      <a:pt x="83344" y="190500"/>
                    </a:cubicBezTo>
                    <a:cubicBezTo>
                      <a:pt x="104740" y="178165"/>
                      <a:pt x="118247" y="155653"/>
                      <a:pt x="119062" y="130969"/>
                    </a:cubicBezTo>
                    <a:cubicBezTo>
                      <a:pt x="159946" y="116587"/>
                      <a:pt x="188140" y="78994"/>
                      <a:pt x="190500" y="35719"/>
                    </a:cubicBezTo>
                    <a:cubicBezTo>
                      <a:pt x="190500" y="15992"/>
                      <a:pt x="174508" y="0"/>
                      <a:pt x="154781" y="0"/>
                    </a:cubicBezTo>
                    <a:cubicBezTo>
                      <a:pt x="111506" y="2360"/>
                      <a:pt x="73913" y="30554"/>
                      <a:pt x="59531" y="71438"/>
                    </a:cubicBezTo>
                    <a:cubicBezTo>
                      <a:pt x="34847" y="72253"/>
                      <a:pt x="12335" y="85760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1564" y="5995988"/>
                <a:ext cx="75198" cy="75198"/>
              </a:xfrm>
              <a:custGeom>
                <a:avLst/>
                <a:gdLst/>
                <a:ahLst/>
                <a:cxnLst/>
                <a:rect l="l" t="t" r="r" b="b"/>
                <a:pathLst>
                  <a:path w="75198" h="75198">
                    <a:moveTo>
                      <a:pt x="39479" y="0"/>
                    </a:moveTo>
                    <a:cubicBezTo>
                      <a:pt x="14130" y="14311"/>
                      <a:pt x="0" y="42572"/>
                      <a:pt x="3761" y="71438"/>
                    </a:cubicBezTo>
                    <a:cubicBezTo>
                      <a:pt x="32627" y="75198"/>
                      <a:pt x="60887" y="61068"/>
                      <a:pt x="75198" y="35719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4388" y="5924550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60704" y="5909310"/>
              <a:ext cx="7097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落地形态：Web 工作台 + 免登录汇报页 + 企微 / 飞书 / 钉钉群通知 + 多格式导出 + 只读分享链接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24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运行效果展示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1600200"/>
            <a:ext cx="3676650" cy="3657600"/>
            <a:chOff x="381000" y="1600200"/>
            <a:chExt cx="3676650" cy="3657600"/>
          </a:xfrm>
        </p:grpSpPr>
        <p:sp>
          <p:nvSpPr>
            <p:cNvPr id="7" name="Rectangle 7"/>
            <p:cNvSpPr/>
            <p:nvPr/>
          </p:nvSpPr>
          <p:spPr>
            <a:xfrm>
              <a:off x="381000" y="1600200"/>
              <a:ext cx="3676650" cy="3657600"/>
            </a:xfrm>
            <a:prstGeom prst="roundRect">
              <a:avLst>
                <a:gd name="adj" fmla="val 1042"/>
              </a:avLst>
            </a:prstGeom>
            <a:solidFill>
              <a:srgbClr val="F0F6FC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112169" y="2486025"/>
              <a:ext cx="278606" cy="342900"/>
            </a:xfrm>
            <a:custGeom>
              <a:avLst/>
              <a:gdLst/>
              <a:ahLst/>
              <a:cxnLst/>
              <a:rect l="l" t="t" r="r" b="b"/>
              <a:pathLst>
                <a:path w="278606" h="342900">
                  <a:moveTo>
                    <a:pt x="0" y="0"/>
                  </a:moveTo>
                  <a:lnTo>
                    <a:pt x="0" y="342900"/>
                  </a:lnTo>
                  <a:lnTo>
                    <a:pt x="278606" y="171450"/>
                  </a:lnTo>
                  <a:lnTo>
                    <a:pt x="0" y="0"/>
                  </a:lnTo>
                </a:path>
              </a:pathLst>
            </a:custGeom>
            <a:noFill/>
            <a:ln w="42862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81639" y="3190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工作台首页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950" y="3574256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项目输入 · 方案总览 · AI 建议抽屉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5885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48150" y="1600200"/>
            <a:ext cx="3676650" cy="3657600"/>
            <a:chOff x="4248150" y="1600200"/>
            <a:chExt cx="3676650" cy="3657600"/>
          </a:xfrm>
        </p:grpSpPr>
        <p:sp>
          <p:nvSpPr>
            <p:cNvPr id="13" name="Rectangle 13"/>
            <p:cNvSpPr/>
            <p:nvPr/>
          </p:nvSpPr>
          <p:spPr>
            <a:xfrm>
              <a:off x="4248150" y="1600200"/>
              <a:ext cx="3676650" cy="3657600"/>
            </a:xfrm>
            <a:prstGeom prst="roundRect">
              <a:avLst>
                <a:gd name="adj" fmla="val 1042"/>
              </a:avLst>
            </a:prstGeom>
            <a:solidFill>
              <a:srgbClr val="F0F6FC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893594" y="2550319"/>
              <a:ext cx="385762" cy="214312"/>
              <a:chOff x="5893594" y="2550319"/>
              <a:chExt cx="385762" cy="2143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915025" y="257175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0" y="171450"/>
                    </a:moveTo>
                    <a:lnTo>
                      <a:pt x="128588" y="21431"/>
                    </a:lnTo>
                    <a:lnTo>
                      <a:pt x="235744" y="128588"/>
                    </a:lnTo>
                    <a:lnTo>
                      <a:pt x="342900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29338" y="2678906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022181" y="2571750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893594" y="272176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36494" y="2550319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230749" y="31908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任务草案与甘特图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66802" y="357425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 / 排期 / 分工 / 拖拽调整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33035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15300" y="1600200"/>
            <a:ext cx="3695700" cy="3657600"/>
            <a:chOff x="8115300" y="1600200"/>
            <a:chExt cx="3695700" cy="3657600"/>
          </a:xfrm>
        </p:grpSpPr>
        <p:sp>
          <p:nvSpPr>
            <p:cNvPr id="24" name="Rectangle 24"/>
            <p:cNvSpPr/>
            <p:nvPr/>
          </p:nvSpPr>
          <p:spPr>
            <a:xfrm>
              <a:off x="8115300" y="1600200"/>
              <a:ext cx="3695700" cy="3657600"/>
            </a:xfrm>
            <a:prstGeom prst="roundRect">
              <a:avLst>
                <a:gd name="adj" fmla="val 1042"/>
              </a:avLst>
            </a:prstGeom>
            <a:solidFill>
              <a:srgbClr val="F0F6FC"/>
            </a:solidFill>
            <a:ln w="14288">
              <a:solidFill>
                <a:schemeClr val="accent3"/>
              </a:solidFill>
              <a:custDash>
                <a:ds d="466667" sp="400000"/>
              </a:custDash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811017" y="2464594"/>
              <a:ext cx="392639" cy="392639"/>
              <a:chOff x="9811017" y="2464594"/>
              <a:chExt cx="392639" cy="39263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967912" y="2464594"/>
                <a:ext cx="235744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235744">
                    <a:moveTo>
                      <a:pt x="0" y="235744"/>
                    </a:moveTo>
                    <a:lnTo>
                      <a:pt x="235744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811017" y="2464594"/>
                <a:ext cx="392639" cy="392639"/>
              </a:xfrm>
              <a:custGeom>
                <a:avLst/>
                <a:gdLst/>
                <a:ahLst/>
                <a:cxnLst/>
                <a:rect l="l" t="t" r="r" b="b"/>
                <a:pathLst>
                  <a:path w="392639" h="392639">
                    <a:moveTo>
                      <a:pt x="392639" y="0"/>
                    </a:moveTo>
                    <a:lnTo>
                      <a:pt x="253336" y="385762"/>
                    </a:lnTo>
                    <a:cubicBezTo>
                      <a:pt x="251416" y="389953"/>
                      <a:pt x="247230" y="392639"/>
                      <a:pt x="242620" y="392639"/>
                    </a:cubicBezTo>
                    <a:cubicBezTo>
                      <a:pt x="238011" y="392639"/>
                      <a:pt x="233825" y="389953"/>
                      <a:pt x="231905" y="385762"/>
                    </a:cubicBezTo>
                    <a:lnTo>
                      <a:pt x="156895" y="235744"/>
                    </a:lnTo>
                    <a:lnTo>
                      <a:pt x="6877" y="160734"/>
                    </a:lnTo>
                    <a:cubicBezTo>
                      <a:pt x="2687" y="158814"/>
                      <a:pt x="0" y="154628"/>
                      <a:pt x="0" y="150019"/>
                    </a:cubicBezTo>
                    <a:cubicBezTo>
                      <a:pt x="0" y="145410"/>
                      <a:pt x="2687" y="141223"/>
                      <a:pt x="6877" y="139303"/>
                    </a:cubicBezTo>
                    <a:lnTo>
                      <a:pt x="392639" y="0"/>
                    </a:lnTo>
                  </a:path>
                </a:pathLst>
              </a:custGeom>
              <a:noFill/>
              <a:ln w="42862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9001411" y="31908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成员汇报页与群通知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97092" y="3574256"/>
              <a:ext cx="2732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免登录汇报 · 语音/照片交付 · Webhook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9710" y="4782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截图占位：请粘贴运行截图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1000" y="5524500"/>
            <a:ext cx="11430000" cy="727234"/>
            <a:chOff x="381000" y="5524500"/>
            <a:chExt cx="11430000" cy="727234"/>
          </a:xfrm>
        </p:grpSpPr>
        <p:sp>
          <p:nvSpPr>
            <p:cNvPr id="32" name="Rectangle 32"/>
            <p:cNvSpPr/>
            <p:nvPr/>
          </p:nvSpPr>
          <p:spPr>
            <a:xfrm>
              <a:off x="381000" y="5524500"/>
              <a:ext cx="11430000" cy="647700"/>
            </a:xfrm>
            <a:prstGeom prst="roundRect">
              <a:avLst>
                <a:gd name="adj" fmla="val 5882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1038" y="5748338"/>
              <a:ext cx="200026" cy="200026"/>
              <a:chOff x="681038" y="574833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14388" y="580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81038" y="57483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66688"/>
                    </a:lnTo>
                    <a:cubicBezTo>
                      <a:pt x="200026" y="185100"/>
                      <a:pt x="185100" y="200026"/>
                      <a:pt x="166688" y="200026"/>
                    </a:cubicBezTo>
                    <a:lnTo>
                      <a:pt x="33338" y="200026"/>
                    </a:lnTo>
                    <a:cubicBezTo>
                      <a:pt x="14926" y="200026"/>
                      <a:pt x="0" y="185100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1038" y="5827314"/>
                <a:ext cx="144463" cy="6548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65486">
                    <a:moveTo>
                      <a:pt x="0" y="65486"/>
                    </a:moveTo>
                    <a:lnTo>
                      <a:pt x="55563" y="9923"/>
                    </a:lnTo>
                    <a:cubicBezTo>
                      <a:pt x="65875" y="0"/>
                      <a:pt x="78588" y="0"/>
                      <a:pt x="88900" y="9923"/>
                    </a:cubicBezTo>
                    <a:lnTo>
                      <a:pt x="144463" y="65486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03275" y="5849539"/>
                <a:ext cx="77788" cy="43261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43261">
                    <a:moveTo>
                      <a:pt x="0" y="21036"/>
                    </a:moveTo>
                    <a:lnTo>
                      <a:pt x="11113" y="9923"/>
                    </a:lnTo>
                    <a:cubicBezTo>
                      <a:pt x="21425" y="0"/>
                      <a:pt x="34138" y="0"/>
                      <a:pt x="44450" y="9923"/>
                    </a:cubicBezTo>
                    <a:lnTo>
                      <a:pt x="77788" y="4326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654" y="57569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提交前操作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035" y="6031706"/>
              <a:ext cx="84167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本页占位框为矢量图形，请在 PowerPoint 中直接以真实运行截图替换 / 覆盖；建议使用昇腾 A3 环境录屏或本地实测截图。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25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76085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工程验证：379 项测试通过 + 昇腾 A3 实测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619250"/>
            <a:ext cx="4572000" cy="2381250"/>
            <a:chOff x="381000" y="1619250"/>
            <a:chExt cx="4572000" cy="23812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4572000" cy="2381250"/>
            </a:xfrm>
            <a:prstGeom prst="roundRect">
              <a:avLst>
                <a:gd name="adj" fmla="val 160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1322" y="2225992"/>
              <a:ext cx="693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788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项自动化测试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8642" y="263556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全部通过（pytest · 无需密钥）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1432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3900" y="3403600"/>
              <a:ext cx="228599" cy="203199"/>
            </a:xfrm>
            <a:custGeom>
              <a:avLst/>
              <a:gdLst/>
              <a:ahLst/>
              <a:cxnLst/>
              <a:rect l="l" t="t" r="r" b="b"/>
              <a:pathLst>
                <a:path w="228599" h="203199">
                  <a:moveTo>
                    <a:pt x="0" y="101600"/>
                  </a:moveTo>
                  <a:lnTo>
                    <a:pt x="50800" y="101600"/>
                  </a:lnTo>
                  <a:lnTo>
                    <a:pt x="88900" y="203199"/>
                  </a:lnTo>
                  <a:lnTo>
                    <a:pt x="139700" y="0"/>
                  </a:lnTo>
                  <a:lnTo>
                    <a:pt x="177800" y="101600"/>
                  </a:lnTo>
                  <a:lnTo>
                    <a:pt x="228599" y="101600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6142" y="3416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健康检查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704" y="373761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/api/health → {"engine":"comni","status":"ok"}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1000" y="4191000"/>
            <a:ext cx="4572000" cy="1714500"/>
            <a:chOff x="381000" y="4191000"/>
            <a:chExt cx="4572000" cy="1714500"/>
          </a:xfrm>
        </p:grpSpPr>
        <p:sp>
          <p:nvSpPr>
            <p:cNvPr id="16" name="Rectangle 16"/>
            <p:cNvSpPr/>
            <p:nvPr/>
          </p:nvSpPr>
          <p:spPr>
            <a:xfrm>
              <a:off x="381000" y="4191000"/>
              <a:ext cx="4572000" cy="1714500"/>
            </a:xfrm>
            <a:prstGeom prst="roundRect">
              <a:avLst>
                <a:gd name="adj" fmla="val 2222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54050" y="4479163"/>
              <a:ext cx="253999" cy="169087"/>
            </a:xfrm>
            <a:custGeom>
              <a:avLst/>
              <a:gdLst/>
              <a:ahLst/>
              <a:cxnLst/>
              <a:rect l="l" t="t" r="r" b="b"/>
              <a:pathLst>
                <a:path w="253999" h="169087">
                  <a:moveTo>
                    <a:pt x="59144" y="169037"/>
                  </a:moveTo>
                  <a:cubicBezTo>
                    <a:pt x="26479" y="169037"/>
                    <a:pt x="0" y="143548"/>
                    <a:pt x="0" y="112103"/>
                  </a:cubicBezTo>
                  <a:cubicBezTo>
                    <a:pt x="0" y="80670"/>
                    <a:pt x="26479" y="55181"/>
                    <a:pt x="59144" y="55181"/>
                  </a:cubicBezTo>
                  <a:cubicBezTo>
                    <a:pt x="64135" y="32804"/>
                    <a:pt x="81927" y="14541"/>
                    <a:pt x="105816" y="7264"/>
                  </a:cubicBezTo>
                  <a:cubicBezTo>
                    <a:pt x="129692" y="0"/>
                    <a:pt x="156057" y="4813"/>
                    <a:pt x="174955" y="19964"/>
                  </a:cubicBezTo>
                  <a:cubicBezTo>
                    <a:pt x="193852" y="35077"/>
                    <a:pt x="202412" y="58153"/>
                    <a:pt x="197434" y="80530"/>
                  </a:cubicBezTo>
                  <a:lnTo>
                    <a:pt x="210007" y="80530"/>
                  </a:lnTo>
                  <a:cubicBezTo>
                    <a:pt x="234302" y="80530"/>
                    <a:pt x="253999" y="100342"/>
                    <a:pt x="253999" y="124803"/>
                  </a:cubicBezTo>
                  <a:cubicBezTo>
                    <a:pt x="253999" y="149275"/>
                    <a:pt x="234302" y="169087"/>
                    <a:pt x="209994" y="169087"/>
                  </a:cubicBezTo>
                  <a:lnTo>
                    <a:pt x="59144" y="16908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8230" y="448627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 API 实测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2554" y="4918710"/>
              <a:ext cx="3034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语音转写、图片理解、TTS 朗读均正常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554" y="5223510"/>
              <a:ext cx="2257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音频理解自动“先转写再理解”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316" y="5544502"/>
              <a:ext cx="2044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ModelBest Realtime API · 免费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0" y="1619250"/>
            <a:ext cx="6477000" cy="438150"/>
            <a:chOff x="5334000" y="1619250"/>
            <a:chExt cx="6477000" cy="438150"/>
          </a:xfrm>
        </p:grpSpPr>
        <p:sp>
          <p:nvSpPr>
            <p:cNvPr id="23" name="Rectangle 23"/>
            <p:cNvSpPr/>
            <p:nvPr/>
          </p:nvSpPr>
          <p:spPr>
            <a:xfrm>
              <a:off x="5334000" y="1619250"/>
              <a:ext cx="228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18404" y="177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0" y="1619250"/>
              <a:ext cx="1905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04404" y="1775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实测延迟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1619250"/>
              <a:ext cx="22860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09404" y="1775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0" y="2057400"/>
            <a:ext cx="6477000" cy="590550"/>
            <a:chOff x="5334000" y="2057400"/>
            <a:chExt cx="6477000" cy="590550"/>
          </a:xfrm>
        </p:grpSpPr>
        <p:sp>
          <p:nvSpPr>
            <p:cNvPr id="30" name="Rectangle 30"/>
            <p:cNvSpPr/>
            <p:nvPr/>
          </p:nvSpPr>
          <p:spPr>
            <a:xfrm>
              <a:off x="5334000" y="20574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1840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文本对话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20574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04404" y="228981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2s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0" y="20574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09785" y="2297906"/>
              <a:ext cx="1482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· llama-omni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0" y="2647950"/>
            <a:ext cx="6477000" cy="590550"/>
            <a:chOff x="5334000" y="2647950"/>
            <a:chExt cx="6477000" cy="590550"/>
          </a:xfrm>
        </p:grpSpPr>
        <p:sp>
          <p:nvSpPr>
            <p:cNvPr id="37" name="Rectangle 37"/>
            <p:cNvSpPr/>
            <p:nvPr/>
          </p:nvSpPr>
          <p:spPr>
            <a:xfrm>
              <a:off x="5334000" y="26479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18404" y="2880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语音理解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0" y="2647950"/>
              <a:ext cx="1905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04404" y="288036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8s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0" y="26479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09785" y="2888456"/>
              <a:ext cx="1373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· 直接听懂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0" y="3238500"/>
            <a:ext cx="6477000" cy="590550"/>
            <a:chOff x="5334000" y="3238500"/>
            <a:chExt cx="6477000" cy="590550"/>
          </a:xfrm>
        </p:grpSpPr>
        <p:sp>
          <p:nvSpPr>
            <p:cNvPr id="44" name="Rectangle 44"/>
            <p:cNvSpPr/>
            <p:nvPr/>
          </p:nvSpPr>
          <p:spPr>
            <a:xfrm>
              <a:off x="5334000" y="32385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18404" y="3470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图片理解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0" y="32385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04404" y="347091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7s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525000" y="32385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09785" y="3479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含无文字流程图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0" y="3829050"/>
            <a:ext cx="6477000" cy="590550"/>
            <a:chOff x="5334000" y="3829050"/>
            <a:chExt cx="6477000" cy="590550"/>
          </a:xfrm>
        </p:grpSpPr>
        <p:sp>
          <p:nvSpPr>
            <p:cNvPr id="51" name="Rectangle 51"/>
            <p:cNvSpPr/>
            <p:nvPr/>
          </p:nvSpPr>
          <p:spPr>
            <a:xfrm>
              <a:off x="5334000" y="38290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518404" y="406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答辩录像分析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20000" y="3829050"/>
              <a:ext cx="1905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04404" y="4061460"/>
              <a:ext cx="419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4s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525000" y="3829050"/>
              <a:ext cx="2286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09785" y="406955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 帧表情分析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0" y="4419600"/>
            <a:ext cx="6477000" cy="590550"/>
            <a:chOff x="5334000" y="4419600"/>
            <a:chExt cx="6477000" cy="590550"/>
          </a:xfrm>
        </p:grpSpPr>
        <p:sp>
          <p:nvSpPr>
            <p:cNvPr id="58" name="Rectangle 58"/>
            <p:cNvSpPr/>
            <p:nvPr/>
          </p:nvSpPr>
          <p:spPr>
            <a:xfrm>
              <a:off x="5334000" y="44196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518404" y="46520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会议视频边看边听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620000" y="4419600"/>
              <a:ext cx="19050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04404" y="4652010"/>
              <a:ext cx="512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16s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525000" y="4419600"/>
              <a:ext cx="22860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09785" y="4660106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 帧 + 音频理解 · 端到端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328666" y="5239702"/>
            <a:ext cx="4364545" cy="700659"/>
            <a:chOff x="5328666" y="5239702"/>
            <a:chExt cx="4364545" cy="700659"/>
          </a:xfrm>
        </p:grpSpPr>
        <p:sp>
          <p:nvSpPr>
            <p:cNvPr id="65" name="TextBox 65"/>
            <p:cNvSpPr txBox="1"/>
            <p:nvPr/>
          </p:nvSpPr>
          <p:spPr>
            <a:xfrm>
              <a:off x="5328666" y="5239702"/>
              <a:ext cx="4364545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数据来源：docs/项目说明.md 第 8 节与 README（2026-08-24 记录）；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测试数于 2026-08-27 复核为 379 passed；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环境：910C / CANN 9.1.0-beta.1 / llama.cpp-omni / F16。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26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3080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统一昇腾环境复现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81000" y="1619250"/>
            <a:ext cx="5334000" cy="438150"/>
            <a:chOff x="381000" y="1619250"/>
            <a:chExt cx="5334000" cy="4381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2095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5404" y="17754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1619250"/>
              <a:ext cx="32385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60904" y="177546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 / 配置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2057400"/>
            <a:ext cx="5334000" cy="590550"/>
            <a:chOff x="381000" y="2057400"/>
            <a:chExt cx="5334000" cy="590550"/>
          </a:xfrm>
        </p:grpSpPr>
        <p:sp>
          <p:nvSpPr>
            <p:cNvPr id="12" name="Rectangle 12"/>
            <p:cNvSpPr/>
            <p:nvPr/>
          </p:nvSpPr>
          <p:spPr>
            <a:xfrm>
              <a:off x="381000" y="2057400"/>
              <a:ext cx="20955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540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应用环境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76500" y="2057400"/>
              <a:ext cx="32385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60904" y="2289810"/>
              <a:ext cx="1047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3.11+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2647950"/>
            <a:ext cx="5334000" cy="742950"/>
            <a:chOff x="381000" y="2647950"/>
            <a:chExt cx="5334000" cy="742950"/>
          </a:xfrm>
        </p:grpSpPr>
        <p:sp>
          <p:nvSpPr>
            <p:cNvPr id="17" name="Rectangle 17"/>
            <p:cNvSpPr/>
            <p:nvPr/>
          </p:nvSpPr>
          <p:spPr>
            <a:xfrm>
              <a:off x="381000" y="2647950"/>
              <a:ext cx="20955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5404" y="2899410"/>
              <a:ext cx="5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A3 环境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76500" y="2647950"/>
              <a:ext cx="3238500" cy="7429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60904" y="2880360"/>
              <a:ext cx="24582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Ascend 910C · CANN 9.1.0-beta.1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3.12.13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3390900"/>
            <a:ext cx="5334000" cy="590550"/>
            <a:chOff x="381000" y="3390900"/>
            <a:chExt cx="5334000" cy="590550"/>
          </a:xfrm>
        </p:grpSpPr>
        <p:sp>
          <p:nvSpPr>
            <p:cNvPr id="22" name="Rectangle 22"/>
            <p:cNvSpPr/>
            <p:nvPr/>
          </p:nvSpPr>
          <p:spPr>
            <a:xfrm>
              <a:off x="381000" y="3390900"/>
              <a:ext cx="2095500" cy="5905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5404" y="3623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76500" y="3390900"/>
              <a:ext cx="32385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60904" y="3623310"/>
              <a:ext cx="2384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MiniCPM-o-4_5-F16（约 16G）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1000" y="3981450"/>
            <a:ext cx="5334000" cy="742950"/>
            <a:chOff x="381000" y="3981450"/>
            <a:chExt cx="5334000" cy="742950"/>
          </a:xfrm>
        </p:grpSpPr>
        <p:sp>
          <p:nvSpPr>
            <p:cNvPr id="27" name="Rectangle 27"/>
            <p:cNvSpPr/>
            <p:nvPr/>
          </p:nvSpPr>
          <p:spPr>
            <a:xfrm>
              <a:off x="381000" y="3981450"/>
              <a:ext cx="2095500" cy="742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5404" y="4232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推理服务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6500" y="3981450"/>
              <a:ext cx="3238500" cy="742950"/>
            </a:xfrm>
            <a:prstGeom prst="rect">
              <a:avLst/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60904" y="4213860"/>
              <a:ext cx="19019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llama.cpp-omni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（-DGGML_CANN=ON 编译）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4724400"/>
            <a:ext cx="5334000" cy="1238250"/>
            <a:chOff x="381000" y="4724400"/>
            <a:chExt cx="53340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381000" y="4724400"/>
              <a:ext cx="5334000" cy="1238250"/>
            </a:xfrm>
            <a:prstGeom prst="roundRect">
              <a:avLst>
                <a:gd name="adj" fmla="val 307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8301" y="4950619"/>
              <a:ext cx="232508" cy="214312"/>
              <a:chOff x="648301" y="4950619"/>
              <a:chExt cx="232508" cy="21431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8301" y="49506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7244" y="51173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59942" y="4978718"/>
              <a:ext cx="195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版本固定 · 链路可验证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935" y="5364956"/>
              <a:ext cx="329006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统一昇腾环境（CANN + 910C + llama.cpp-omni）下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启动、复现、验证均有记录，评审可对照核验。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619250"/>
            <a:ext cx="5715000" cy="2971800"/>
            <a:chOff x="6096000" y="1619250"/>
            <a:chExt cx="5715000" cy="2971800"/>
          </a:xfrm>
        </p:grpSpPr>
        <p:sp>
          <p:nvSpPr>
            <p:cNvPr id="39" name="Rectangle 39"/>
            <p:cNvSpPr/>
            <p:nvPr/>
          </p:nvSpPr>
          <p:spPr>
            <a:xfrm>
              <a:off x="6096000" y="16192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3942" y="17973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1 · 安装依赖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4704" y="2156460"/>
              <a:ext cx="247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pip install -r requirements.txt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400800" y="25908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0" y="26479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93942" y="2826068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2 · 配置后端（二选一）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5085" y="3193256"/>
              <a:ext cx="419328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云端：MAP_REALTIME_API_KEY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本地：ASCEND_OMNI_WS_URL=ws://127.0.0.1:28099/backend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0" y="3676650"/>
              <a:ext cx="5715000" cy="914400"/>
            </a:xfrm>
            <a:prstGeom prst="roundRect">
              <a:avLst>
                <a:gd name="adj" fmla="val 41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93942" y="38547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 3 · 启动与验证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4704" y="4213860"/>
              <a:ext cx="4115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 -m app.main（默认 http://127.0.0.1:8000）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0" y="4629150"/>
            <a:ext cx="5715000" cy="1238250"/>
            <a:chOff x="6096000" y="4629150"/>
            <a:chExt cx="5715000" cy="1238250"/>
          </a:xfrm>
        </p:grpSpPr>
        <p:sp>
          <p:nvSpPr>
            <p:cNvPr id="50" name="Rectangle 50"/>
            <p:cNvSpPr/>
            <p:nvPr/>
          </p:nvSpPr>
          <p:spPr>
            <a:xfrm>
              <a:off x="6096000" y="4629150"/>
              <a:ext cx="5715000" cy="1238250"/>
            </a:xfrm>
            <a:prstGeom prst="roundRect">
              <a:avLst>
                <a:gd name="adj" fmla="val 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98419" y="4867275"/>
              <a:ext cx="214312" cy="190500"/>
            </a:xfrm>
            <a:custGeom>
              <a:avLst/>
              <a:gdLst/>
              <a:ahLst/>
              <a:cxnLst/>
              <a:rect l="l" t="t" r="r" b="b"/>
              <a:pathLst>
                <a:path w="214312" h="190500">
                  <a:moveTo>
                    <a:pt x="0" y="95250"/>
                  </a:moveTo>
                  <a:lnTo>
                    <a:pt x="47625" y="95250"/>
                  </a:lnTo>
                  <a:lnTo>
                    <a:pt x="83344" y="190500"/>
                  </a:lnTo>
                  <a:lnTo>
                    <a:pt x="130969" y="0"/>
                  </a:lnTo>
                  <a:lnTo>
                    <a:pt x="166688" y="95250"/>
                  </a:lnTo>
                  <a:lnTo>
                    <a:pt x="214312" y="95250"/>
                  </a:lnTo>
                </a:path>
              </a:pathLst>
            </a:custGeom>
            <a:noFill/>
            <a:ln w="23812">
              <a:solidFill>
                <a:srgbClr val="FFFFF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93992" y="4883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验证入口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56985" y="5269706"/>
              <a:ext cx="415061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/api/health 健康检查 · /api/realtime/status（local | map）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scripts/preflight_demo.py 演示前一键预检（含暖机）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27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67284" y="499110"/>
            <a:ext cx="11443716" cy="862965"/>
            <a:chOff x="367284" y="499110"/>
            <a:chExt cx="11443716" cy="862965"/>
          </a:xfrm>
        </p:grpSpPr>
        <p:sp>
          <p:nvSpPr>
            <p:cNvPr id="2" name="TextBox 2"/>
            <p:cNvSpPr txBox="1"/>
            <p:nvPr/>
          </p:nvSpPr>
          <p:spPr>
            <a:xfrm>
              <a:off x="374904" y="499110"/>
              <a:ext cx="209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· 应用落地与工程验证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67284" y="718185"/>
              <a:ext cx="57521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合规安全与已知边界（如实说明）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381000" y="1143000"/>
              <a:ext cx="4572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13525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81000" y="1619250"/>
            <a:ext cx="5619750" cy="4095750"/>
            <a:chOff x="381000" y="1619250"/>
            <a:chExt cx="5619750" cy="4095750"/>
          </a:xfrm>
        </p:grpSpPr>
        <p:sp>
          <p:nvSpPr>
            <p:cNvPr id="7" name="Rectangle 7"/>
            <p:cNvSpPr/>
            <p:nvPr/>
          </p:nvSpPr>
          <p:spPr>
            <a:xfrm>
              <a:off x="381000" y="1619250"/>
              <a:ext cx="5619750" cy="4095750"/>
            </a:xfrm>
            <a:prstGeom prst="roundRect">
              <a:avLst>
                <a:gd name="adj" fmla="val 93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619250"/>
              <a:ext cx="5619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12001" y="2009775"/>
              <a:ext cx="310011" cy="285751"/>
              <a:chOff x="712001" y="2009775"/>
              <a:chExt cx="31001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12001" y="200977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3925" y="22320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29106" y="2053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合规与安全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768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523" y="2719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模型合规可控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3021806"/>
              <a:ext cx="4833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合规模式下全链路仅调用 MiniCPM-o 4.5，不创建任何其他模型客户端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3530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523" y="3481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密钥安全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3783806"/>
              <a:ext cx="2353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API Key 仅存 .env，不进入版本库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4292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523" y="4243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操作可审计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545806"/>
              <a:ext cx="3189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多用户 ACL、会话登录、操作审计与版本回滚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5144452"/>
              <a:ext cx="4391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APP_MODEL_MODE=minicpm · APP_ALLOW_EXTERNAL_MODELS=0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1619250"/>
            <a:ext cx="5619750" cy="4095750"/>
            <a:chOff x="6191250" y="1619250"/>
            <a:chExt cx="56197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6191250" y="1619250"/>
              <a:ext cx="5619750" cy="4095750"/>
            </a:xfrm>
            <a:prstGeom prst="roundRect">
              <a:avLst>
                <a:gd name="adj" fmla="val 930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1619250"/>
              <a:ext cx="5619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43675" y="2009775"/>
              <a:ext cx="285751" cy="285751"/>
              <a:chOff x="6543675" y="2009775"/>
              <a:chExt cx="285751" cy="2857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43675" y="20097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6550" y="208915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86550" y="2216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039356" y="20535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已知边界（如实说明）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954" y="2747010"/>
              <a:ext cx="5159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8B 模型推理能力有限，演示主打感知与流程闭环，不做高难度推理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9954" y="3261360"/>
              <a:ext cx="4144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910C 本地 TTS 有已知算子问题，语音播报走云端 API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954" y="3775710"/>
              <a:ext cx="3372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云端音频表现为转写，已通过适配层统一行为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954" y="4290060"/>
              <a:ext cx="43903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llama-omni-server 仅支持单活跃会话，演示前需预检暖机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0716" y="49349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边界如实标注，确保演示可预期、可复现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1038" y="6015038"/>
            <a:ext cx="6511480" cy="281368"/>
            <a:chOff x="681038" y="6015038"/>
            <a:chExt cx="6511480" cy="281368"/>
          </a:xfrm>
        </p:grpSpPr>
        <p:grpSp>
          <p:nvGrpSpPr>
            <p:cNvPr id="40" name="Group 40"/>
            <p:cNvGrpSpPr/>
            <p:nvPr/>
          </p:nvGrpSpPr>
          <p:grpSpPr>
            <a:xfrm>
              <a:off x="681038" y="6015038"/>
              <a:ext cx="200026" cy="200025"/>
              <a:chOff x="681038" y="601503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81038" y="60150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0776" y="60594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55492" y="61706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654" y="606171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工程态度：能力边界如实标注，不夸大模型能力，确保评审现场演示可预期、可复现。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28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419100"/>
            <a:ext cx="11430000" cy="990600"/>
            <a:chOff x="381000" y="419100"/>
            <a:chExt cx="11430000" cy="990600"/>
          </a:xfrm>
        </p:grpSpPr>
        <p:sp>
          <p:nvSpPr>
            <p:cNvPr id="2" name="Rectangle 2"/>
            <p:cNvSpPr/>
            <p:nvPr/>
          </p:nvSpPr>
          <p:spPr>
            <a:xfrm>
              <a:off x="381000" y="419100"/>
              <a:ext cx="11430000" cy="990600"/>
            </a:xfrm>
            <a:prstGeom prst="roundRect">
              <a:avLst>
                <a:gd name="adj" fmla="val 384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180" y="695325"/>
              <a:ext cx="73590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MiniCPM-o 4.5 从“聊天机器人”变成真实协作流程的入口——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拍照立项、说话排期、确认分工、语音/照片汇报、群通知，全链路由全模态能力驱动。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1000" y="1676400"/>
            <a:ext cx="2724150" cy="1333500"/>
            <a:chOff x="381000" y="1676400"/>
            <a:chExt cx="2724150" cy="1333500"/>
          </a:xfrm>
        </p:grpSpPr>
        <p:sp>
          <p:nvSpPr>
            <p:cNvPr id="5" name="Rectangle 5"/>
            <p:cNvSpPr/>
            <p:nvPr/>
          </p:nvSpPr>
          <p:spPr>
            <a:xfrm>
              <a:off x="38100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50081" y="1939925"/>
              <a:ext cx="229394" cy="215901"/>
            </a:xfrm>
            <a:custGeom>
              <a:avLst/>
              <a:gdLst/>
              <a:ahLst/>
              <a:cxnLst/>
              <a:rect l="l" t="t" r="r" b="b"/>
              <a:pathLst>
                <a:path w="229394" h="215901">
                  <a:moveTo>
                    <a:pt x="175419" y="188913"/>
                  </a:moveTo>
                  <a:cubicBezTo>
                    <a:pt x="190324" y="188913"/>
                    <a:pt x="202407" y="200996"/>
                    <a:pt x="202407" y="215901"/>
                  </a:cubicBezTo>
                  <a:cubicBezTo>
                    <a:pt x="202407" y="200996"/>
                    <a:pt x="214489" y="188913"/>
                    <a:pt x="229394" y="188913"/>
                  </a:cubicBezTo>
                  <a:cubicBezTo>
                    <a:pt x="214489" y="188913"/>
                    <a:pt x="202407" y="176830"/>
                    <a:pt x="202407" y="161925"/>
                  </a:cubicBezTo>
                  <a:cubicBezTo>
                    <a:pt x="202407" y="176830"/>
                    <a:pt x="190324" y="188913"/>
                    <a:pt x="175419" y="188913"/>
                  </a:cubicBezTo>
                  <a:moveTo>
                    <a:pt x="175419" y="26988"/>
                  </a:moveTo>
                  <a:cubicBezTo>
                    <a:pt x="190324" y="26988"/>
                    <a:pt x="202407" y="39070"/>
                    <a:pt x="202407" y="53975"/>
                  </a:cubicBezTo>
                  <a:cubicBezTo>
                    <a:pt x="202407" y="39070"/>
                    <a:pt x="214489" y="26988"/>
                    <a:pt x="229394" y="26988"/>
                  </a:cubicBezTo>
                  <a:cubicBezTo>
                    <a:pt x="214489" y="26988"/>
                    <a:pt x="202407" y="14905"/>
                    <a:pt x="202407" y="0"/>
                  </a:cubicBezTo>
                  <a:cubicBezTo>
                    <a:pt x="202407" y="14905"/>
                    <a:pt x="190324" y="26988"/>
                    <a:pt x="175419" y="26988"/>
                  </a:cubicBezTo>
                  <a:moveTo>
                    <a:pt x="80963" y="188913"/>
                  </a:moveTo>
                  <a:cubicBezTo>
                    <a:pt x="80963" y="144198"/>
                    <a:pt x="117211" y="107950"/>
                    <a:pt x="161925" y="107950"/>
                  </a:cubicBezTo>
                  <a:cubicBezTo>
                    <a:pt x="117211" y="107950"/>
                    <a:pt x="80963" y="71702"/>
                    <a:pt x="80963" y="26988"/>
                  </a:cubicBezTo>
                  <a:cubicBezTo>
                    <a:pt x="80963" y="71702"/>
                    <a:pt x="44714" y="107950"/>
                    <a:pt x="0" y="107950"/>
                  </a:cubicBezTo>
                  <a:cubicBezTo>
                    <a:pt x="44714" y="107950"/>
                    <a:pt x="80963" y="144198"/>
                    <a:pt x="80963" y="188913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98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全模态入口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3885" y="27360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五种模态进入真实协作流程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95650" y="1676400"/>
            <a:ext cx="2724150" cy="1333500"/>
            <a:chOff x="3295650" y="1676400"/>
            <a:chExt cx="2724150" cy="1333500"/>
          </a:xfrm>
        </p:grpSpPr>
        <p:sp>
          <p:nvSpPr>
            <p:cNvPr id="10" name="Rectangle 10"/>
            <p:cNvSpPr/>
            <p:nvPr/>
          </p:nvSpPr>
          <p:spPr>
            <a:xfrm>
              <a:off x="329565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578225" y="1939925"/>
              <a:ext cx="215901" cy="215901"/>
              <a:chOff x="3578225" y="1939925"/>
              <a:chExt cx="215901" cy="21590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578225" y="19939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605213" y="193992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605213" y="2047875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59188" y="20748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686175" y="1939925"/>
                <a:ext cx="952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38">
                    <a:moveTo>
                      <a:pt x="0" y="0"/>
                    </a:moveTo>
                    <a:lnTo>
                      <a:pt x="0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686175" y="2128838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740151" y="1953419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67138" y="1939925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0"/>
                    </a:move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767138" y="2007394"/>
                <a:ext cx="9525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432">
                    <a:moveTo>
                      <a:pt x="0" y="0"/>
                    </a:moveTo>
                    <a:lnTo>
                      <a:pt x="0" y="148432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51663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确定性正确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8535" y="2736056"/>
              <a:ext cx="1493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创造 × 算法保证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10300" y="1676400"/>
            <a:ext cx="2724150" cy="1489234"/>
            <a:chOff x="6210300" y="1676400"/>
            <a:chExt cx="2724150" cy="1489234"/>
          </a:xfrm>
        </p:grpSpPr>
        <p:sp>
          <p:nvSpPr>
            <p:cNvPr id="24" name="Rectangle 24"/>
            <p:cNvSpPr/>
            <p:nvPr/>
          </p:nvSpPr>
          <p:spPr>
            <a:xfrm>
              <a:off x="6210300" y="1676400"/>
              <a:ext cx="27241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479381" y="1926431"/>
              <a:ext cx="242888" cy="242888"/>
              <a:chOff x="6479381" y="1926431"/>
              <a:chExt cx="242888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546850" y="199390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9381" y="19264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41307" y="2088357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0" y="0"/>
                    </a:moveTo>
                    <a:lnTo>
                      <a:pt x="45204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15140" y="2088357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45204" y="0"/>
                    </a:moveTo>
                    <a:lnTo>
                      <a:pt x="0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15140" y="1962190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0" y="0"/>
                    </a:moveTo>
                    <a:lnTo>
                      <a:pt x="45204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41307" y="1962190"/>
                <a:ext cx="45204" cy="45204"/>
              </a:xfrm>
              <a:custGeom>
                <a:avLst/>
                <a:gdLst/>
                <a:ahLst/>
                <a:cxnLst/>
                <a:rect l="l" t="t" r="r" b="b"/>
                <a:pathLst>
                  <a:path w="45204" h="45204">
                    <a:moveTo>
                      <a:pt x="45204" y="0"/>
                    </a:moveTo>
                    <a:lnTo>
                      <a:pt x="0" y="4520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431280" y="2409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3185" y="2736056"/>
              <a:ext cx="164007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计划 → 执行 → 汇报 → 触达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全环节兜底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124950" y="1676400"/>
            <a:ext cx="2686050" cy="1333500"/>
            <a:chOff x="9124950" y="1676400"/>
            <a:chExt cx="2686050" cy="1333500"/>
          </a:xfrm>
        </p:grpSpPr>
        <p:sp>
          <p:nvSpPr>
            <p:cNvPr id="35" name="Rectangle 35"/>
            <p:cNvSpPr/>
            <p:nvPr/>
          </p:nvSpPr>
          <p:spPr>
            <a:xfrm>
              <a:off x="9124950" y="1676400"/>
              <a:ext cx="2686050" cy="1333500"/>
            </a:xfrm>
            <a:prstGeom prst="roundRect">
              <a:avLst>
                <a:gd name="adj" fmla="val 2857"/>
              </a:avLst>
            </a:prstGeom>
            <a:solidFill>
              <a:srgbClr val="F0F6FC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394031" y="1926431"/>
              <a:ext cx="242889" cy="242889"/>
              <a:chOff x="9394031" y="1926431"/>
              <a:chExt cx="242889" cy="24288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421019" y="1953419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2" y="0"/>
                      <a:pt x="188913" y="6041"/>
                      <a:pt x="188913" y="13494"/>
                    </a:cubicBezTo>
                    <a:lnTo>
                      <a:pt x="188913" y="175419"/>
                    </a:lnTo>
                    <a:cubicBezTo>
                      <a:pt x="188913" y="182872"/>
                      <a:pt x="182872" y="188913"/>
                      <a:pt x="175419" y="188913"/>
                    </a:cubicBezTo>
                    <a:lnTo>
                      <a:pt x="13494" y="188913"/>
                    </a:lnTo>
                    <a:cubicBezTo>
                      <a:pt x="6041" y="188913"/>
                      <a:pt x="0" y="182872"/>
                      <a:pt x="0" y="175419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474994" y="200739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0"/>
                    </a:moveTo>
                    <a:lnTo>
                      <a:pt x="80963" y="0"/>
                    </a:lnTo>
                    <a:lnTo>
                      <a:pt x="80963" y="80963"/>
                    </a:lnTo>
                    <a:lnTo>
                      <a:pt x="0" y="80963"/>
                    </a:ln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394031" y="20208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94031" y="20748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88488" y="19264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42463" y="1926431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0"/>
                    </a:move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09932" y="2020888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609932" y="2074863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26988" y="0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542463" y="21423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88488" y="2142332"/>
                <a:ext cx="952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8">
                    <a:moveTo>
                      <a:pt x="0" y="26988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345930" y="24098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昇腾可复现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7835" y="2736056"/>
              <a:ext cx="2170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A3 本地 / 云端双后端统一适配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71856" y="3387090"/>
            <a:ext cx="527152" cy="352044"/>
            <a:chOff x="371856" y="3387090"/>
            <a:chExt cx="527152" cy="352044"/>
          </a:xfrm>
        </p:grpSpPr>
        <p:sp>
          <p:nvSpPr>
            <p:cNvPr id="50" name="TextBox 50"/>
            <p:cNvSpPr txBox="1"/>
            <p:nvPr/>
          </p:nvSpPr>
          <p:spPr>
            <a:xfrm>
              <a:off x="371856" y="3387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展望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81000" y="3771900"/>
            <a:ext cx="3676650" cy="1428750"/>
            <a:chOff x="381000" y="3771900"/>
            <a:chExt cx="3676650" cy="1428750"/>
          </a:xfrm>
        </p:grpSpPr>
        <p:sp>
          <p:nvSpPr>
            <p:cNvPr id="52" name="Rectangle 52"/>
            <p:cNvSpPr/>
            <p:nvPr/>
          </p:nvSpPr>
          <p:spPr>
            <a:xfrm>
              <a:off x="381000" y="3771900"/>
              <a:ext cx="367665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9131" y="4081463"/>
              <a:ext cx="242889" cy="161925"/>
              <a:chOff x="669131" y="4081463"/>
              <a:chExt cx="242889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1057" y="410263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9131" y="408146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116330" y="40862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实时语音 / 视频双工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935" y="4564856"/>
              <a:ext cx="1832102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接入云端 mode=audio/video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全双工实时对话体验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248150" y="3771900"/>
            <a:ext cx="3676650" cy="1428750"/>
            <a:chOff x="4248150" y="3771900"/>
            <a:chExt cx="3676650" cy="1428750"/>
          </a:xfrm>
        </p:grpSpPr>
        <p:sp>
          <p:nvSpPr>
            <p:cNvPr id="59" name="Rectangle 59"/>
            <p:cNvSpPr/>
            <p:nvPr/>
          </p:nvSpPr>
          <p:spPr>
            <a:xfrm>
              <a:off x="4248150" y="3771900"/>
              <a:ext cx="367665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4531952" y="4040981"/>
              <a:ext cx="247218" cy="247218"/>
              <a:chOff x="4531952" y="4040981"/>
              <a:chExt cx="247218" cy="247218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4630738" y="4040981"/>
                <a:ext cx="148432" cy="148432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148432">
                    <a:moveTo>
                      <a:pt x="0" y="148432"/>
                    </a:moveTo>
                    <a:lnTo>
                      <a:pt x="148432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531952" y="4040981"/>
                <a:ext cx="247218" cy="247218"/>
              </a:xfrm>
              <a:custGeom>
                <a:avLst/>
                <a:gdLst/>
                <a:ahLst/>
                <a:cxnLst/>
                <a:rect l="l" t="t" r="r" b="b"/>
                <a:pathLst>
                  <a:path w="247218" h="247218">
                    <a:moveTo>
                      <a:pt x="247218" y="0"/>
                    </a:moveTo>
                    <a:lnTo>
                      <a:pt x="159508" y="242888"/>
                    </a:lnTo>
                    <a:cubicBezTo>
                      <a:pt x="158299" y="245526"/>
                      <a:pt x="155663" y="247218"/>
                      <a:pt x="152761" y="247218"/>
                    </a:cubicBezTo>
                    <a:cubicBezTo>
                      <a:pt x="149859" y="247218"/>
                      <a:pt x="147223" y="245526"/>
                      <a:pt x="146014" y="242888"/>
                    </a:cubicBezTo>
                    <a:lnTo>
                      <a:pt x="98786" y="148432"/>
                    </a:lnTo>
                    <a:lnTo>
                      <a:pt x="4330" y="101203"/>
                    </a:lnTo>
                    <a:cubicBezTo>
                      <a:pt x="1692" y="99994"/>
                      <a:pt x="0" y="97359"/>
                      <a:pt x="0" y="94456"/>
                    </a:cubicBezTo>
                    <a:cubicBezTo>
                      <a:pt x="0" y="91554"/>
                      <a:pt x="1692" y="88919"/>
                      <a:pt x="4330" y="87710"/>
                    </a:cubicBezTo>
                    <a:lnTo>
                      <a:pt x="24721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4983480" y="4086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企业应用消息定向推送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90085" y="4564856"/>
              <a:ext cx="201701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企业微信“应用消息”精准触达，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通知更个性、更及时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115300" y="3771900"/>
            <a:ext cx="3695700" cy="1428750"/>
            <a:chOff x="8115300" y="3771900"/>
            <a:chExt cx="3695700" cy="1428750"/>
          </a:xfrm>
        </p:grpSpPr>
        <p:sp>
          <p:nvSpPr>
            <p:cNvPr id="66" name="Rectangle 66"/>
            <p:cNvSpPr/>
            <p:nvPr/>
          </p:nvSpPr>
          <p:spPr>
            <a:xfrm>
              <a:off x="8115300" y="3771900"/>
              <a:ext cx="3695700" cy="1428750"/>
            </a:xfrm>
            <a:prstGeom prst="roundRect">
              <a:avLst>
                <a:gd name="adj" fmla="val 2667"/>
              </a:avLst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416925" y="4040981"/>
              <a:ext cx="215901" cy="242888"/>
              <a:chOff x="8416925" y="4040981"/>
              <a:chExt cx="215901" cy="242888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416925" y="40409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416925" y="40814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416925" y="41624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850630" y="4086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场景模板与知识库沉淀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57235" y="4564856"/>
              <a:ext cx="28562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课程、赛事、企业项目等场景模板持续积累，</a:t>
              </a:r>
              <a:br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工时估算与分工建议越用越准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374904" y="5600700"/>
            <a:ext cx="11436096" cy="790956"/>
            <a:chOff x="374904" y="5600700"/>
            <a:chExt cx="11436096" cy="790956"/>
          </a:xfrm>
        </p:grpSpPr>
        <p:sp>
          <p:nvSpPr>
            <p:cNvPr id="74" name="Line 74"/>
            <p:cNvSpPr/>
            <p:nvPr/>
          </p:nvSpPr>
          <p:spPr>
            <a:xfrm>
              <a:off x="381000" y="56007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74904" y="5852160"/>
              <a:ext cx="5668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v7.1 · 2026-08 · 华为昇腾创新应用赛道 · OpenBMB / 面壁智能 × 华为昇腾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74904" y="6156960"/>
              <a:ext cx="5726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一个把 MiniCPM-o 4.5 变成真实协作流程入口的完整、可复现、可落地闭环。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76238" y="6513195"/>
            <a:ext cx="11439525" cy="176212"/>
            <a:chOff x="376238" y="6513195"/>
            <a:chExt cx="11439525" cy="176212"/>
          </a:xfrm>
        </p:grpSpPr>
        <p:sp>
          <p:nvSpPr>
            <p:cNvPr id="78" name="TextBox 78"/>
            <p:cNvSpPr txBox="1"/>
            <p:nvPr/>
          </p:nvSpPr>
          <p:spPr>
            <a:xfrm>
              <a:off x="376238" y="65131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协作分工智能体 · 昇腾全模态版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94479" y="6513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29 / 29 · v7.1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scend_collab_ppt">
  <a:themeElements>
    <a:clrScheme name="ascend_collab_ppt">
      <a:dk1>
        <a:srgbClr val="1E293B"/>
      </a:dk1>
      <a:lt1>
        <a:srgbClr val="FFFFFF"/>
      </a:lt1>
      <a:dk2>
        <a:srgbClr val="1F497D"/>
      </a:dk2>
      <a:lt2>
        <a:srgbClr val="F2F5FA"/>
      </a:lt2>
      <a:accent1>
        <a:srgbClr val="2F7FCE"/>
      </a:accent1>
      <a:accent2>
        <a:srgbClr val="C9A227"/>
      </a:accent2>
      <a:accent3>
        <a:srgbClr val="7FB1DC"/>
      </a:accent3>
      <a:accent4>
        <a:srgbClr val="2F7FCE"/>
      </a:accent4>
      <a:accent5>
        <a:srgbClr val="DCE6F0"/>
      </a:accent5>
      <a:accent6>
        <a:srgbClr val="64748B"/>
      </a:accent6>
      <a:hlink>
        <a:srgbClr val="C9A227"/>
      </a:hlink>
      <a:folHlink>
        <a:srgbClr val="7FB1DC"/>
      </a:folHlink>
    </a:clrScheme>
    <a:fontScheme name="ascend_collab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cend_collab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scend_collab_ppt">
  <a:themeElements>
    <a:clrScheme name="ascend_collab_ppt">
      <a:dk1>
        <a:srgbClr val="1E293B"/>
      </a:dk1>
      <a:lt1>
        <a:srgbClr val="FFFFFF"/>
      </a:lt1>
      <a:dk2>
        <a:srgbClr val="1F497D"/>
      </a:dk2>
      <a:lt2>
        <a:srgbClr val="F2F5FA"/>
      </a:lt2>
      <a:accent1>
        <a:srgbClr val="2F7FCE"/>
      </a:accent1>
      <a:accent2>
        <a:srgbClr val="C9A227"/>
      </a:accent2>
      <a:accent3>
        <a:srgbClr val="7FB1DC"/>
      </a:accent3>
      <a:accent4>
        <a:srgbClr val="2F7FCE"/>
      </a:accent4>
      <a:accent5>
        <a:srgbClr val="DCE6F0"/>
      </a:accent5>
      <a:accent6>
        <a:srgbClr val="64748B"/>
      </a:accent6>
      <a:hlink>
        <a:srgbClr val="C9A227"/>
      </a:hlink>
      <a:folHlink>
        <a:srgbClr val="7FB1DC"/>
      </a:folHlink>
    </a:clrScheme>
    <a:fontScheme name="ascend_collab_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cend_collab_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2026-08-27T07:40:42Z</dcterms:created>
  <dcterms:modified xsi:type="dcterms:W3CDTF">2026-08-27T07:40:42Z</dcterms:modified>
  <cp:category/>
  <cp:contentStatus/>
</cp:coreProperties>
</file>